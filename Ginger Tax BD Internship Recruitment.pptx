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embeddedFontLst>
    <p:embeddedFont>
      <p:font typeface="Outfit" panose="020B0604020202020204" charset="0"/>
      <p:bold r:id="rId13"/>
    </p:embeddedFont>
    <p:embeddedFont>
      <p:font typeface="Outfit ExtraBold" panose="020B0604020202020204" charset="0"/>
      <p:bold r:id="rId14"/>
    </p:embeddedFont>
    <p:embeddedFont>
      <p:font typeface="Outfit SemiBold" panose="020B0604020202020204" charset="0"/>
      <p:regular r:id="rId15"/>
      <p:bold r:id="rId16"/>
    </p:embeddedFont>
    <p:embeddedFont>
      <p:font typeface="Plus Jakarta Sans" panose="020B0604020202020204" charset="0"/>
      <p:regular r:id="rId17"/>
      <p:bold r:id="rId18"/>
      <p:italic r:id="rId19"/>
      <p:boldItalic r:id="rId20"/>
    </p:embeddedFont>
    <p:embeddedFont>
      <p:font typeface="Plus Jakarta Sans Medium" panose="020B0604020202020204" charset="0"/>
      <p:regular r:id="rId21"/>
      <p:bold r:id="rId22"/>
      <p:italic r:id="rId23"/>
      <p:boldItalic r:id="rId24"/>
    </p:embeddedFont>
    <p:embeddedFont>
      <p:font typeface="Plus Jakarta Sans SemiBold" panose="020B0604020202020204"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D93EBE4-B342-4E21-9B85-4034D1BBA87F}">
  <a:tblStyle styleId="{AD93EBE4-B342-4E21-9B85-4034D1BBA87F}"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4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font" Target="fonts/font16.fntdata"/><Relationship Id="rId10" Type="http://schemas.openxmlformats.org/officeDocument/2006/relationships/slide" Target="slides/slide9.xml"/><Relationship Id="rId19" Type="http://schemas.openxmlformats.org/officeDocument/2006/relationships/font" Target="fonts/font7.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font" Target="fonts/font15.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 name="Google Shape;12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0" name="Google Shape;16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3" name="Google Shape;19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9" name="Google Shape;209;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8" name="Google Shape;228;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4" name="Google Shape;234;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3.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3.pn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3"/>
        <p:cNvGrpSpPr/>
        <p:nvPr/>
      </p:nvGrpSpPr>
      <p:grpSpPr>
        <a:xfrm>
          <a:off x="0" y="0"/>
          <a:ext cx="0" cy="0"/>
          <a:chOff x="0" y="0"/>
          <a:chExt cx="0" cy="0"/>
        </a:xfrm>
      </p:grpSpPr>
      <p:grpSp>
        <p:nvGrpSpPr>
          <p:cNvPr id="84" name="Google Shape;84;p13"/>
          <p:cNvGrpSpPr/>
          <p:nvPr/>
        </p:nvGrpSpPr>
        <p:grpSpPr>
          <a:xfrm>
            <a:off x="0" y="0"/>
            <a:ext cx="12192000" cy="6858000"/>
            <a:chOff x="0" y="0"/>
            <a:chExt cx="12192000" cy="6858000"/>
          </a:xfrm>
        </p:grpSpPr>
        <p:sp>
          <p:nvSpPr>
            <p:cNvPr id="85" name="Google Shape;85;p13"/>
            <p:cNvSpPr/>
            <p:nvPr/>
          </p:nvSpPr>
          <p:spPr>
            <a:xfrm>
              <a:off x="0" y="0"/>
              <a:ext cx="12192000" cy="6858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86" name="Google Shape;86;p13" descr="A professional, high-energy office scene with diverse young professionals collaborating and smiling, warm lighting, shallow depth of field, corporate modern style."/>
            <p:cNvPicPr preferRelativeResize="0"/>
            <p:nvPr/>
          </p:nvPicPr>
          <p:blipFill rotWithShape="1">
            <a:blip r:embed="rId4">
              <a:alphaModFix/>
            </a:blip>
            <a:srcRect t="20831" b="20836"/>
            <a:stretch/>
          </p:blipFill>
          <p:spPr>
            <a:xfrm>
              <a:off x="0" y="0"/>
              <a:ext cx="12192000" cy="4000500"/>
            </a:xfrm>
            <a:prstGeom prst="roundRect">
              <a:avLst>
                <a:gd name="adj" fmla="val 0"/>
              </a:avLst>
            </a:prstGeom>
            <a:noFill/>
            <a:ln>
              <a:noFill/>
            </a:ln>
          </p:spPr>
        </p:pic>
        <p:sp>
          <p:nvSpPr>
            <p:cNvPr id="87" name="Google Shape;87;p13"/>
            <p:cNvSpPr txBox="1"/>
            <p:nvPr/>
          </p:nvSpPr>
          <p:spPr>
            <a:xfrm>
              <a:off x="3974150" y="384025"/>
              <a:ext cx="3810000" cy="1143000"/>
            </a:xfrm>
            <a:prstGeom prst="rect">
              <a:avLst/>
            </a:prstGeom>
            <a:solidFill>
              <a:srgbClr val="FF0000"/>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3600" b="1">
                  <a:solidFill>
                    <a:schemeClr val="lt1"/>
                  </a:solidFill>
                  <a:latin typeface="Outfit"/>
                  <a:ea typeface="Outfit"/>
                  <a:cs typeface="Outfit"/>
                  <a:sym typeface="Outfit"/>
                </a:rPr>
                <a:t>Ginger Tax.</a:t>
              </a:r>
              <a:endParaRPr sz="3600" b="1">
                <a:solidFill>
                  <a:schemeClr val="lt1"/>
                </a:solidFill>
                <a:latin typeface="Outfit"/>
                <a:ea typeface="Outfit"/>
                <a:cs typeface="Outfit"/>
                <a:sym typeface="Outfit"/>
              </a:endParaRPr>
            </a:p>
            <a:p>
              <a:pPr marL="0" lvl="0" indent="0" algn="ctr" rtl="0">
                <a:spcBef>
                  <a:spcPts val="0"/>
                </a:spcBef>
                <a:spcAft>
                  <a:spcPts val="0"/>
                </a:spcAft>
                <a:buNone/>
              </a:pPr>
              <a:r>
                <a:rPr lang="en-US" sz="1200" b="0">
                  <a:solidFill>
                    <a:schemeClr val="lt1"/>
                  </a:solidFill>
                  <a:latin typeface="Outfit"/>
                  <a:ea typeface="Outfit"/>
                  <a:cs typeface="Outfit"/>
                  <a:sym typeface="Outfit"/>
                </a:rPr>
                <a:t>SIMPLE AND SIGNIFICANT</a:t>
              </a:r>
              <a:endParaRPr sz="1200" b="0">
                <a:solidFill>
                  <a:schemeClr val="lt1"/>
                </a:solidFill>
                <a:latin typeface="Outfit"/>
                <a:ea typeface="Outfit"/>
                <a:cs typeface="Outfit"/>
                <a:sym typeface="Outfit"/>
              </a:endParaRPr>
            </a:p>
          </p:txBody>
        </p:sp>
      </p:grpSp>
      <p:sp>
        <p:nvSpPr>
          <p:cNvPr id="88" name="Google Shape;88;p13"/>
          <p:cNvSpPr txBox="1"/>
          <p:nvPr/>
        </p:nvSpPr>
        <p:spPr>
          <a:xfrm>
            <a:off x="1333500" y="4381500"/>
            <a:ext cx="9525000" cy="1143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3780" b="1">
                <a:solidFill>
                  <a:srgbClr val="1A1A1A"/>
                </a:solidFill>
                <a:latin typeface="Outfit"/>
                <a:ea typeface="Outfit"/>
                <a:cs typeface="Outfit"/>
                <a:sym typeface="Outfit"/>
              </a:rPr>
              <a:t>Business Development Internship Program</a:t>
            </a:r>
            <a:endParaRPr sz="3780" b="1">
              <a:solidFill>
                <a:srgbClr val="1A1A1A"/>
              </a:solidFill>
              <a:latin typeface="Outfit"/>
              <a:ea typeface="Outfit"/>
              <a:cs typeface="Outfit"/>
              <a:sym typeface="Outfit"/>
            </a:endParaRPr>
          </a:p>
        </p:txBody>
      </p:sp>
      <p:grpSp>
        <p:nvGrpSpPr>
          <p:cNvPr id="89" name="Google Shape;89;p13"/>
          <p:cNvGrpSpPr/>
          <p:nvPr/>
        </p:nvGrpSpPr>
        <p:grpSpPr>
          <a:xfrm>
            <a:off x="2286000" y="5572125"/>
            <a:ext cx="7620000" cy="571500"/>
            <a:chOff x="2286000" y="5572125"/>
            <a:chExt cx="7620000" cy="571500"/>
          </a:xfrm>
        </p:grpSpPr>
        <p:sp>
          <p:nvSpPr>
            <p:cNvPr id="90" name="Google Shape;90;p13"/>
            <p:cNvSpPr/>
            <p:nvPr/>
          </p:nvSpPr>
          <p:spPr>
            <a:xfrm>
              <a:off x="5143500" y="5572125"/>
              <a:ext cx="1905000" cy="38100"/>
            </a:xfrm>
            <a:prstGeom prst="rect">
              <a:avLst/>
            </a:prstGeom>
            <a:solidFill>
              <a:srgbClr val="E31E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1" name="Google Shape;91;p13"/>
            <p:cNvSpPr txBox="1"/>
            <p:nvPr/>
          </p:nvSpPr>
          <p:spPr>
            <a:xfrm>
              <a:off x="2286000" y="5762625"/>
              <a:ext cx="7620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800" b="0">
                  <a:solidFill>
                    <a:srgbClr val="4B5563"/>
                  </a:solidFill>
                  <a:latin typeface="Plus Jakarta Sans"/>
                  <a:ea typeface="Plus Jakarta Sans"/>
                  <a:cs typeface="Plus Jakarta Sans"/>
                  <a:sym typeface="Plus Jakarta Sans"/>
                </a:rPr>
                <a:t>Your Journey to Sales Excellence Starts Here</a:t>
              </a:r>
              <a:endParaRPr sz="1800" b="0">
                <a:solidFill>
                  <a:srgbClr val="4B5563"/>
                </a:solidFill>
                <a:latin typeface="Plus Jakarta Sans"/>
                <a:ea typeface="Plus Jakarta Sans"/>
                <a:cs typeface="Plus Jakarta Sans"/>
                <a:sym typeface="Plus Jakarta Sans"/>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5"/>
        <p:cNvGrpSpPr/>
        <p:nvPr/>
      </p:nvGrpSpPr>
      <p:grpSpPr>
        <a:xfrm>
          <a:off x="0" y="0"/>
          <a:ext cx="0" cy="0"/>
          <a:chOff x="0" y="0"/>
          <a:chExt cx="0" cy="0"/>
        </a:xfrm>
      </p:grpSpPr>
      <p:pic>
        <p:nvPicPr>
          <p:cNvPr id="96" name="Google Shape;96;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97" name="Google Shape;97;p14" descr="image.png"/>
          <p:cNvPicPr preferRelativeResize="0"/>
          <p:nvPr/>
        </p:nvPicPr>
        <p:blipFill rotWithShape="1">
          <a:blip r:embed="rId4">
            <a:alphaModFix/>
          </a:blip>
          <a:srcRect/>
          <a:stretch/>
        </p:blipFill>
        <p:spPr>
          <a:xfrm>
            <a:off x="6334125" y="2000250"/>
            <a:ext cx="5286375" cy="3810000"/>
          </a:xfrm>
          <a:prstGeom prst="rect">
            <a:avLst/>
          </a:prstGeom>
          <a:noFill/>
          <a:ln>
            <a:noFill/>
          </a:ln>
        </p:spPr>
      </p:pic>
      <p:sp>
        <p:nvSpPr>
          <p:cNvPr id="98" name="Google Shape;98;p14"/>
          <p:cNvSpPr txBox="1"/>
          <p:nvPr/>
        </p:nvSpPr>
        <p:spPr>
          <a:xfrm>
            <a:off x="762000" y="571500"/>
            <a:ext cx="11401425"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E31E24"/>
                </a:solidFill>
                <a:latin typeface="Outfit"/>
                <a:ea typeface="Outfit"/>
                <a:cs typeface="Outfit"/>
                <a:sym typeface="Outfit"/>
              </a:rPr>
              <a:t>What is Ginger Tax?</a:t>
            </a:r>
            <a:endParaRPr/>
          </a:p>
        </p:txBody>
      </p:sp>
      <p:sp>
        <p:nvSpPr>
          <p:cNvPr id="100" name="Google Shape;100;p14"/>
          <p:cNvSpPr txBox="1"/>
          <p:nvPr/>
        </p:nvSpPr>
        <p:spPr>
          <a:xfrm>
            <a:off x="571500" y="2429916"/>
            <a:ext cx="5286375" cy="11885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950" b="0" i="0" u="none" strike="noStrike" cap="none">
                <a:solidFill>
                  <a:srgbClr val="1E1E1E"/>
                </a:solidFill>
                <a:latin typeface="Plus Jakarta Sans SemiBold"/>
                <a:ea typeface="Plus Jakarta Sans SemiBold"/>
                <a:cs typeface="Plus Jakarta Sans SemiBold"/>
                <a:sym typeface="Plus Jakarta Sans SemiBold"/>
              </a:rPr>
              <a:t>India's leading one-stop platform for comprehensive financial and taxation services.</a:t>
            </a:r>
            <a:endParaRPr/>
          </a:p>
        </p:txBody>
      </p:sp>
      <p:sp>
        <p:nvSpPr>
          <p:cNvPr id="101" name="Google Shape;101;p14"/>
          <p:cNvSpPr txBox="1"/>
          <p:nvPr/>
        </p:nvSpPr>
        <p:spPr>
          <a:xfrm>
            <a:off x="571500" y="3856583"/>
            <a:ext cx="5286375" cy="1524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4B5563"/>
                </a:solidFill>
                <a:latin typeface="Plus Jakarta Sans"/>
                <a:ea typeface="Plus Jakarta Sans"/>
                <a:cs typeface="Plus Jakarta Sans"/>
                <a:sym typeface="Plus Jakarta Sans"/>
              </a:rPr>
              <a:t>We specialize in making complex tax and compliance matters "Simple and Significant" for startups, SMEs, and individual taxpayers across India. Our goal is to leverage technology to provide accurate, affordable, and accessible financial consulting.</a:t>
            </a:r>
            <a:endParaRPr/>
          </a:p>
        </p:txBody>
      </p:sp>
      <p:pic>
        <p:nvPicPr>
          <p:cNvPr id="102" name="Google Shape;102;p14" descr="image.png"/>
          <p:cNvPicPr preferRelativeResize="0"/>
          <p:nvPr/>
        </p:nvPicPr>
        <p:blipFill rotWithShape="1">
          <a:blip r:embed="rId5">
            <a:alphaModFix/>
          </a:blip>
          <a:srcRect/>
          <a:stretch/>
        </p:blipFill>
        <p:spPr>
          <a:xfrm>
            <a:off x="6343650" y="2009775"/>
            <a:ext cx="5267325" cy="3790950"/>
          </a:xfrm>
          <a:prstGeom prst="rect">
            <a:avLst/>
          </a:prstGeom>
          <a:noFill/>
          <a:ln>
            <a:noFill/>
          </a:ln>
        </p:spPr>
      </p:pic>
      <p:pic>
        <p:nvPicPr>
          <p:cNvPr id="103" name="Google Shape;103;p14"/>
          <p:cNvPicPr preferRelativeResize="0"/>
          <p:nvPr/>
        </p:nvPicPr>
        <p:blipFill>
          <a:blip r:embed="rId6">
            <a:alphaModFix/>
          </a:blip>
          <a:stretch>
            <a:fillRect/>
          </a:stretch>
        </p:blipFill>
        <p:spPr>
          <a:xfrm flipH="1">
            <a:off x="4417547" y="4618775"/>
            <a:ext cx="2985654" cy="2239224"/>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7"/>
        <p:cNvGrpSpPr/>
        <p:nvPr/>
      </p:nvGrpSpPr>
      <p:grpSpPr>
        <a:xfrm>
          <a:off x="0" y="0"/>
          <a:ext cx="0" cy="0"/>
          <a:chOff x="0" y="0"/>
          <a:chExt cx="0" cy="0"/>
        </a:xfrm>
      </p:grpSpPr>
      <p:pic>
        <p:nvPicPr>
          <p:cNvPr id="108" name="Google Shape;108;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09" name="Google Shape;109;p15" descr="image.png"/>
          <p:cNvPicPr preferRelativeResize="0"/>
          <p:nvPr/>
        </p:nvPicPr>
        <p:blipFill rotWithShape="1">
          <a:blip r:embed="rId4">
            <a:alphaModFix/>
          </a:blip>
          <a:srcRect/>
          <a:stretch/>
        </p:blipFill>
        <p:spPr>
          <a:xfrm>
            <a:off x="571500" y="1714499"/>
            <a:ext cx="3492549" cy="2905125"/>
          </a:xfrm>
          <a:prstGeom prst="rect">
            <a:avLst/>
          </a:prstGeom>
          <a:noFill/>
          <a:ln>
            <a:noFill/>
          </a:ln>
        </p:spPr>
      </p:pic>
      <p:pic>
        <p:nvPicPr>
          <p:cNvPr id="110" name="Google Shape;110;p15" descr="image.png"/>
          <p:cNvPicPr preferRelativeResize="0"/>
          <p:nvPr/>
        </p:nvPicPr>
        <p:blipFill rotWithShape="1">
          <a:blip r:embed="rId5">
            <a:alphaModFix/>
          </a:blip>
          <a:srcRect/>
          <a:stretch/>
        </p:blipFill>
        <p:spPr>
          <a:xfrm>
            <a:off x="8128124" y="1714499"/>
            <a:ext cx="3492549" cy="2905125"/>
          </a:xfrm>
          <a:prstGeom prst="rect">
            <a:avLst/>
          </a:prstGeom>
          <a:noFill/>
          <a:ln>
            <a:noFill/>
          </a:ln>
        </p:spPr>
      </p:pic>
      <p:sp>
        <p:nvSpPr>
          <p:cNvPr id="111" name="Google Shape;111;p15"/>
          <p:cNvSpPr txBox="1"/>
          <p:nvPr/>
        </p:nvSpPr>
        <p:spPr>
          <a:xfrm>
            <a:off x="762000" y="571500"/>
            <a:ext cx="11401425"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E31E24"/>
                </a:solidFill>
                <a:latin typeface="Outfit"/>
                <a:ea typeface="Outfit"/>
                <a:cs typeface="Outfit"/>
                <a:sym typeface="Outfit"/>
              </a:rPr>
              <a:t>Expert Financial Services</a:t>
            </a:r>
            <a:endParaRPr/>
          </a:p>
        </p:txBody>
      </p:sp>
      <p:sp>
        <p:nvSpPr>
          <p:cNvPr id="113" name="Google Shape;113;p15"/>
          <p:cNvSpPr txBox="1"/>
          <p:nvPr/>
        </p:nvSpPr>
        <p:spPr>
          <a:xfrm>
            <a:off x="884225" y="2819112"/>
            <a:ext cx="2867100" cy="300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a:solidFill>
                  <a:srgbClr val="1E1E1E"/>
                </a:solidFill>
                <a:latin typeface="Outfit"/>
                <a:ea typeface="Outfit"/>
                <a:cs typeface="Outfit"/>
                <a:sym typeface="Outfit"/>
              </a:rPr>
              <a:t>T</a:t>
            </a:r>
            <a:r>
              <a:rPr lang="en-US" sz="1850" b="1" i="0" u="none" strike="noStrike" cap="none">
                <a:solidFill>
                  <a:srgbClr val="1E1E1E"/>
                </a:solidFill>
                <a:latin typeface="Outfit"/>
                <a:ea typeface="Outfit"/>
                <a:cs typeface="Outfit"/>
                <a:sym typeface="Outfit"/>
              </a:rPr>
              <a:t>axation for GIG Workers</a:t>
            </a:r>
            <a:endParaRPr sz="1300"/>
          </a:p>
        </p:txBody>
      </p:sp>
      <p:sp>
        <p:nvSpPr>
          <p:cNvPr id="114" name="Google Shape;114;p15"/>
          <p:cNvSpPr txBox="1"/>
          <p:nvPr/>
        </p:nvSpPr>
        <p:spPr>
          <a:xfrm>
            <a:off x="8509099" y="2583650"/>
            <a:ext cx="2867100" cy="300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a:solidFill>
                  <a:srgbClr val="1E1E1E"/>
                </a:solidFill>
                <a:latin typeface="Outfit"/>
                <a:ea typeface="Outfit"/>
                <a:cs typeface="Outfit"/>
                <a:sym typeface="Outfit"/>
              </a:rPr>
              <a:t>Salaried Individuals</a:t>
            </a:r>
            <a:endParaRPr/>
          </a:p>
        </p:txBody>
      </p:sp>
      <p:sp>
        <p:nvSpPr>
          <p:cNvPr id="115" name="Google Shape;115;p15"/>
          <p:cNvSpPr txBox="1"/>
          <p:nvPr/>
        </p:nvSpPr>
        <p:spPr>
          <a:xfrm>
            <a:off x="8577349" y="2883962"/>
            <a:ext cx="2730600" cy="17202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200"/>
              </a:spcBef>
              <a:spcAft>
                <a:spcPts val="1200"/>
              </a:spcAft>
              <a:buClr>
                <a:schemeClr val="dk1"/>
              </a:buClr>
              <a:buSzPts val="1100"/>
              <a:buFont typeface="Arial"/>
              <a:buNone/>
            </a:pPr>
            <a:r>
              <a:rPr lang="en-US" sz="1500"/>
              <a:t>T</a:t>
            </a:r>
            <a:r>
              <a:rPr lang="en-US">
                <a:latin typeface="Outfit"/>
                <a:ea typeface="Outfit"/>
                <a:cs typeface="Outfit"/>
                <a:sym typeface="Outfit"/>
              </a:rPr>
              <a:t>his service optimizes salaried individuals’ tax returns by filing Form 16-based ITRs, claiming HRA/LTA deductions, maximizing Section 80 savings, computing MF gains, and applying Section 89 relief.</a:t>
            </a:r>
            <a:endParaRPr>
              <a:latin typeface="Outfit"/>
              <a:ea typeface="Outfit"/>
              <a:cs typeface="Outfit"/>
              <a:sym typeface="Outfit"/>
            </a:endParaRPr>
          </a:p>
        </p:txBody>
      </p:sp>
      <p:sp>
        <p:nvSpPr>
          <p:cNvPr id="116" name="Google Shape;116;p15"/>
          <p:cNvSpPr txBox="1"/>
          <p:nvPr/>
        </p:nvSpPr>
        <p:spPr>
          <a:xfrm>
            <a:off x="8509099" y="2626112"/>
            <a:ext cx="2730600" cy="215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endParaRPr/>
          </a:p>
        </p:txBody>
      </p:sp>
      <p:pic>
        <p:nvPicPr>
          <p:cNvPr id="117" name="Google Shape;117;p15" descr="image.png"/>
          <p:cNvPicPr preferRelativeResize="0"/>
          <p:nvPr/>
        </p:nvPicPr>
        <p:blipFill rotWithShape="1">
          <a:blip r:embed="rId6">
            <a:alphaModFix/>
          </a:blip>
          <a:srcRect/>
          <a:stretch/>
        </p:blipFill>
        <p:spPr>
          <a:xfrm>
            <a:off x="8440826" y="1859244"/>
            <a:ext cx="428625" cy="571500"/>
          </a:xfrm>
          <a:prstGeom prst="rect">
            <a:avLst/>
          </a:prstGeom>
          <a:noFill/>
          <a:ln>
            <a:noFill/>
          </a:ln>
        </p:spPr>
      </p:pic>
      <p:pic>
        <p:nvPicPr>
          <p:cNvPr id="118" name="Google Shape;118;p15"/>
          <p:cNvPicPr preferRelativeResize="0"/>
          <p:nvPr/>
        </p:nvPicPr>
        <p:blipFill>
          <a:blip r:embed="rId7">
            <a:alphaModFix/>
          </a:blip>
          <a:stretch>
            <a:fillRect/>
          </a:stretch>
        </p:blipFill>
        <p:spPr>
          <a:xfrm>
            <a:off x="4183125" y="3362410"/>
            <a:ext cx="3825925" cy="2088567"/>
          </a:xfrm>
          <a:prstGeom prst="rect">
            <a:avLst/>
          </a:prstGeom>
          <a:noFill/>
          <a:ln>
            <a:noFill/>
          </a:ln>
        </p:spPr>
      </p:pic>
      <p:sp>
        <p:nvSpPr>
          <p:cNvPr id="119" name="Google Shape;119;p15"/>
          <p:cNvSpPr txBox="1"/>
          <p:nvPr/>
        </p:nvSpPr>
        <p:spPr>
          <a:xfrm>
            <a:off x="884225" y="3112400"/>
            <a:ext cx="3387000" cy="150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500">
                <a:solidFill>
                  <a:schemeClr val="dk1"/>
                </a:solidFill>
                <a:latin typeface="Outfit"/>
                <a:ea typeface="Outfit"/>
                <a:cs typeface="Outfit"/>
                <a:sym typeface="Outfit"/>
              </a:rPr>
              <a:t>This service helps gig workers file accurate ITRs, claim TDS refunds, apply deductions, record business expenses, and consolidate multi-platform income for     maximum tax savings.</a:t>
            </a:r>
            <a:endParaRPr sz="1500">
              <a:solidFill>
                <a:schemeClr val="dk1"/>
              </a:solidFill>
              <a:latin typeface="Outfit"/>
              <a:ea typeface="Outfit"/>
              <a:cs typeface="Outfit"/>
              <a:sym typeface="Outfit"/>
            </a:endParaRPr>
          </a:p>
        </p:txBody>
      </p:sp>
      <p:pic>
        <p:nvPicPr>
          <p:cNvPr id="120" name="Google Shape;120;p15"/>
          <p:cNvPicPr preferRelativeResize="0"/>
          <p:nvPr/>
        </p:nvPicPr>
        <p:blipFill>
          <a:blip r:embed="rId8">
            <a:alphaModFix/>
          </a:blip>
          <a:stretch>
            <a:fillRect/>
          </a:stretch>
        </p:blipFill>
        <p:spPr>
          <a:xfrm>
            <a:off x="778675" y="1939525"/>
            <a:ext cx="869149" cy="869149"/>
          </a:xfrm>
          <a:prstGeom prst="rect">
            <a:avLst/>
          </a:prstGeom>
          <a:noFill/>
          <a:ln>
            <a:noFill/>
          </a:ln>
        </p:spPr>
      </p:pic>
      <p:pic>
        <p:nvPicPr>
          <p:cNvPr id="121" name="Google Shape;121;p15" title="Gemini_Generated_Image_obrzowobrzowobrz.png"/>
          <p:cNvPicPr preferRelativeResize="0"/>
          <p:nvPr/>
        </p:nvPicPr>
        <p:blipFill>
          <a:blip r:embed="rId9">
            <a:alphaModFix/>
          </a:blip>
          <a:stretch>
            <a:fillRect/>
          </a:stretch>
        </p:blipFill>
        <p:spPr>
          <a:xfrm>
            <a:off x="6286078" y="2120376"/>
            <a:ext cx="1842038" cy="1226826"/>
          </a:xfrm>
          <a:prstGeom prst="rect">
            <a:avLst/>
          </a:prstGeom>
          <a:noFill/>
          <a:ln>
            <a:noFill/>
          </a:ln>
        </p:spPr>
      </p:pic>
      <p:pic>
        <p:nvPicPr>
          <p:cNvPr id="122" name="Google Shape;122;p15" title="Gemini_Generated_Image_obrzowobrzowobrz.png"/>
          <p:cNvPicPr preferRelativeResize="0"/>
          <p:nvPr/>
        </p:nvPicPr>
        <p:blipFill>
          <a:blip r:embed="rId9">
            <a:alphaModFix/>
          </a:blip>
          <a:stretch>
            <a:fillRect/>
          </a:stretch>
        </p:blipFill>
        <p:spPr>
          <a:xfrm flipH="1">
            <a:off x="4097678" y="2120376"/>
            <a:ext cx="1842038" cy="1226826"/>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6"/>
        <p:cNvGrpSpPr/>
        <p:nvPr/>
      </p:nvGrpSpPr>
      <p:grpSpPr>
        <a:xfrm>
          <a:off x="0" y="0"/>
          <a:ext cx="0" cy="0"/>
          <a:chOff x="0" y="0"/>
          <a:chExt cx="0" cy="0"/>
        </a:xfrm>
      </p:grpSpPr>
      <p:pic>
        <p:nvPicPr>
          <p:cNvPr id="127" name="Google Shape;127;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28" name="Google Shape;128;p16"/>
          <p:cNvSpPr txBox="1"/>
          <p:nvPr/>
        </p:nvSpPr>
        <p:spPr>
          <a:xfrm>
            <a:off x="6762750" y="2876847"/>
            <a:ext cx="4857900" cy="215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endParaRPr/>
          </a:p>
        </p:txBody>
      </p:sp>
      <p:sp>
        <p:nvSpPr>
          <p:cNvPr id="129" name="Google Shape;129;p16"/>
          <p:cNvSpPr txBox="1"/>
          <p:nvPr/>
        </p:nvSpPr>
        <p:spPr>
          <a:xfrm>
            <a:off x="6762750" y="4072830"/>
            <a:ext cx="4857900" cy="215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endParaRPr/>
          </a:p>
        </p:txBody>
      </p:sp>
      <p:sp>
        <p:nvSpPr>
          <p:cNvPr id="130" name="Google Shape;130;p16"/>
          <p:cNvSpPr txBox="1"/>
          <p:nvPr/>
        </p:nvSpPr>
        <p:spPr>
          <a:xfrm>
            <a:off x="6762750" y="4933652"/>
            <a:ext cx="4857900" cy="215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endParaRPr/>
          </a:p>
        </p:txBody>
      </p:sp>
      <p:pic>
        <p:nvPicPr>
          <p:cNvPr id="131" name="Google Shape;131;p16" descr="image.png"/>
          <p:cNvPicPr preferRelativeResize="0"/>
          <p:nvPr/>
        </p:nvPicPr>
        <p:blipFill rotWithShape="1">
          <a:blip r:embed="rId4">
            <a:alphaModFix/>
          </a:blip>
          <a:srcRect/>
          <a:stretch/>
        </p:blipFill>
        <p:spPr>
          <a:xfrm>
            <a:off x="0" y="0"/>
            <a:ext cx="12192000" cy="6858000"/>
          </a:xfrm>
          <a:prstGeom prst="rect">
            <a:avLst/>
          </a:prstGeom>
          <a:noFill/>
          <a:ln>
            <a:noFill/>
          </a:ln>
        </p:spPr>
      </p:pic>
      <p:sp>
        <p:nvSpPr>
          <p:cNvPr id="133" name="Google Shape;133;p16"/>
          <p:cNvSpPr txBox="1"/>
          <p:nvPr/>
        </p:nvSpPr>
        <p:spPr>
          <a:xfrm>
            <a:off x="762000" y="571500"/>
            <a:ext cx="114015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a:solidFill>
                  <a:srgbClr val="121212"/>
                </a:solidFill>
                <a:latin typeface="Outfit"/>
                <a:ea typeface="Outfit"/>
                <a:cs typeface="Outfit"/>
                <a:sym typeface="Outfit"/>
              </a:rPr>
              <a:t> </a:t>
            </a:r>
            <a:r>
              <a:rPr lang="en-US" sz="3150" b="1" i="0" u="none" strike="noStrike" cap="none">
                <a:solidFill>
                  <a:srgbClr val="121212"/>
                </a:solidFill>
                <a:latin typeface="Outfit"/>
                <a:ea typeface="Outfit"/>
                <a:cs typeface="Outfit"/>
                <a:sym typeface="Outfit"/>
              </a:rPr>
              <a:t>Why Choose Ginger Tax?</a:t>
            </a:r>
            <a:endParaRPr/>
          </a:p>
        </p:txBody>
      </p:sp>
      <p:pic>
        <p:nvPicPr>
          <p:cNvPr id="134" name="Google Shape;134;p16" descr="image.png"/>
          <p:cNvPicPr preferRelativeResize="0"/>
          <p:nvPr/>
        </p:nvPicPr>
        <p:blipFill rotWithShape="1">
          <a:blip r:embed="rId5">
            <a:alphaModFix/>
          </a:blip>
          <a:srcRect/>
          <a:stretch/>
        </p:blipFill>
        <p:spPr>
          <a:xfrm>
            <a:off x="571500" y="1457325"/>
            <a:ext cx="3492400" cy="2344787"/>
          </a:xfrm>
          <a:prstGeom prst="rect">
            <a:avLst/>
          </a:prstGeom>
          <a:noFill/>
          <a:ln>
            <a:noFill/>
          </a:ln>
        </p:spPr>
      </p:pic>
      <p:pic>
        <p:nvPicPr>
          <p:cNvPr id="135" name="Google Shape;135;p16" descr="image.png"/>
          <p:cNvPicPr preferRelativeResize="0"/>
          <p:nvPr/>
        </p:nvPicPr>
        <p:blipFill rotWithShape="1">
          <a:blip r:embed="rId6">
            <a:alphaModFix/>
          </a:blip>
          <a:srcRect/>
          <a:stretch/>
        </p:blipFill>
        <p:spPr>
          <a:xfrm>
            <a:off x="4349650" y="1457325"/>
            <a:ext cx="3492549" cy="2344787"/>
          </a:xfrm>
          <a:prstGeom prst="rect">
            <a:avLst/>
          </a:prstGeom>
          <a:noFill/>
          <a:ln>
            <a:noFill/>
          </a:ln>
        </p:spPr>
      </p:pic>
      <p:pic>
        <p:nvPicPr>
          <p:cNvPr id="136" name="Google Shape;136;p16" descr="image.png"/>
          <p:cNvPicPr preferRelativeResize="0"/>
          <p:nvPr/>
        </p:nvPicPr>
        <p:blipFill rotWithShape="1">
          <a:blip r:embed="rId5">
            <a:alphaModFix/>
          </a:blip>
          <a:srcRect/>
          <a:stretch/>
        </p:blipFill>
        <p:spPr>
          <a:xfrm>
            <a:off x="8127950" y="1457325"/>
            <a:ext cx="3492400" cy="2344787"/>
          </a:xfrm>
          <a:prstGeom prst="rect">
            <a:avLst/>
          </a:prstGeom>
          <a:noFill/>
          <a:ln>
            <a:noFill/>
          </a:ln>
        </p:spPr>
      </p:pic>
      <p:pic>
        <p:nvPicPr>
          <p:cNvPr id="137" name="Google Shape;137;p16" descr="image.png"/>
          <p:cNvPicPr preferRelativeResize="0"/>
          <p:nvPr/>
        </p:nvPicPr>
        <p:blipFill rotWithShape="1">
          <a:blip r:embed="rId5">
            <a:alphaModFix/>
          </a:blip>
          <a:srcRect/>
          <a:stretch/>
        </p:blipFill>
        <p:spPr>
          <a:xfrm>
            <a:off x="571500" y="4087862"/>
            <a:ext cx="3492400" cy="2344787"/>
          </a:xfrm>
          <a:prstGeom prst="rect">
            <a:avLst/>
          </a:prstGeom>
          <a:noFill/>
          <a:ln>
            <a:noFill/>
          </a:ln>
        </p:spPr>
      </p:pic>
      <p:pic>
        <p:nvPicPr>
          <p:cNvPr id="138" name="Google Shape;138;p16" descr="image.png"/>
          <p:cNvPicPr preferRelativeResize="0"/>
          <p:nvPr/>
        </p:nvPicPr>
        <p:blipFill rotWithShape="1">
          <a:blip r:embed="rId6">
            <a:alphaModFix/>
          </a:blip>
          <a:srcRect/>
          <a:stretch/>
        </p:blipFill>
        <p:spPr>
          <a:xfrm>
            <a:off x="4349650" y="4087862"/>
            <a:ext cx="3492549" cy="2344787"/>
          </a:xfrm>
          <a:prstGeom prst="rect">
            <a:avLst/>
          </a:prstGeom>
          <a:noFill/>
          <a:ln>
            <a:noFill/>
          </a:ln>
        </p:spPr>
      </p:pic>
      <p:pic>
        <p:nvPicPr>
          <p:cNvPr id="139" name="Google Shape;139;p16" descr="image.png"/>
          <p:cNvPicPr preferRelativeResize="0"/>
          <p:nvPr/>
        </p:nvPicPr>
        <p:blipFill rotWithShape="1">
          <a:blip r:embed="rId5">
            <a:alphaModFix/>
          </a:blip>
          <a:srcRect/>
          <a:stretch/>
        </p:blipFill>
        <p:spPr>
          <a:xfrm>
            <a:off x="8127950" y="4087862"/>
            <a:ext cx="3492400" cy="2344787"/>
          </a:xfrm>
          <a:prstGeom prst="rect">
            <a:avLst/>
          </a:prstGeom>
          <a:noFill/>
          <a:ln>
            <a:noFill/>
          </a:ln>
        </p:spPr>
      </p:pic>
      <p:sp>
        <p:nvSpPr>
          <p:cNvPr id="140" name="Google Shape;140;p16"/>
          <p:cNvSpPr txBox="1"/>
          <p:nvPr/>
        </p:nvSpPr>
        <p:spPr>
          <a:xfrm>
            <a:off x="914400" y="2419350"/>
            <a:ext cx="21504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121212"/>
                </a:solidFill>
                <a:latin typeface="Outfit"/>
                <a:ea typeface="Outfit"/>
                <a:cs typeface="Outfit"/>
                <a:sym typeface="Outfit"/>
              </a:rPr>
              <a:t>Specialist expertise</a:t>
            </a:r>
            <a:endParaRPr/>
          </a:p>
        </p:txBody>
      </p:sp>
      <p:sp>
        <p:nvSpPr>
          <p:cNvPr id="141" name="Google Shape;141;p16"/>
          <p:cNvSpPr txBox="1"/>
          <p:nvPr/>
        </p:nvSpPr>
        <p:spPr>
          <a:xfrm>
            <a:off x="914400" y="2819400"/>
            <a:ext cx="2806500" cy="70170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a:solidFill>
                  <a:srgbClr val="64748B"/>
                </a:solidFill>
                <a:latin typeface="Plus Jakarta Sans"/>
                <a:ea typeface="Plus Jakarta Sans"/>
                <a:cs typeface="Plus Jakarta Sans"/>
                <a:sym typeface="Plus Jakarta Sans"/>
              </a:rPr>
              <a:t>Dedicated tax experts for each category — gig, salaried, and RSU — not generalists.</a:t>
            </a:r>
            <a:endParaRPr/>
          </a:p>
        </p:txBody>
      </p:sp>
      <p:sp>
        <p:nvSpPr>
          <p:cNvPr id="142" name="Google Shape;142;p16"/>
          <p:cNvSpPr txBox="1"/>
          <p:nvPr/>
        </p:nvSpPr>
        <p:spPr>
          <a:xfrm>
            <a:off x="4692550" y="2419350"/>
            <a:ext cx="24702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121212"/>
                </a:solidFill>
                <a:latin typeface="Outfit"/>
                <a:ea typeface="Outfit"/>
                <a:cs typeface="Outfit"/>
                <a:sym typeface="Outfit"/>
              </a:rPr>
              <a:t>Max refund guarantee</a:t>
            </a:r>
            <a:endParaRPr/>
          </a:p>
        </p:txBody>
      </p:sp>
      <p:sp>
        <p:nvSpPr>
          <p:cNvPr id="143" name="Google Shape;143;p16"/>
          <p:cNvSpPr txBox="1"/>
          <p:nvPr/>
        </p:nvSpPr>
        <p:spPr>
          <a:xfrm>
            <a:off x="4692550" y="2819400"/>
            <a:ext cx="2806800" cy="44310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a:solidFill>
                  <a:srgbClr val="64748B"/>
                </a:solidFill>
                <a:latin typeface="Plus Jakarta Sans"/>
                <a:ea typeface="Plus Jakarta Sans"/>
                <a:cs typeface="Plus Jakarta Sans"/>
                <a:sym typeface="Plus Jakarta Sans"/>
              </a:rPr>
              <a:t>We leave no deduction unclaimed. Miss one? We re</a:t>
            </a:r>
            <a:r>
              <a:rPr lang="en-US" sz="1200">
                <a:solidFill>
                  <a:srgbClr val="64748B"/>
                </a:solidFill>
                <a:latin typeface="Plus Jakarta Sans"/>
                <a:ea typeface="Plus Jakarta Sans"/>
                <a:cs typeface="Plus Jakarta Sans"/>
                <a:sym typeface="Plus Jakarta Sans"/>
              </a:rPr>
              <a:t>-</a:t>
            </a:r>
            <a:r>
              <a:rPr lang="en-US" sz="1200" b="0" i="0" u="none" strike="noStrike" cap="none">
                <a:solidFill>
                  <a:srgbClr val="64748B"/>
                </a:solidFill>
                <a:latin typeface="Plus Jakarta Sans"/>
                <a:ea typeface="Plus Jakarta Sans"/>
                <a:cs typeface="Plus Jakarta Sans"/>
                <a:sym typeface="Plus Jakarta Sans"/>
              </a:rPr>
              <a:t>file at no charge.</a:t>
            </a:r>
            <a:endParaRPr/>
          </a:p>
        </p:txBody>
      </p:sp>
      <p:sp>
        <p:nvSpPr>
          <p:cNvPr id="144" name="Google Shape;144;p16"/>
          <p:cNvSpPr txBox="1"/>
          <p:nvPr/>
        </p:nvSpPr>
        <p:spPr>
          <a:xfrm>
            <a:off x="8470850" y="2419350"/>
            <a:ext cx="12903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121212"/>
                </a:solidFill>
                <a:latin typeface="Outfit"/>
                <a:ea typeface="Outfit"/>
                <a:cs typeface="Outfit"/>
                <a:sym typeface="Outfit"/>
              </a:rPr>
              <a:t>Fully secure</a:t>
            </a:r>
            <a:endParaRPr/>
          </a:p>
        </p:txBody>
      </p:sp>
      <p:sp>
        <p:nvSpPr>
          <p:cNvPr id="145" name="Google Shape;145;p16"/>
          <p:cNvSpPr txBox="1"/>
          <p:nvPr/>
        </p:nvSpPr>
        <p:spPr>
          <a:xfrm>
            <a:off x="8470850" y="2819400"/>
            <a:ext cx="2806500" cy="70170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a:solidFill>
                  <a:srgbClr val="64748B"/>
                </a:solidFill>
                <a:latin typeface="Plus Jakarta Sans"/>
                <a:ea typeface="Plus Jakarta Sans"/>
                <a:cs typeface="Plus Jakarta Sans"/>
                <a:sym typeface="Plus Jakarta Sans"/>
              </a:rPr>
              <a:t>Documents and financial data are encrypted end-to-end. We never share your info.</a:t>
            </a:r>
            <a:endParaRPr/>
          </a:p>
        </p:txBody>
      </p:sp>
      <p:sp>
        <p:nvSpPr>
          <p:cNvPr id="146" name="Google Shape;146;p16"/>
          <p:cNvSpPr txBox="1"/>
          <p:nvPr/>
        </p:nvSpPr>
        <p:spPr>
          <a:xfrm>
            <a:off x="914400" y="5049887"/>
            <a:ext cx="18003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121212"/>
                </a:solidFill>
                <a:latin typeface="Outfit"/>
                <a:ea typeface="Outfit"/>
                <a:cs typeface="Outfit"/>
                <a:sym typeface="Outfit"/>
              </a:rPr>
              <a:t>Fast turnaround</a:t>
            </a:r>
            <a:endParaRPr/>
          </a:p>
        </p:txBody>
      </p:sp>
      <p:sp>
        <p:nvSpPr>
          <p:cNvPr id="147" name="Google Shape;147;p16"/>
          <p:cNvSpPr txBox="1"/>
          <p:nvPr/>
        </p:nvSpPr>
        <p:spPr>
          <a:xfrm>
            <a:off x="914400" y="5449937"/>
            <a:ext cx="2806500" cy="44310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a:solidFill>
                  <a:srgbClr val="64748B"/>
                </a:solidFill>
                <a:latin typeface="Plus Jakarta Sans"/>
                <a:ea typeface="Plus Jakarta Sans"/>
                <a:cs typeface="Plus Jakarta Sans"/>
                <a:sym typeface="Plus Jakarta Sans"/>
              </a:rPr>
              <a:t>24-48 hours for simple returns. Never miss a filing deadline with Ginger Tax.</a:t>
            </a:r>
            <a:endParaRPr/>
          </a:p>
        </p:txBody>
      </p:sp>
      <p:sp>
        <p:nvSpPr>
          <p:cNvPr id="148" name="Google Shape;148;p16"/>
          <p:cNvSpPr txBox="1"/>
          <p:nvPr/>
        </p:nvSpPr>
        <p:spPr>
          <a:xfrm>
            <a:off x="4692550" y="5049887"/>
            <a:ext cx="16803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121212"/>
                </a:solidFill>
                <a:latin typeface="Outfit"/>
                <a:ea typeface="Outfit"/>
                <a:cs typeface="Outfit"/>
                <a:sym typeface="Outfit"/>
              </a:rPr>
              <a:t>Expert support</a:t>
            </a:r>
            <a:endParaRPr/>
          </a:p>
        </p:txBody>
      </p:sp>
      <p:sp>
        <p:nvSpPr>
          <p:cNvPr id="149" name="Google Shape;149;p16"/>
          <p:cNvSpPr txBox="1"/>
          <p:nvPr/>
        </p:nvSpPr>
        <p:spPr>
          <a:xfrm>
            <a:off x="4692550" y="5449937"/>
            <a:ext cx="2806800" cy="70170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a:solidFill>
                  <a:srgbClr val="64748B"/>
                </a:solidFill>
                <a:latin typeface="Plus Jakarta Sans"/>
                <a:ea typeface="Plus Jakarta Sans"/>
                <a:cs typeface="Plus Jakarta Sans"/>
                <a:sym typeface="Plus Jakarta Sans"/>
              </a:rPr>
              <a:t>Direct access to your assigned expert — not a chatbot. Call or WhatsApp anytime.</a:t>
            </a:r>
            <a:endParaRPr/>
          </a:p>
        </p:txBody>
      </p:sp>
      <p:sp>
        <p:nvSpPr>
          <p:cNvPr id="150" name="Google Shape;150;p16"/>
          <p:cNvSpPr txBox="1"/>
          <p:nvPr/>
        </p:nvSpPr>
        <p:spPr>
          <a:xfrm>
            <a:off x="8470850" y="5049887"/>
            <a:ext cx="17403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121212"/>
                </a:solidFill>
                <a:latin typeface="Outfit"/>
                <a:ea typeface="Outfit"/>
                <a:cs typeface="Outfit"/>
                <a:sym typeface="Outfit"/>
              </a:rPr>
              <a:t>Notice handling</a:t>
            </a:r>
            <a:endParaRPr/>
          </a:p>
        </p:txBody>
      </p:sp>
      <p:sp>
        <p:nvSpPr>
          <p:cNvPr id="151" name="Google Shape;151;p16"/>
          <p:cNvSpPr txBox="1"/>
          <p:nvPr/>
        </p:nvSpPr>
        <p:spPr>
          <a:xfrm>
            <a:off x="8470850" y="5449937"/>
            <a:ext cx="2806500" cy="70170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a:solidFill>
                  <a:srgbClr val="64748B"/>
                </a:solidFill>
                <a:latin typeface="Plus Jakarta Sans"/>
                <a:ea typeface="Plus Jakarta Sans"/>
                <a:cs typeface="Plus Jakarta Sans"/>
                <a:sym typeface="Plus Jakarta Sans"/>
              </a:rPr>
              <a:t>If the IT department sends a notice, we respond on your behalf at no extra charge.</a:t>
            </a:r>
            <a:endParaRPr/>
          </a:p>
        </p:txBody>
      </p:sp>
      <p:pic>
        <p:nvPicPr>
          <p:cNvPr id="152" name="Google Shape;152;p16" descr="image.png"/>
          <p:cNvPicPr preferRelativeResize="0"/>
          <p:nvPr/>
        </p:nvPicPr>
        <p:blipFill rotWithShape="1">
          <a:blip r:embed="rId7">
            <a:alphaModFix/>
          </a:blip>
          <a:srcRect/>
          <a:stretch/>
        </p:blipFill>
        <p:spPr>
          <a:xfrm>
            <a:off x="914400" y="1857375"/>
            <a:ext cx="304800" cy="342900"/>
          </a:xfrm>
          <a:prstGeom prst="rect">
            <a:avLst/>
          </a:prstGeom>
          <a:noFill/>
          <a:ln>
            <a:noFill/>
          </a:ln>
        </p:spPr>
      </p:pic>
      <p:pic>
        <p:nvPicPr>
          <p:cNvPr id="153" name="Google Shape;153;p16" descr="image.png"/>
          <p:cNvPicPr preferRelativeResize="0"/>
          <p:nvPr/>
        </p:nvPicPr>
        <p:blipFill rotWithShape="1">
          <a:blip r:embed="rId8">
            <a:alphaModFix/>
          </a:blip>
          <a:srcRect/>
          <a:stretch/>
        </p:blipFill>
        <p:spPr>
          <a:xfrm>
            <a:off x="4692550" y="1857375"/>
            <a:ext cx="390525" cy="342900"/>
          </a:xfrm>
          <a:prstGeom prst="rect">
            <a:avLst/>
          </a:prstGeom>
          <a:noFill/>
          <a:ln>
            <a:noFill/>
          </a:ln>
        </p:spPr>
      </p:pic>
      <p:pic>
        <p:nvPicPr>
          <p:cNvPr id="154" name="Google Shape;154;p16" descr="image.png"/>
          <p:cNvPicPr preferRelativeResize="0"/>
          <p:nvPr/>
        </p:nvPicPr>
        <p:blipFill rotWithShape="1">
          <a:blip r:embed="rId9">
            <a:alphaModFix/>
          </a:blip>
          <a:srcRect/>
          <a:stretch/>
        </p:blipFill>
        <p:spPr>
          <a:xfrm>
            <a:off x="8470850" y="1857375"/>
            <a:ext cx="304800" cy="342900"/>
          </a:xfrm>
          <a:prstGeom prst="rect">
            <a:avLst/>
          </a:prstGeom>
          <a:noFill/>
          <a:ln>
            <a:noFill/>
          </a:ln>
        </p:spPr>
      </p:pic>
      <p:pic>
        <p:nvPicPr>
          <p:cNvPr id="155" name="Google Shape;155;p16" descr="image.png"/>
          <p:cNvPicPr preferRelativeResize="0"/>
          <p:nvPr/>
        </p:nvPicPr>
        <p:blipFill rotWithShape="1">
          <a:blip r:embed="rId10">
            <a:alphaModFix/>
          </a:blip>
          <a:srcRect/>
          <a:stretch/>
        </p:blipFill>
        <p:spPr>
          <a:xfrm>
            <a:off x="4692550" y="4487912"/>
            <a:ext cx="342900" cy="342900"/>
          </a:xfrm>
          <a:prstGeom prst="rect">
            <a:avLst/>
          </a:prstGeom>
          <a:noFill/>
          <a:ln>
            <a:noFill/>
          </a:ln>
        </p:spPr>
      </p:pic>
      <p:pic>
        <p:nvPicPr>
          <p:cNvPr id="156" name="Google Shape;156;p16" descr="image.png"/>
          <p:cNvPicPr preferRelativeResize="0"/>
          <p:nvPr/>
        </p:nvPicPr>
        <p:blipFill rotWithShape="1">
          <a:blip r:embed="rId11">
            <a:alphaModFix/>
          </a:blip>
          <a:srcRect/>
          <a:stretch/>
        </p:blipFill>
        <p:spPr>
          <a:xfrm>
            <a:off x="914400" y="4487912"/>
            <a:ext cx="304800" cy="342900"/>
          </a:xfrm>
          <a:prstGeom prst="rect">
            <a:avLst/>
          </a:prstGeom>
          <a:noFill/>
          <a:ln>
            <a:noFill/>
          </a:ln>
        </p:spPr>
      </p:pic>
      <p:pic>
        <p:nvPicPr>
          <p:cNvPr id="157" name="Google Shape;157;p16" descr="image.png"/>
          <p:cNvPicPr preferRelativeResize="0"/>
          <p:nvPr/>
        </p:nvPicPr>
        <p:blipFill rotWithShape="1">
          <a:blip r:embed="rId12">
            <a:alphaModFix/>
          </a:blip>
          <a:srcRect/>
          <a:stretch/>
        </p:blipFill>
        <p:spPr>
          <a:xfrm>
            <a:off x="8470850" y="4487912"/>
            <a:ext cx="342900" cy="342900"/>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1"/>
        <p:cNvGrpSpPr/>
        <p:nvPr/>
      </p:nvGrpSpPr>
      <p:grpSpPr>
        <a:xfrm>
          <a:off x="0" y="0"/>
          <a:ext cx="0" cy="0"/>
          <a:chOff x="0" y="0"/>
          <a:chExt cx="0" cy="0"/>
        </a:xfrm>
      </p:grpSpPr>
      <p:pic>
        <p:nvPicPr>
          <p:cNvPr id="162" name="Google Shape;162;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63" name="Google Shape;163;p17" descr="image.png"/>
          <p:cNvPicPr preferRelativeResize="0"/>
          <p:nvPr/>
        </p:nvPicPr>
        <p:blipFill rotWithShape="1">
          <a:blip r:embed="rId4">
            <a:alphaModFix/>
          </a:blip>
          <a:srcRect/>
          <a:stretch/>
        </p:blipFill>
        <p:spPr>
          <a:xfrm>
            <a:off x="6477000" y="3561457"/>
            <a:ext cx="5143500" cy="1716285"/>
          </a:xfrm>
          <a:prstGeom prst="rect">
            <a:avLst/>
          </a:prstGeom>
          <a:noFill/>
          <a:ln>
            <a:noFill/>
          </a:ln>
        </p:spPr>
      </p:pic>
      <p:sp>
        <p:nvSpPr>
          <p:cNvPr id="164" name="Google Shape;164;p17"/>
          <p:cNvSpPr txBox="1"/>
          <p:nvPr/>
        </p:nvSpPr>
        <p:spPr>
          <a:xfrm>
            <a:off x="762000" y="571500"/>
            <a:ext cx="11401425"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E31E24"/>
                </a:solidFill>
                <a:latin typeface="Outfit"/>
                <a:ea typeface="Outfit"/>
                <a:cs typeface="Outfit"/>
                <a:sym typeface="Outfit"/>
              </a:rPr>
              <a:t>Industry-Leading Incentives</a:t>
            </a:r>
            <a:endParaRPr/>
          </a:p>
        </p:txBody>
      </p:sp>
      <p:sp>
        <p:nvSpPr>
          <p:cNvPr id="166" name="Google Shape;166;p17"/>
          <p:cNvSpPr txBox="1"/>
          <p:nvPr/>
        </p:nvSpPr>
        <p:spPr>
          <a:xfrm>
            <a:off x="571500" y="2857500"/>
            <a:ext cx="5524500" cy="17145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3500" b="1" i="0" u="none" strike="noStrike" cap="none">
                <a:solidFill>
                  <a:srgbClr val="E31E24"/>
                </a:solidFill>
                <a:latin typeface="Outfit"/>
                <a:ea typeface="Outfit"/>
                <a:cs typeface="Outfit"/>
                <a:sym typeface="Outfit"/>
              </a:rPr>
              <a:t>20%</a:t>
            </a:r>
            <a:endParaRPr/>
          </a:p>
        </p:txBody>
      </p:sp>
      <p:sp>
        <p:nvSpPr>
          <p:cNvPr id="167" name="Google Shape;167;p17"/>
          <p:cNvSpPr txBox="1"/>
          <p:nvPr/>
        </p:nvSpPr>
        <p:spPr>
          <a:xfrm>
            <a:off x="571500" y="4572000"/>
            <a:ext cx="5524500" cy="381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0" i="0" u="none" strike="noStrike" cap="none">
                <a:solidFill>
                  <a:srgbClr val="1E1E1E"/>
                </a:solidFill>
                <a:latin typeface="Plus Jakarta Sans SemiBold"/>
                <a:ea typeface="Plus Jakarta Sans SemiBold"/>
                <a:cs typeface="Plus Jakarta Sans SemiBold"/>
                <a:sym typeface="Plus Jakarta Sans SemiBold"/>
              </a:rPr>
              <a:t>Direct Commission</a:t>
            </a:r>
            <a:endParaRPr/>
          </a:p>
        </p:txBody>
      </p:sp>
      <p:sp>
        <p:nvSpPr>
          <p:cNvPr id="168" name="Google Shape;168;p17"/>
          <p:cNvSpPr txBox="1"/>
          <p:nvPr/>
        </p:nvSpPr>
        <p:spPr>
          <a:xfrm>
            <a:off x="6477000" y="2532757"/>
            <a:ext cx="5400675"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1A1A1A"/>
                </a:solidFill>
                <a:latin typeface="Outfit"/>
                <a:ea typeface="Outfit"/>
                <a:cs typeface="Outfit"/>
                <a:sym typeface="Outfit"/>
              </a:rPr>
              <a:t>Pure Performance Rewards</a:t>
            </a:r>
            <a:endParaRPr/>
          </a:p>
        </p:txBody>
      </p:sp>
      <p:sp>
        <p:nvSpPr>
          <p:cNvPr id="169" name="Google Shape;169;p17"/>
          <p:cNvSpPr txBox="1"/>
          <p:nvPr/>
        </p:nvSpPr>
        <p:spPr>
          <a:xfrm>
            <a:off x="6477000" y="2761357"/>
            <a:ext cx="51435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4B5563"/>
                </a:solidFill>
                <a:latin typeface="Plus Jakarta Sans"/>
                <a:ea typeface="Plus Jakarta Sans"/>
                <a:cs typeface="Plus Jakarta Sans"/>
                <a:sym typeface="Plus Jakarta Sans"/>
              </a:rPr>
              <a:t>We believe in rewarding the hustle. Every single lead you convert earns you a massive 20% cut of the sale value.</a:t>
            </a:r>
            <a:endParaRPr/>
          </a:p>
        </p:txBody>
      </p:sp>
      <p:sp>
        <p:nvSpPr>
          <p:cNvPr id="170" name="Google Shape;170;p17"/>
          <p:cNvSpPr txBox="1"/>
          <p:nvPr/>
        </p:nvSpPr>
        <p:spPr>
          <a:xfrm>
            <a:off x="6819900" y="3847207"/>
            <a:ext cx="451485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E31E24"/>
                </a:solidFill>
                <a:latin typeface="Plus Jakarta Sans"/>
                <a:ea typeface="Plus Jakarta Sans"/>
                <a:cs typeface="Plus Jakarta Sans"/>
                <a:sym typeface="Plus Jakarta Sans"/>
              </a:rPr>
              <a:t>EXAMPLE:</a:t>
            </a:r>
            <a:endParaRPr/>
          </a:p>
        </p:txBody>
      </p:sp>
      <p:sp>
        <p:nvSpPr>
          <p:cNvPr id="171" name="Google Shape;171;p17"/>
          <p:cNvSpPr txBox="1"/>
          <p:nvPr/>
        </p:nvSpPr>
        <p:spPr>
          <a:xfrm>
            <a:off x="6819900" y="4199632"/>
            <a:ext cx="4514850" cy="36567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a:solidFill>
                  <a:srgbClr val="1E1E1E"/>
                </a:solidFill>
                <a:latin typeface="Plus Jakarta Sans"/>
                <a:ea typeface="Plus Jakarta Sans"/>
                <a:cs typeface="Plus Jakarta Sans"/>
                <a:sym typeface="Plus Jakarta Sans"/>
              </a:rPr>
              <a:t>Sale Value: ₹10,000</a:t>
            </a:r>
            <a:endParaRPr/>
          </a:p>
        </p:txBody>
      </p:sp>
      <p:sp>
        <p:nvSpPr>
          <p:cNvPr id="172" name="Google Shape;172;p17"/>
          <p:cNvSpPr txBox="1"/>
          <p:nvPr/>
        </p:nvSpPr>
        <p:spPr>
          <a:xfrm>
            <a:off x="6819900" y="4565302"/>
            <a:ext cx="4514850" cy="426690"/>
          </a:xfrm>
          <a:prstGeom prst="rect">
            <a:avLst/>
          </a:prstGeom>
          <a:noFill/>
          <a:ln>
            <a:noFill/>
          </a:ln>
        </p:spPr>
        <p:txBody>
          <a:bodyPr spcFirstLastPara="1" wrap="square" lIns="0" tIns="0" rIns="0" bIns="0" anchor="t" anchorCtr="0">
            <a:spAutoFit/>
          </a:bodyPr>
          <a:lstStyle/>
          <a:p>
            <a:pPr marL="0" marR="0" lvl="0" indent="0" algn="l" rtl="0">
              <a:lnSpc>
                <a:spcPct val="159952"/>
              </a:lnSpc>
              <a:spcBef>
                <a:spcPts val="0"/>
              </a:spcBef>
              <a:spcAft>
                <a:spcPts val="0"/>
              </a:spcAft>
              <a:buNone/>
            </a:pPr>
            <a:r>
              <a:rPr lang="en-US" sz="2100" b="1" i="0" u="none" strike="noStrike" cap="none">
                <a:solidFill>
                  <a:srgbClr val="E31E24"/>
                </a:solidFill>
                <a:latin typeface="Plus Jakarta Sans"/>
                <a:ea typeface="Plus Jakarta Sans"/>
                <a:cs typeface="Plus Jakarta Sans"/>
                <a:sym typeface="Plus Jakarta Sans"/>
              </a:rPr>
              <a:t>Your Commission: ₹2,000</a:t>
            </a:r>
            <a:endParaRPr/>
          </a:p>
        </p:txBody>
      </p:sp>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6"/>
        <p:cNvGrpSpPr/>
        <p:nvPr/>
      </p:nvGrpSpPr>
      <p:grpSpPr>
        <a:xfrm>
          <a:off x="0" y="0"/>
          <a:ext cx="0" cy="0"/>
          <a:chOff x="0" y="0"/>
          <a:chExt cx="0" cy="0"/>
        </a:xfrm>
      </p:grpSpPr>
      <p:pic>
        <p:nvPicPr>
          <p:cNvPr id="177" name="Google Shape;177;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78" name="Google Shape;178;p18"/>
          <p:cNvSpPr txBox="1"/>
          <p:nvPr/>
        </p:nvSpPr>
        <p:spPr>
          <a:xfrm>
            <a:off x="762000" y="571500"/>
            <a:ext cx="11401425"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E31E24"/>
                </a:solidFill>
                <a:latin typeface="Outfit"/>
                <a:ea typeface="Outfit"/>
                <a:cs typeface="Outfit"/>
                <a:sym typeface="Outfit"/>
              </a:rPr>
              <a:t>Sample Earning Projection</a:t>
            </a:r>
            <a:endParaRPr/>
          </a:p>
        </p:txBody>
      </p:sp>
      <p:sp>
        <p:nvSpPr>
          <p:cNvPr id="180" name="Google Shape;180;p18"/>
          <p:cNvSpPr/>
          <p:nvPr/>
        </p:nvSpPr>
        <p:spPr>
          <a:xfrm>
            <a:off x="571500" y="2300287"/>
            <a:ext cx="11049000" cy="2619375"/>
          </a:xfrm>
          <a:prstGeom prst="roundRect">
            <a:avLst>
              <a:gd name="adj" fmla="val 0"/>
            </a:avLst>
          </a:prstGeom>
          <a:solidFill>
            <a:srgbClr val="FFFFFF"/>
          </a:solidFill>
          <a:ln w="9525" cap="flat" cmpd="sng">
            <a:solidFill>
              <a:srgbClr val="4A7DB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181" name="Google Shape;181;p18"/>
          <p:cNvGraphicFramePr/>
          <p:nvPr/>
        </p:nvGraphicFramePr>
        <p:xfrm>
          <a:off x="571500" y="2300287"/>
          <a:ext cx="11049000" cy="2619400"/>
        </p:xfrm>
        <a:graphic>
          <a:graphicData uri="http://schemas.openxmlformats.org/drawingml/2006/table">
            <a:tbl>
              <a:tblPr firstRow="1" bandRow="1">
                <a:noFill/>
                <a:tableStyleId>{AD93EBE4-B342-4E21-9B85-4034D1BBA87F}</a:tableStyleId>
              </a:tblPr>
              <a:tblGrid>
                <a:gridCol w="2951700">
                  <a:extLst>
                    <a:ext uri="{9D8B030D-6E8A-4147-A177-3AD203B41FA5}">
                      <a16:colId xmlns:a16="http://schemas.microsoft.com/office/drawing/2014/main" val="20000"/>
                    </a:ext>
                  </a:extLst>
                </a:gridCol>
                <a:gridCol w="2893375">
                  <a:extLst>
                    <a:ext uri="{9D8B030D-6E8A-4147-A177-3AD203B41FA5}">
                      <a16:colId xmlns:a16="http://schemas.microsoft.com/office/drawing/2014/main" val="20001"/>
                    </a:ext>
                  </a:extLst>
                </a:gridCol>
                <a:gridCol w="2275125">
                  <a:extLst>
                    <a:ext uri="{9D8B030D-6E8A-4147-A177-3AD203B41FA5}">
                      <a16:colId xmlns:a16="http://schemas.microsoft.com/office/drawing/2014/main" val="20002"/>
                    </a:ext>
                  </a:extLst>
                </a:gridCol>
                <a:gridCol w="2928800">
                  <a:extLst>
                    <a:ext uri="{9D8B030D-6E8A-4147-A177-3AD203B41FA5}">
                      <a16:colId xmlns:a16="http://schemas.microsoft.com/office/drawing/2014/main" val="20003"/>
                    </a:ext>
                  </a:extLst>
                </a:gridCol>
              </a:tblGrid>
              <a:tr h="654850">
                <a:tc>
                  <a:txBody>
                    <a:bodyPr/>
                    <a:lstStyle/>
                    <a:p>
                      <a:pPr marL="0" marR="0" lvl="0" indent="0" algn="l" rtl="0">
                        <a:spcBef>
                          <a:spcPts val="0"/>
                        </a:spcBef>
                        <a:spcAft>
                          <a:spcPts val="0"/>
                        </a:spcAft>
                        <a:buNone/>
                      </a:pPr>
                      <a:r>
                        <a:rPr lang="en-US" sz="1650" b="1" i="0" u="none" strike="noStrike" cap="none">
                          <a:solidFill>
                            <a:srgbClr val="FFFFFF"/>
                          </a:solidFill>
                          <a:latin typeface="Plus Jakarta Sans"/>
                          <a:ea typeface="Plus Jakarta Sans"/>
                          <a:cs typeface="Plus Jakarta Sans"/>
                          <a:sym typeface="Plus Jakarta Sans"/>
                        </a:rPr>
                        <a:t>Target Conversions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31E24"/>
                    </a:solidFill>
                  </a:tcPr>
                </a:tc>
                <a:tc>
                  <a:txBody>
                    <a:bodyPr/>
                    <a:lstStyle/>
                    <a:p>
                      <a:pPr marL="0" marR="0" lvl="0" indent="0" algn="l" rtl="0">
                        <a:spcBef>
                          <a:spcPts val="0"/>
                        </a:spcBef>
                        <a:spcAft>
                          <a:spcPts val="0"/>
                        </a:spcAft>
                        <a:buNone/>
                      </a:pPr>
                      <a:r>
                        <a:rPr lang="en-US" sz="1650" b="1" i="0" u="none" strike="noStrike" cap="none">
                          <a:solidFill>
                            <a:srgbClr val="FFFFFF"/>
                          </a:solidFill>
                          <a:latin typeface="Plus Jakarta Sans"/>
                          <a:ea typeface="Plus Jakarta Sans"/>
                          <a:cs typeface="Plus Jakarta Sans"/>
                          <a:sym typeface="Plus Jakarta Sans"/>
                        </a:rPr>
                        <a:t>Average Sale Value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31E24"/>
                    </a:solidFill>
                  </a:tcPr>
                </a:tc>
                <a:tc>
                  <a:txBody>
                    <a:bodyPr/>
                    <a:lstStyle/>
                    <a:p>
                      <a:pPr marL="0" marR="0" lvl="0" indent="0" algn="l" rtl="0">
                        <a:spcBef>
                          <a:spcPts val="0"/>
                        </a:spcBef>
                        <a:spcAft>
                          <a:spcPts val="0"/>
                        </a:spcAft>
                        <a:buNone/>
                      </a:pPr>
                      <a:r>
                        <a:rPr lang="en-US" sz="1650" b="1" i="0" u="none" strike="noStrike" cap="none">
                          <a:solidFill>
                            <a:srgbClr val="FFFFFF"/>
                          </a:solidFill>
                          <a:latin typeface="Plus Jakarta Sans"/>
                          <a:ea typeface="Plus Jakarta Sans"/>
                          <a:cs typeface="Plus Jakarta Sans"/>
                          <a:sym typeface="Plus Jakarta Sans"/>
                        </a:rPr>
                        <a:t>Total Revenue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31E24"/>
                    </a:solidFill>
                  </a:tcPr>
                </a:tc>
                <a:tc>
                  <a:txBody>
                    <a:bodyPr/>
                    <a:lstStyle/>
                    <a:p>
                      <a:pPr marL="0" marR="0" lvl="0" indent="0" algn="l" rtl="0">
                        <a:spcBef>
                          <a:spcPts val="0"/>
                        </a:spcBef>
                        <a:spcAft>
                          <a:spcPts val="0"/>
                        </a:spcAft>
                        <a:buNone/>
                      </a:pPr>
                      <a:r>
                        <a:rPr lang="en-US" sz="1650" b="1" i="0" u="none" strike="noStrike" cap="none">
                          <a:solidFill>
                            <a:srgbClr val="FFFFFF"/>
                          </a:solidFill>
                          <a:latin typeface="Plus Jakarta Sans"/>
                          <a:ea typeface="Plus Jakarta Sans"/>
                          <a:cs typeface="Plus Jakarta Sans"/>
                          <a:sym typeface="Plus Jakarta Sans"/>
                        </a:rPr>
                        <a:t>Your Earning (20%)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31E24"/>
                    </a:solidFill>
                  </a:tcPr>
                </a:tc>
                <a:extLst>
                  <a:ext uri="{0D108BD9-81ED-4DB2-BD59-A6C34878D82A}">
                    <a16:rowId xmlns:a16="http://schemas.microsoft.com/office/drawing/2014/main" val="10000"/>
                  </a:ext>
                </a:extLst>
              </a:tr>
              <a:tr h="654850">
                <a:tc>
                  <a:txBody>
                    <a:bodyPr/>
                    <a:lstStyle/>
                    <a:p>
                      <a:pPr marL="0" marR="0" lvl="0" indent="0" algn="l" rtl="0">
                        <a:spcBef>
                          <a:spcPts val="0"/>
                        </a:spcBef>
                        <a:spcAft>
                          <a:spcPts val="0"/>
                        </a:spcAft>
                        <a:buNone/>
                      </a:pPr>
                      <a:r>
                        <a:rPr lang="en-US" sz="1500" b="0" i="0" u="none" strike="noStrike" cap="none">
                          <a:solidFill>
                            <a:srgbClr val="1A1A1A"/>
                          </a:solidFill>
                          <a:latin typeface="Plus Jakarta Sans"/>
                          <a:ea typeface="Plus Jakarta Sans"/>
                          <a:cs typeface="Plus Jakarta Sans"/>
                          <a:sym typeface="Plus Jakarta Sans"/>
                        </a:rPr>
                        <a:t>Low (5 Leads)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1A1A1A"/>
                          </a:solidFill>
                          <a:latin typeface="Plus Jakarta Sans"/>
                          <a:ea typeface="Plus Jakarta Sans"/>
                          <a:cs typeface="Plus Jakarta Sans"/>
                          <a:sym typeface="Plus Jakarta Sans"/>
                        </a:rPr>
                        <a:t>₹10,000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1A1A1A"/>
                          </a:solidFill>
                          <a:latin typeface="Plus Jakarta Sans"/>
                          <a:ea typeface="Plus Jakarta Sans"/>
                          <a:cs typeface="Plus Jakarta Sans"/>
                          <a:sym typeface="Plus Jakarta Sans"/>
                        </a:rPr>
                        <a:t>₹50,000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1" i="0" u="none" strike="noStrike" cap="none">
                          <a:solidFill>
                            <a:srgbClr val="1A1A1A"/>
                          </a:solidFill>
                          <a:latin typeface="Plus Jakarta Sans"/>
                          <a:ea typeface="Plus Jakarta Sans"/>
                          <a:cs typeface="Plus Jakarta Sans"/>
                          <a:sym typeface="Plus Jakarta Sans"/>
                        </a:rPr>
                        <a:t>₹10,000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54850">
                <a:tc>
                  <a:txBody>
                    <a:bodyPr/>
                    <a:lstStyle/>
                    <a:p>
                      <a:pPr marL="0" marR="0" lvl="0" indent="0" algn="l" rtl="0">
                        <a:spcBef>
                          <a:spcPts val="0"/>
                        </a:spcBef>
                        <a:spcAft>
                          <a:spcPts val="0"/>
                        </a:spcAft>
                        <a:buNone/>
                      </a:pPr>
                      <a:r>
                        <a:rPr lang="en-US" sz="1500" b="0" i="0" u="none" strike="noStrike" cap="none">
                          <a:solidFill>
                            <a:srgbClr val="1A1A1A"/>
                          </a:solidFill>
                          <a:latin typeface="Plus Jakarta Sans"/>
                          <a:ea typeface="Plus Jakarta Sans"/>
                          <a:cs typeface="Plus Jakarta Sans"/>
                          <a:sym typeface="Plus Jakarta Sans"/>
                        </a:rPr>
                        <a:t>Medium (15 Leads)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1A1A1A"/>
                          </a:solidFill>
                          <a:latin typeface="Plus Jakarta Sans"/>
                          <a:ea typeface="Plus Jakarta Sans"/>
                          <a:cs typeface="Plus Jakarta Sans"/>
                          <a:sym typeface="Plus Jakarta Sans"/>
                        </a:rPr>
                        <a:t>₹10,000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1A1A1A"/>
                          </a:solidFill>
                          <a:latin typeface="Plus Jakarta Sans"/>
                          <a:ea typeface="Plus Jakarta Sans"/>
                          <a:cs typeface="Plus Jakarta Sans"/>
                          <a:sym typeface="Plus Jakarta Sans"/>
                        </a:rPr>
                        <a:t>₹1,50,000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1" i="0" u="none" strike="noStrike" cap="none">
                          <a:solidFill>
                            <a:srgbClr val="1A1A1A"/>
                          </a:solidFill>
                          <a:latin typeface="Plus Jakarta Sans"/>
                          <a:ea typeface="Plus Jakarta Sans"/>
                          <a:cs typeface="Plus Jakarta Sans"/>
                          <a:sym typeface="Plus Jakarta Sans"/>
                        </a:rPr>
                        <a:t>₹30,000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654850">
                <a:tc>
                  <a:txBody>
                    <a:bodyPr/>
                    <a:lstStyle/>
                    <a:p>
                      <a:pPr marL="0" marR="0" lvl="0" indent="0" algn="l" rtl="0">
                        <a:spcBef>
                          <a:spcPts val="0"/>
                        </a:spcBef>
                        <a:spcAft>
                          <a:spcPts val="0"/>
                        </a:spcAft>
                        <a:buNone/>
                      </a:pPr>
                      <a:r>
                        <a:rPr lang="en-US" sz="1500" b="0" i="0" u="none" strike="noStrike" cap="none">
                          <a:solidFill>
                            <a:srgbClr val="1A1A1A"/>
                          </a:solidFill>
                          <a:latin typeface="Plus Jakarta Sans"/>
                          <a:ea typeface="Plus Jakarta Sans"/>
                          <a:cs typeface="Plus Jakarta Sans"/>
                          <a:sym typeface="Plus Jakarta Sans"/>
                        </a:rPr>
                        <a:t>High (30 Leads)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1A1A1A"/>
                          </a:solidFill>
                          <a:latin typeface="Plus Jakarta Sans"/>
                          <a:ea typeface="Plus Jakarta Sans"/>
                          <a:cs typeface="Plus Jakarta Sans"/>
                          <a:sym typeface="Plus Jakarta Sans"/>
                        </a:rPr>
                        <a:t>₹10,000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1A1A1A"/>
                          </a:solidFill>
                          <a:latin typeface="Plus Jakarta Sans"/>
                          <a:ea typeface="Plus Jakarta Sans"/>
                          <a:cs typeface="Plus Jakarta Sans"/>
                          <a:sym typeface="Plus Jakarta Sans"/>
                        </a:rPr>
                        <a:t>₹3,00,000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1" i="0" u="none" strike="noStrike" cap="none">
                          <a:solidFill>
                            <a:srgbClr val="1A1A1A"/>
                          </a:solidFill>
                          <a:latin typeface="Plus Jakarta Sans"/>
                          <a:ea typeface="Plus Jakarta Sans"/>
                          <a:cs typeface="Plus Jakarta Sans"/>
                          <a:sym typeface="Plus Jakarta Sans"/>
                        </a:rPr>
                        <a:t>₹60,000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182" name="Google Shape;182;p18"/>
          <p:cNvSpPr txBox="1"/>
          <p:nvPr/>
        </p:nvSpPr>
        <p:spPr>
          <a:xfrm>
            <a:off x="571500" y="5205412"/>
            <a:ext cx="11049000"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1" u="none" strike="noStrike" cap="none">
                <a:solidFill>
                  <a:srgbClr val="4B5563"/>
                </a:solidFill>
                <a:latin typeface="Plus Jakarta Sans"/>
                <a:ea typeface="Plus Jakarta Sans"/>
                <a:cs typeface="Plus Jakarta Sans"/>
                <a:sym typeface="Plus Jakarta Sans"/>
              </a:rPr>
              <a:t>*Earnings are uncapped. The more you convert, the more you earn.</a:t>
            </a:r>
            <a:endParaRPr/>
          </a:p>
        </p:txBody>
      </p:sp>
      <p:sp>
        <p:nvSpPr>
          <p:cNvPr id="183" name="Google Shape;183;p18"/>
          <p:cNvSpPr/>
          <p:nvPr/>
        </p:nvSpPr>
        <p:spPr>
          <a:xfrm>
            <a:off x="571500" y="3662362"/>
            <a:ext cx="2951708" cy="9525"/>
          </a:xfrm>
          <a:prstGeom prst="rect">
            <a:avLst/>
          </a:prstGeom>
          <a:solidFill>
            <a:srgbClr val="EDF2F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4" name="Google Shape;184;p18"/>
          <p:cNvSpPr/>
          <p:nvPr/>
        </p:nvSpPr>
        <p:spPr>
          <a:xfrm>
            <a:off x="3523208" y="3662362"/>
            <a:ext cx="2893367" cy="9525"/>
          </a:xfrm>
          <a:prstGeom prst="rect">
            <a:avLst/>
          </a:prstGeom>
          <a:solidFill>
            <a:srgbClr val="EDF2F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5" name="Google Shape;185;p18"/>
          <p:cNvSpPr/>
          <p:nvPr/>
        </p:nvSpPr>
        <p:spPr>
          <a:xfrm>
            <a:off x="6416575" y="3662362"/>
            <a:ext cx="2275135" cy="9525"/>
          </a:xfrm>
          <a:prstGeom prst="rect">
            <a:avLst/>
          </a:prstGeom>
          <a:solidFill>
            <a:srgbClr val="EDF2F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6" name="Google Shape;186;p18"/>
          <p:cNvSpPr/>
          <p:nvPr/>
        </p:nvSpPr>
        <p:spPr>
          <a:xfrm>
            <a:off x="8691711" y="3662362"/>
            <a:ext cx="2928788" cy="9525"/>
          </a:xfrm>
          <a:prstGeom prst="rect">
            <a:avLst/>
          </a:prstGeom>
          <a:solidFill>
            <a:srgbClr val="EDF2F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7" name="Google Shape;187;p18"/>
          <p:cNvSpPr/>
          <p:nvPr/>
        </p:nvSpPr>
        <p:spPr>
          <a:xfrm>
            <a:off x="571500" y="4291012"/>
            <a:ext cx="2951708" cy="9525"/>
          </a:xfrm>
          <a:prstGeom prst="rect">
            <a:avLst/>
          </a:prstGeom>
          <a:solidFill>
            <a:srgbClr val="EDF2F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8" name="Google Shape;188;p18"/>
          <p:cNvSpPr/>
          <p:nvPr/>
        </p:nvSpPr>
        <p:spPr>
          <a:xfrm>
            <a:off x="3523208" y="4291012"/>
            <a:ext cx="2893367" cy="9525"/>
          </a:xfrm>
          <a:prstGeom prst="rect">
            <a:avLst/>
          </a:prstGeom>
          <a:solidFill>
            <a:srgbClr val="EDF2F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9" name="Google Shape;189;p18"/>
          <p:cNvSpPr/>
          <p:nvPr/>
        </p:nvSpPr>
        <p:spPr>
          <a:xfrm>
            <a:off x="6416575" y="4291012"/>
            <a:ext cx="2275135" cy="9525"/>
          </a:xfrm>
          <a:prstGeom prst="rect">
            <a:avLst/>
          </a:prstGeom>
          <a:solidFill>
            <a:srgbClr val="EDF2F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0" name="Google Shape;190;p18"/>
          <p:cNvSpPr/>
          <p:nvPr/>
        </p:nvSpPr>
        <p:spPr>
          <a:xfrm>
            <a:off x="8691711" y="4291012"/>
            <a:ext cx="2928788" cy="9525"/>
          </a:xfrm>
          <a:prstGeom prst="rect">
            <a:avLst/>
          </a:prstGeom>
          <a:solidFill>
            <a:srgbClr val="EDF2F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4"/>
        <p:cNvGrpSpPr/>
        <p:nvPr/>
      </p:nvGrpSpPr>
      <p:grpSpPr>
        <a:xfrm>
          <a:off x="0" y="0"/>
          <a:ext cx="0" cy="0"/>
          <a:chOff x="0" y="0"/>
          <a:chExt cx="0" cy="0"/>
        </a:xfrm>
      </p:grpSpPr>
      <p:pic>
        <p:nvPicPr>
          <p:cNvPr id="195" name="Google Shape;195;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96" name="Google Shape;196;p19"/>
          <p:cNvSpPr txBox="1"/>
          <p:nvPr/>
        </p:nvSpPr>
        <p:spPr>
          <a:xfrm>
            <a:off x="762000" y="571500"/>
            <a:ext cx="11401425"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E31E24"/>
                </a:solidFill>
                <a:latin typeface="Outfit"/>
                <a:ea typeface="Outfit"/>
                <a:cs typeface="Outfit"/>
                <a:sym typeface="Outfit"/>
              </a:rPr>
              <a:t>Certification &amp; Beyond</a:t>
            </a:r>
            <a:endParaRPr/>
          </a:p>
        </p:txBody>
      </p:sp>
      <p:sp>
        <p:nvSpPr>
          <p:cNvPr id="198" name="Google Shape;198;p19"/>
          <p:cNvSpPr txBox="1"/>
          <p:nvPr/>
        </p:nvSpPr>
        <p:spPr>
          <a:xfrm>
            <a:off x="571500" y="2075854"/>
            <a:ext cx="5550693"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1A1A1A"/>
                </a:solidFill>
                <a:latin typeface="Outfit"/>
                <a:ea typeface="Outfit"/>
                <a:cs typeface="Outfit"/>
                <a:sym typeface="Outfit"/>
              </a:rPr>
              <a:t>Build Your Resume</a:t>
            </a:r>
            <a:endParaRPr/>
          </a:p>
        </p:txBody>
      </p:sp>
      <p:sp>
        <p:nvSpPr>
          <p:cNvPr id="199" name="Google Shape;199;p19"/>
          <p:cNvSpPr txBox="1"/>
          <p:nvPr/>
        </p:nvSpPr>
        <p:spPr>
          <a:xfrm>
            <a:off x="571500" y="2304454"/>
            <a:ext cx="528637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4B5563"/>
                </a:solidFill>
                <a:latin typeface="Plus Jakarta Sans"/>
                <a:ea typeface="Plus Jakarta Sans"/>
                <a:cs typeface="Plus Jakarta Sans"/>
                <a:sym typeface="Plus Jakarta Sans"/>
              </a:rPr>
              <a:t>Upon successful completion of the 2-month internship, you will receive more than just money:</a:t>
            </a:r>
            <a:endParaRPr/>
          </a:p>
        </p:txBody>
      </p:sp>
      <p:sp>
        <p:nvSpPr>
          <p:cNvPr id="200" name="Google Shape;200;p19"/>
          <p:cNvSpPr txBox="1"/>
          <p:nvPr/>
        </p:nvSpPr>
        <p:spPr>
          <a:xfrm>
            <a:off x="1000125" y="3152179"/>
            <a:ext cx="4857750"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a:solidFill>
                  <a:srgbClr val="4B5563"/>
                </a:solidFill>
                <a:latin typeface="Plus Jakarta Sans"/>
                <a:ea typeface="Plus Jakarta Sans"/>
                <a:cs typeface="Plus Jakarta Sans"/>
                <a:sym typeface="Plus Jakarta Sans"/>
              </a:rPr>
              <a:t>Official Internship Certificate:</a:t>
            </a:r>
            <a:r>
              <a:rPr lang="en-US" sz="1650" b="0" i="0" u="none" strike="noStrike" cap="none">
                <a:solidFill>
                  <a:srgbClr val="4B5563"/>
                </a:solidFill>
                <a:latin typeface="Plus Jakarta Sans"/>
                <a:ea typeface="Plus Jakarta Sans"/>
                <a:cs typeface="Plus Jakarta Sans"/>
                <a:sym typeface="Plus Jakarta Sans"/>
              </a:rPr>
              <a:t> Recognized credentials for your career.</a:t>
            </a:r>
            <a:endParaRPr/>
          </a:p>
        </p:txBody>
      </p:sp>
      <p:sp>
        <p:nvSpPr>
          <p:cNvPr id="201" name="Google Shape;201;p19"/>
          <p:cNvSpPr txBox="1"/>
          <p:nvPr/>
        </p:nvSpPr>
        <p:spPr>
          <a:xfrm>
            <a:off x="1000125" y="4013001"/>
            <a:ext cx="4857750"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a:solidFill>
                  <a:srgbClr val="4B5563"/>
                </a:solidFill>
                <a:latin typeface="Plus Jakarta Sans"/>
                <a:ea typeface="Plus Jakarta Sans"/>
                <a:cs typeface="Plus Jakarta Sans"/>
                <a:sym typeface="Plus Jakarta Sans"/>
              </a:rPr>
              <a:t>Letter of Recommendation:</a:t>
            </a:r>
            <a:r>
              <a:rPr lang="en-US" sz="1650" b="0" i="0" u="none" strike="noStrike" cap="none">
                <a:solidFill>
                  <a:srgbClr val="4B5563"/>
                </a:solidFill>
                <a:latin typeface="Plus Jakarta Sans"/>
                <a:ea typeface="Plus Jakarta Sans"/>
                <a:cs typeface="Plus Jakarta Sans"/>
                <a:sym typeface="Plus Jakarta Sans"/>
              </a:rPr>
              <a:t> For top-performing candidates.</a:t>
            </a:r>
            <a:endParaRPr/>
          </a:p>
        </p:txBody>
      </p:sp>
      <p:sp>
        <p:nvSpPr>
          <p:cNvPr id="202" name="Google Shape;202;p19"/>
          <p:cNvSpPr txBox="1"/>
          <p:nvPr/>
        </p:nvSpPr>
        <p:spPr>
          <a:xfrm>
            <a:off x="1000125" y="4873823"/>
            <a:ext cx="4857900" cy="660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a:solidFill>
                  <a:srgbClr val="4B5563"/>
                </a:solidFill>
                <a:latin typeface="Plus Jakarta Sans"/>
                <a:ea typeface="Plus Jakarta Sans"/>
                <a:cs typeface="Plus Jakarta Sans"/>
                <a:sym typeface="Plus Jakarta Sans"/>
              </a:rPr>
              <a:t>Skill Endorsement:</a:t>
            </a:r>
            <a:r>
              <a:rPr lang="en-US" sz="1650" b="0" i="0" u="none" strike="noStrike" cap="none">
                <a:solidFill>
                  <a:srgbClr val="4B5563"/>
                </a:solidFill>
                <a:latin typeface="Plus Jakarta Sans"/>
                <a:ea typeface="Plus Jakarta Sans"/>
                <a:cs typeface="Plus Jakarta Sans"/>
                <a:sym typeface="Plus Jakarta Sans"/>
              </a:rPr>
              <a:t> Expert training in  sales negotiation</a:t>
            </a:r>
            <a:r>
              <a:rPr lang="en-US" sz="1650">
                <a:solidFill>
                  <a:srgbClr val="4B5563"/>
                </a:solidFill>
                <a:latin typeface="Plus Jakarta Sans"/>
                <a:ea typeface="Plus Jakarta Sans"/>
                <a:cs typeface="Plus Jakarta Sans"/>
                <a:sym typeface="Plus Jakarta Sans"/>
              </a:rPr>
              <a:t> &amp; Lead Conversions.	</a:t>
            </a:r>
            <a:endParaRPr/>
          </a:p>
        </p:txBody>
      </p:sp>
      <p:pic>
        <p:nvPicPr>
          <p:cNvPr id="203" name="Google Shape;203;p19" descr="image.png"/>
          <p:cNvPicPr preferRelativeResize="0"/>
          <p:nvPr/>
        </p:nvPicPr>
        <p:blipFill rotWithShape="1">
          <a:blip r:embed="rId4">
            <a:alphaModFix/>
          </a:blip>
          <a:srcRect/>
          <a:stretch/>
        </p:blipFill>
        <p:spPr>
          <a:xfrm>
            <a:off x="571500" y="3152179"/>
            <a:ext cx="200025" cy="247650"/>
          </a:xfrm>
          <a:prstGeom prst="rect">
            <a:avLst/>
          </a:prstGeom>
          <a:noFill/>
          <a:ln>
            <a:noFill/>
          </a:ln>
        </p:spPr>
      </p:pic>
      <p:pic>
        <p:nvPicPr>
          <p:cNvPr id="204" name="Google Shape;204;p19" descr="image.png"/>
          <p:cNvPicPr preferRelativeResize="0"/>
          <p:nvPr/>
        </p:nvPicPr>
        <p:blipFill rotWithShape="1">
          <a:blip r:embed="rId4">
            <a:alphaModFix/>
          </a:blip>
          <a:srcRect/>
          <a:stretch/>
        </p:blipFill>
        <p:spPr>
          <a:xfrm>
            <a:off x="571500" y="4013001"/>
            <a:ext cx="200025" cy="247650"/>
          </a:xfrm>
          <a:prstGeom prst="rect">
            <a:avLst/>
          </a:prstGeom>
          <a:noFill/>
          <a:ln>
            <a:noFill/>
          </a:ln>
        </p:spPr>
      </p:pic>
      <p:pic>
        <p:nvPicPr>
          <p:cNvPr id="205" name="Google Shape;205;p19" descr="image.png"/>
          <p:cNvPicPr preferRelativeResize="0"/>
          <p:nvPr/>
        </p:nvPicPr>
        <p:blipFill rotWithShape="1">
          <a:blip r:embed="rId4">
            <a:alphaModFix/>
          </a:blip>
          <a:srcRect/>
          <a:stretch/>
        </p:blipFill>
        <p:spPr>
          <a:xfrm>
            <a:off x="571500" y="4873823"/>
            <a:ext cx="200025" cy="247650"/>
          </a:xfrm>
          <a:prstGeom prst="rect">
            <a:avLst/>
          </a:prstGeom>
          <a:noFill/>
          <a:ln>
            <a:noFill/>
          </a:ln>
        </p:spPr>
      </p:pic>
      <p:pic>
        <p:nvPicPr>
          <p:cNvPr id="206" name="Google Shape;206;p19" title="Gemini_Generated_Image_ilq8rsilq8rsilq8.png"/>
          <p:cNvPicPr preferRelativeResize="0"/>
          <p:nvPr/>
        </p:nvPicPr>
        <p:blipFill>
          <a:blip r:embed="rId5">
            <a:alphaModFix/>
          </a:blip>
          <a:stretch>
            <a:fillRect/>
          </a:stretch>
        </p:blipFill>
        <p:spPr>
          <a:xfrm>
            <a:off x="6086626" y="1851051"/>
            <a:ext cx="5703101" cy="4277326"/>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10"/>
        <p:cNvGrpSpPr/>
        <p:nvPr/>
      </p:nvGrpSpPr>
      <p:grpSpPr>
        <a:xfrm>
          <a:off x="0" y="0"/>
          <a:ext cx="0" cy="0"/>
          <a:chOff x="0" y="0"/>
          <a:chExt cx="0" cy="0"/>
        </a:xfrm>
      </p:grpSpPr>
      <p:sp>
        <p:nvSpPr>
          <p:cNvPr id="211" name="Google Shape;211;p20"/>
          <p:cNvSpPr txBox="1"/>
          <p:nvPr/>
        </p:nvSpPr>
        <p:spPr>
          <a:xfrm>
            <a:off x="762000" y="571500"/>
            <a:ext cx="114015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E31E24"/>
                </a:solidFill>
                <a:latin typeface="Outfit"/>
                <a:ea typeface="Outfit"/>
                <a:cs typeface="Outfit"/>
                <a:sym typeface="Outfit"/>
              </a:rPr>
              <a:t>Top </a:t>
            </a:r>
            <a:r>
              <a:rPr lang="en-US" sz="3600" b="1">
                <a:solidFill>
                  <a:srgbClr val="E31E24"/>
                </a:solidFill>
                <a:latin typeface="Outfit"/>
                <a:ea typeface="Outfit"/>
                <a:cs typeface="Outfit"/>
                <a:sym typeface="Outfit"/>
              </a:rPr>
              <a:t>5</a:t>
            </a:r>
            <a:r>
              <a:rPr lang="en-US" sz="3600" b="1" i="0" u="none" strike="noStrike" cap="none">
                <a:solidFill>
                  <a:srgbClr val="E31E24"/>
                </a:solidFill>
                <a:latin typeface="Outfit"/>
                <a:ea typeface="Outfit"/>
                <a:cs typeface="Outfit"/>
                <a:sym typeface="Outfit"/>
              </a:rPr>
              <a:t> Performers Rewards</a:t>
            </a:r>
            <a:endParaRPr/>
          </a:p>
        </p:txBody>
      </p:sp>
      <p:pic>
        <p:nvPicPr>
          <p:cNvPr id="212" name="Google Shape;212;p20"/>
          <p:cNvPicPr preferRelativeResize="0"/>
          <p:nvPr/>
        </p:nvPicPr>
        <p:blipFill rotWithShape="1">
          <a:blip r:embed="rId4">
            <a:alphaModFix/>
          </a:blip>
          <a:srcRect/>
          <a:stretch/>
        </p:blipFill>
        <p:spPr>
          <a:xfrm>
            <a:off x="0" y="0"/>
            <a:ext cx="12192000" cy="6858000"/>
          </a:xfrm>
          <a:prstGeom prst="rect">
            <a:avLst/>
          </a:prstGeom>
          <a:noFill/>
          <a:ln>
            <a:noFill/>
          </a:ln>
        </p:spPr>
      </p:pic>
      <p:sp>
        <p:nvSpPr>
          <p:cNvPr id="214" name="Google Shape;214;p20"/>
          <p:cNvSpPr txBox="1"/>
          <p:nvPr/>
        </p:nvSpPr>
        <p:spPr>
          <a:xfrm>
            <a:off x="571500" y="1333500"/>
            <a:ext cx="11049000" cy="277200"/>
          </a:xfrm>
          <a:prstGeom prst="rect">
            <a:avLst/>
          </a:prstGeom>
          <a:solidFill>
            <a:srgbClr val="000000">
              <a:alpha val="0"/>
            </a:srgbClr>
          </a:solidFill>
          <a:ln>
            <a:noFill/>
          </a:ln>
        </p:spPr>
        <p:txBody>
          <a:bodyPr spcFirstLastPara="1" wrap="square" lIns="0" tIns="0" rIns="0" bIns="0" anchor="ctr" anchorCtr="0">
            <a:spAutoFit/>
          </a:bodyPr>
          <a:lstStyle/>
          <a:p>
            <a:pPr marL="0" lvl="0" indent="0" algn="ctr" rtl="0">
              <a:spcBef>
                <a:spcPts val="0"/>
              </a:spcBef>
              <a:spcAft>
                <a:spcPts val="0"/>
              </a:spcAft>
              <a:buNone/>
            </a:pPr>
            <a:r>
              <a:rPr lang="en-US" sz="1800" b="0">
                <a:solidFill>
                  <a:srgbClr val="4B5563"/>
                </a:solidFill>
                <a:latin typeface="Plus Jakarta Sans SemiBold"/>
                <a:ea typeface="Plus Jakarta Sans SemiBold"/>
                <a:cs typeface="Plus Jakarta Sans SemiBold"/>
                <a:sym typeface="Plus Jakarta Sans SemiBold"/>
              </a:rPr>
              <a:t>Exciting Prizes Worth up to ₹1</a:t>
            </a:r>
            <a:r>
              <a:rPr lang="en-US" sz="1800">
                <a:solidFill>
                  <a:srgbClr val="4B5563"/>
                </a:solidFill>
                <a:latin typeface="Plus Jakarta Sans SemiBold"/>
                <a:ea typeface="Plus Jakarta Sans SemiBold"/>
                <a:cs typeface="Plus Jakarta Sans SemiBold"/>
                <a:sym typeface="Plus Jakarta Sans SemiBold"/>
              </a:rPr>
              <a:t>0</a:t>
            </a:r>
            <a:r>
              <a:rPr lang="en-US" sz="1800" b="0">
                <a:solidFill>
                  <a:srgbClr val="4B5563"/>
                </a:solidFill>
                <a:latin typeface="Plus Jakarta Sans SemiBold"/>
                <a:ea typeface="Plus Jakarta Sans SemiBold"/>
                <a:cs typeface="Plus Jakarta Sans SemiBold"/>
                <a:sym typeface="Plus Jakarta Sans SemiBold"/>
              </a:rPr>
              <a:t>,000!</a:t>
            </a:r>
            <a:endParaRPr sz="1800" b="0">
              <a:solidFill>
                <a:srgbClr val="4B5563"/>
              </a:solidFill>
              <a:latin typeface="Plus Jakarta Sans SemiBold"/>
              <a:ea typeface="Plus Jakarta Sans SemiBold"/>
              <a:cs typeface="Plus Jakarta Sans SemiBold"/>
              <a:sym typeface="Plus Jakarta Sans SemiBold"/>
            </a:endParaRPr>
          </a:p>
        </p:txBody>
      </p:sp>
      <p:grpSp>
        <p:nvGrpSpPr>
          <p:cNvPr id="215" name="Google Shape;215;p20"/>
          <p:cNvGrpSpPr/>
          <p:nvPr/>
        </p:nvGrpSpPr>
        <p:grpSpPr>
          <a:xfrm>
            <a:off x="571500" y="2095500"/>
            <a:ext cx="5048400" cy="3810075"/>
            <a:chOff x="571500" y="2095500"/>
            <a:chExt cx="5048400" cy="3810075"/>
          </a:xfrm>
        </p:grpSpPr>
        <p:sp>
          <p:nvSpPr>
            <p:cNvPr id="216" name="Google Shape;216;p20"/>
            <p:cNvSpPr/>
            <p:nvPr/>
          </p:nvSpPr>
          <p:spPr>
            <a:xfrm>
              <a:off x="571500" y="2095500"/>
              <a:ext cx="5048400" cy="952500"/>
            </a:xfrm>
            <a:prstGeom prst="roundRect">
              <a:avLst>
                <a:gd name="adj" fmla="val 10000"/>
              </a:avLst>
            </a:prstGeom>
            <a:solidFill>
              <a:srgbClr val="E31E2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7" name="Google Shape;217;p20"/>
            <p:cNvSpPr txBox="1"/>
            <p:nvPr/>
          </p:nvSpPr>
          <p:spPr>
            <a:xfrm>
              <a:off x="762000" y="2095500"/>
              <a:ext cx="4667400" cy="952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1">
                  <a:solidFill>
                    <a:schemeClr val="lt1"/>
                  </a:solidFill>
                  <a:latin typeface="Outfit"/>
                  <a:ea typeface="Outfit"/>
                  <a:cs typeface="Outfit"/>
                  <a:sym typeface="Outfit"/>
                </a:rPr>
                <a:t>1ST PLACE</a:t>
              </a:r>
              <a:endParaRPr sz="1400" b="1">
                <a:solidFill>
                  <a:schemeClr val="lt1"/>
                </a:solidFill>
                <a:latin typeface="Outfit"/>
                <a:ea typeface="Outfit"/>
                <a:cs typeface="Outfit"/>
                <a:sym typeface="Outfit"/>
              </a:endParaRPr>
            </a:p>
            <a:p>
              <a:pPr marL="0" lvl="0" indent="0" algn="l" rtl="0">
                <a:spcBef>
                  <a:spcPts val="0"/>
                </a:spcBef>
                <a:spcAft>
                  <a:spcPts val="0"/>
                </a:spcAft>
                <a:buNone/>
              </a:pPr>
              <a:r>
                <a:rPr lang="en-US" sz="1600" b="0">
                  <a:solidFill>
                    <a:srgbClr val="FFFFFF"/>
                  </a:solidFill>
                  <a:latin typeface="Outfit SemiBold"/>
                  <a:ea typeface="Outfit SemiBold"/>
                  <a:cs typeface="Outfit SemiBold"/>
                  <a:sym typeface="Outfit SemiBold"/>
                </a:rPr>
                <a:t>Pre-Placement Opportunity &amp; Gifts worth ₹10,000</a:t>
              </a:r>
              <a:endParaRPr sz="1600" b="0">
                <a:solidFill>
                  <a:srgbClr val="FFFFFF"/>
                </a:solidFill>
                <a:latin typeface="Outfit SemiBold"/>
                <a:ea typeface="Outfit SemiBold"/>
                <a:cs typeface="Outfit SemiBold"/>
                <a:sym typeface="Outfit SemiBold"/>
              </a:endParaRPr>
            </a:p>
          </p:txBody>
        </p:sp>
        <p:sp>
          <p:nvSpPr>
            <p:cNvPr id="218" name="Google Shape;218;p20"/>
            <p:cNvSpPr/>
            <p:nvPr/>
          </p:nvSpPr>
          <p:spPr>
            <a:xfrm>
              <a:off x="571500" y="3190875"/>
              <a:ext cx="5048400" cy="809700"/>
            </a:xfrm>
            <a:prstGeom prst="roundRect">
              <a:avLst>
                <a:gd name="adj" fmla="val 11764"/>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9" name="Google Shape;219;p20"/>
            <p:cNvSpPr txBox="1"/>
            <p:nvPr/>
          </p:nvSpPr>
          <p:spPr>
            <a:xfrm>
              <a:off x="762000" y="3190875"/>
              <a:ext cx="4667400" cy="809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200" b="1">
                  <a:solidFill>
                    <a:srgbClr val="E31E24"/>
                  </a:solidFill>
                  <a:latin typeface="Outfit"/>
                  <a:ea typeface="Outfit"/>
                  <a:cs typeface="Outfit"/>
                  <a:sym typeface="Outfit"/>
                </a:rPr>
                <a:t>2ND &amp; 3RD PLACE</a:t>
              </a:r>
              <a:endParaRPr sz="1200" b="1">
                <a:solidFill>
                  <a:srgbClr val="E31E24"/>
                </a:solidFill>
                <a:latin typeface="Outfit"/>
                <a:ea typeface="Outfit"/>
                <a:cs typeface="Outfit"/>
                <a:sym typeface="Outfit"/>
              </a:endParaRPr>
            </a:p>
            <a:p>
              <a:pPr marL="0" lvl="0" indent="0" algn="l" rtl="0">
                <a:spcBef>
                  <a:spcPts val="0"/>
                </a:spcBef>
                <a:spcAft>
                  <a:spcPts val="0"/>
                </a:spcAft>
                <a:buNone/>
              </a:pPr>
              <a:r>
                <a:rPr lang="en-US" sz="1400" b="0">
                  <a:solidFill>
                    <a:srgbClr val="1E293B"/>
                  </a:solidFill>
                  <a:latin typeface="Outfit SemiBold"/>
                  <a:ea typeface="Outfit SemiBold"/>
                  <a:cs typeface="Outfit SemiBold"/>
                  <a:sym typeface="Outfit SemiBold"/>
                </a:rPr>
                <a:t>Gifts worth ₹8,000</a:t>
              </a:r>
              <a:endParaRPr sz="1400" b="0">
                <a:solidFill>
                  <a:srgbClr val="1E293B"/>
                </a:solidFill>
                <a:latin typeface="Outfit SemiBold"/>
                <a:ea typeface="Outfit SemiBold"/>
                <a:cs typeface="Outfit SemiBold"/>
                <a:sym typeface="Outfit SemiBold"/>
              </a:endParaRPr>
            </a:p>
          </p:txBody>
        </p:sp>
        <p:sp>
          <p:nvSpPr>
            <p:cNvPr id="220" name="Google Shape;220;p20"/>
            <p:cNvSpPr/>
            <p:nvPr/>
          </p:nvSpPr>
          <p:spPr>
            <a:xfrm>
              <a:off x="571500" y="4143375"/>
              <a:ext cx="5048400" cy="809700"/>
            </a:xfrm>
            <a:prstGeom prst="roundRect">
              <a:avLst>
                <a:gd name="adj" fmla="val 11764"/>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21" name="Google Shape;221;p20"/>
            <p:cNvSpPr txBox="1"/>
            <p:nvPr/>
          </p:nvSpPr>
          <p:spPr>
            <a:xfrm>
              <a:off x="762000" y="4143375"/>
              <a:ext cx="4667400" cy="809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200" b="1">
                  <a:solidFill>
                    <a:srgbClr val="E31E24"/>
                  </a:solidFill>
                  <a:latin typeface="Outfit"/>
                  <a:ea typeface="Outfit"/>
                  <a:cs typeface="Outfit"/>
                  <a:sym typeface="Outfit"/>
                </a:rPr>
                <a:t>4TH PLACE</a:t>
              </a:r>
              <a:endParaRPr sz="1200" b="1">
                <a:solidFill>
                  <a:srgbClr val="E31E24"/>
                </a:solidFill>
                <a:latin typeface="Outfit"/>
                <a:ea typeface="Outfit"/>
                <a:cs typeface="Outfit"/>
                <a:sym typeface="Outfit"/>
              </a:endParaRPr>
            </a:p>
            <a:p>
              <a:pPr marL="0" lvl="0" indent="0" algn="l" rtl="0">
                <a:spcBef>
                  <a:spcPts val="0"/>
                </a:spcBef>
                <a:spcAft>
                  <a:spcPts val="0"/>
                </a:spcAft>
                <a:buNone/>
              </a:pPr>
              <a:r>
                <a:rPr lang="en-US" sz="1400" b="0">
                  <a:solidFill>
                    <a:srgbClr val="1E293B"/>
                  </a:solidFill>
                  <a:latin typeface="Outfit SemiBold"/>
                  <a:ea typeface="Outfit SemiBold"/>
                  <a:cs typeface="Outfit SemiBold"/>
                  <a:sym typeface="Outfit SemiBold"/>
                </a:rPr>
                <a:t>Gifts worth ₹6,000</a:t>
              </a:r>
              <a:endParaRPr sz="1400" b="0">
                <a:solidFill>
                  <a:srgbClr val="1E293B"/>
                </a:solidFill>
                <a:latin typeface="Outfit SemiBold"/>
                <a:ea typeface="Outfit SemiBold"/>
                <a:cs typeface="Outfit SemiBold"/>
                <a:sym typeface="Outfit SemiBold"/>
              </a:endParaRPr>
            </a:p>
          </p:txBody>
        </p:sp>
        <p:sp>
          <p:nvSpPr>
            <p:cNvPr id="222" name="Google Shape;222;p20"/>
            <p:cNvSpPr/>
            <p:nvPr/>
          </p:nvSpPr>
          <p:spPr>
            <a:xfrm>
              <a:off x="571500" y="5095875"/>
              <a:ext cx="5048400" cy="809700"/>
            </a:xfrm>
            <a:prstGeom prst="roundRect">
              <a:avLst>
                <a:gd name="adj" fmla="val 11764"/>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23" name="Google Shape;223;p20"/>
            <p:cNvSpPr txBox="1"/>
            <p:nvPr/>
          </p:nvSpPr>
          <p:spPr>
            <a:xfrm>
              <a:off x="762000" y="5095875"/>
              <a:ext cx="4667400" cy="809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200" b="1">
                  <a:solidFill>
                    <a:srgbClr val="E31E24"/>
                  </a:solidFill>
                  <a:latin typeface="Outfit"/>
                  <a:ea typeface="Outfit"/>
                  <a:cs typeface="Outfit"/>
                  <a:sym typeface="Outfit"/>
                </a:rPr>
                <a:t>5TH PLACE</a:t>
              </a:r>
              <a:endParaRPr sz="1200" b="1">
                <a:solidFill>
                  <a:srgbClr val="E31E24"/>
                </a:solidFill>
                <a:latin typeface="Outfit"/>
                <a:ea typeface="Outfit"/>
                <a:cs typeface="Outfit"/>
                <a:sym typeface="Outfit"/>
              </a:endParaRPr>
            </a:p>
            <a:p>
              <a:pPr marL="0" lvl="0" indent="0" algn="l" rtl="0">
                <a:spcBef>
                  <a:spcPts val="0"/>
                </a:spcBef>
                <a:spcAft>
                  <a:spcPts val="0"/>
                </a:spcAft>
                <a:buNone/>
              </a:pPr>
              <a:r>
                <a:rPr lang="en-US" sz="1400" b="0">
                  <a:solidFill>
                    <a:srgbClr val="1E293B"/>
                  </a:solidFill>
                  <a:latin typeface="Outfit SemiBold"/>
                  <a:ea typeface="Outfit SemiBold"/>
                  <a:cs typeface="Outfit SemiBold"/>
                  <a:sym typeface="Outfit SemiBold"/>
                </a:rPr>
                <a:t>Gifts worth ₹5,000</a:t>
              </a:r>
              <a:endParaRPr sz="1400" b="0">
                <a:solidFill>
                  <a:srgbClr val="1E293B"/>
                </a:solidFill>
                <a:latin typeface="Outfit SemiBold"/>
                <a:ea typeface="Outfit SemiBold"/>
                <a:cs typeface="Outfit SemiBold"/>
                <a:sym typeface="Outfit SemiBold"/>
              </a:endParaRPr>
            </a:p>
          </p:txBody>
        </p:sp>
      </p:grpSp>
      <p:pic>
        <p:nvPicPr>
          <p:cNvPr id="224" name="Google Shape;224;p20"/>
          <p:cNvPicPr preferRelativeResize="0"/>
          <p:nvPr/>
        </p:nvPicPr>
        <p:blipFill rotWithShape="1">
          <a:blip r:embed="rId5">
            <a:alphaModFix/>
          </a:blip>
          <a:srcRect l="1663" r="1672"/>
          <a:stretch/>
        </p:blipFill>
        <p:spPr>
          <a:xfrm>
            <a:off x="6096000" y="2095500"/>
            <a:ext cx="5524500" cy="3810000"/>
          </a:xfrm>
          <a:prstGeom prst="roundRect">
            <a:avLst>
              <a:gd name="adj" fmla="val 5000"/>
            </a:avLst>
          </a:prstGeom>
          <a:noFill/>
          <a:ln>
            <a:noFill/>
          </a:ln>
        </p:spPr>
      </p:pic>
      <p:sp>
        <p:nvSpPr>
          <p:cNvPr id="225" name="Google Shape;225;p20"/>
          <p:cNvSpPr txBox="1"/>
          <p:nvPr/>
        </p:nvSpPr>
        <p:spPr>
          <a:xfrm>
            <a:off x="762000" y="571500"/>
            <a:ext cx="114015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121212"/>
                </a:solidFill>
                <a:latin typeface="Outfit"/>
                <a:ea typeface="Outfit"/>
                <a:cs typeface="Outfit"/>
                <a:sym typeface="Outfit"/>
              </a:rPr>
              <a:t>Prizes for Top </a:t>
            </a:r>
            <a:r>
              <a:rPr lang="en-US" sz="3150" b="1">
                <a:solidFill>
                  <a:srgbClr val="121212"/>
                </a:solidFill>
                <a:latin typeface="Outfit"/>
                <a:ea typeface="Outfit"/>
                <a:cs typeface="Outfit"/>
                <a:sym typeface="Outfit"/>
              </a:rPr>
              <a:t>5</a:t>
            </a:r>
            <a:r>
              <a:rPr lang="en-US" sz="3150" b="1" i="0" u="none" strike="noStrike" cap="none">
                <a:solidFill>
                  <a:srgbClr val="121212"/>
                </a:solidFill>
                <a:latin typeface="Outfit"/>
                <a:ea typeface="Outfit"/>
                <a:cs typeface="Outfit"/>
                <a:sym typeface="Outfit"/>
              </a:rPr>
              <a:t> Performers</a:t>
            </a:r>
            <a:endParaRPr/>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29"/>
        <p:cNvGrpSpPr/>
        <p:nvPr/>
      </p:nvGrpSpPr>
      <p:grpSpPr>
        <a:xfrm>
          <a:off x="0" y="0"/>
          <a:ext cx="0" cy="0"/>
          <a:chOff x="0" y="0"/>
          <a:chExt cx="0" cy="0"/>
        </a:xfrm>
      </p:grpSpPr>
      <p:sp>
        <p:nvSpPr>
          <p:cNvPr id="230" name="Google Shape;230;p21"/>
          <p:cNvSpPr txBox="1"/>
          <p:nvPr/>
        </p:nvSpPr>
        <p:spPr>
          <a:xfrm>
            <a:off x="54450" y="2027775"/>
            <a:ext cx="12083100" cy="1123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6100" b="1">
                <a:solidFill>
                  <a:srgbClr val="E31E24"/>
                </a:solidFill>
                <a:latin typeface="Outfit"/>
                <a:ea typeface="Outfit"/>
                <a:cs typeface="Outfit"/>
                <a:sym typeface="Outfit"/>
              </a:rPr>
              <a:t>Join the Revolution</a:t>
            </a:r>
            <a:endParaRPr sz="2100"/>
          </a:p>
        </p:txBody>
      </p:sp>
      <p:sp>
        <p:nvSpPr>
          <p:cNvPr id="231" name="Google Shape;231;p21"/>
          <p:cNvSpPr txBox="1"/>
          <p:nvPr/>
        </p:nvSpPr>
        <p:spPr>
          <a:xfrm>
            <a:off x="54450" y="3151950"/>
            <a:ext cx="12542700" cy="554100"/>
          </a:xfrm>
          <a:prstGeom prst="rect">
            <a:avLst/>
          </a:prstGeom>
          <a:noFill/>
          <a:ln>
            <a:noFill/>
          </a:ln>
        </p:spPr>
        <p:txBody>
          <a:bodyPr spcFirstLastPara="1" wrap="square" lIns="91425" tIns="91425" rIns="91425" bIns="91425" anchor="t" anchorCtr="0">
            <a:spAutoFit/>
          </a:bodyPr>
          <a:lstStyle/>
          <a:p>
            <a:pPr marL="0" lvl="0" indent="0" algn="ctr" rtl="0">
              <a:lnSpc>
                <a:spcPct val="150000"/>
              </a:lnSpc>
              <a:spcBef>
                <a:spcPts val="0"/>
              </a:spcBef>
              <a:spcAft>
                <a:spcPts val="0"/>
              </a:spcAft>
              <a:buNone/>
            </a:pPr>
            <a:r>
              <a:rPr lang="en-US" sz="2400">
                <a:solidFill>
                  <a:schemeClr val="lt1"/>
                </a:solidFill>
                <a:latin typeface="Outfit ExtraBold"/>
                <a:ea typeface="Outfit ExtraBold"/>
                <a:cs typeface="Outfit ExtraBold"/>
                <a:sym typeface="Outfit ExtraBold"/>
              </a:rPr>
              <a:t>Help us make taxation Simple and Significant for lakhs of Indians.</a:t>
            </a:r>
            <a:endParaRPr>
              <a:solidFill>
                <a:schemeClr val="lt1"/>
              </a:solidFill>
              <a:latin typeface="Outfit ExtraBold"/>
              <a:ea typeface="Outfit ExtraBold"/>
              <a:cs typeface="Outfit ExtraBold"/>
              <a:sym typeface="Outfit ExtraBo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5"/>
        <p:cNvGrpSpPr/>
        <p:nvPr/>
      </p:nvGrpSpPr>
      <p:grpSpPr>
        <a:xfrm>
          <a:off x="0" y="0"/>
          <a:ext cx="0" cy="0"/>
          <a:chOff x="0" y="0"/>
          <a:chExt cx="0" cy="0"/>
        </a:xfrm>
      </p:grpSpPr>
      <p:sp>
        <p:nvSpPr>
          <p:cNvPr id="236" name="Google Shape;236;p22"/>
          <p:cNvSpPr txBox="1"/>
          <p:nvPr/>
        </p:nvSpPr>
        <p:spPr>
          <a:xfrm>
            <a:off x="4310062" y="3360390"/>
            <a:ext cx="3571875" cy="304800"/>
          </a:xfrm>
          <a:prstGeom prst="rect">
            <a:avLst/>
          </a:prstGeom>
          <a:noFill/>
          <a:ln>
            <a:noFill/>
          </a:ln>
        </p:spPr>
        <p:txBody>
          <a:bodyPr spcFirstLastPara="1" wrap="square" lIns="19050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FFFFFF"/>
                </a:solidFill>
                <a:latin typeface="Plus Jakarta Sans"/>
                <a:ea typeface="Plus Jakarta Sans"/>
                <a:cs typeface="Plus Jakarta Sans"/>
                <a:sym typeface="Plus Jakarta Sans"/>
              </a:rPr>
              <a:t>Fill out the Confirmation Google Form</a:t>
            </a:r>
            <a:endParaRPr/>
          </a:p>
        </p:txBody>
      </p:sp>
      <p:sp>
        <p:nvSpPr>
          <p:cNvPr id="237" name="Google Shape;237;p22"/>
          <p:cNvSpPr txBox="1"/>
          <p:nvPr/>
        </p:nvSpPr>
        <p:spPr>
          <a:xfrm>
            <a:off x="4310062" y="3760440"/>
            <a:ext cx="3571875" cy="304800"/>
          </a:xfrm>
          <a:prstGeom prst="rect">
            <a:avLst/>
          </a:prstGeom>
          <a:noFill/>
          <a:ln>
            <a:noFill/>
          </a:ln>
        </p:spPr>
        <p:txBody>
          <a:bodyPr spcFirstLastPara="1" wrap="square" lIns="19050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FFFFFF"/>
                </a:solidFill>
                <a:latin typeface="Plus Jakarta Sans"/>
                <a:ea typeface="Plus Jakarta Sans"/>
                <a:cs typeface="Plus Jakarta Sans"/>
                <a:sym typeface="Plus Jakarta Sans"/>
              </a:rPr>
              <a:t>Receive Offer Letter within 24 Hours</a:t>
            </a:r>
            <a:endParaRPr/>
          </a:p>
        </p:txBody>
      </p:sp>
      <p:sp>
        <p:nvSpPr>
          <p:cNvPr id="238" name="Google Shape;238;p22"/>
          <p:cNvSpPr txBox="1"/>
          <p:nvPr/>
        </p:nvSpPr>
        <p:spPr>
          <a:xfrm>
            <a:off x="4310062" y="4160490"/>
            <a:ext cx="3571875" cy="304800"/>
          </a:xfrm>
          <a:prstGeom prst="rect">
            <a:avLst/>
          </a:prstGeom>
          <a:noFill/>
          <a:ln>
            <a:noFill/>
          </a:ln>
        </p:spPr>
        <p:txBody>
          <a:bodyPr spcFirstLastPara="1" wrap="square" lIns="19050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FFFFFF"/>
                </a:solidFill>
                <a:latin typeface="Plus Jakarta Sans"/>
                <a:ea typeface="Plus Jakarta Sans"/>
                <a:cs typeface="Plus Jakarta Sans"/>
                <a:sym typeface="Plus Jakarta Sans"/>
              </a:rPr>
              <a:t>Orientation &amp; Training Starts in 3 Days</a:t>
            </a:r>
            <a:endParaRPr/>
          </a:p>
        </p:txBody>
      </p:sp>
      <p:pic>
        <p:nvPicPr>
          <p:cNvPr id="239" name="Google Shape;239;p22" descr="image.png"/>
          <p:cNvPicPr preferRelativeResize="0"/>
          <p:nvPr/>
        </p:nvPicPr>
        <p:blipFill rotWithShape="1">
          <a:blip r:embed="rId3">
            <a:alphaModFix/>
          </a:blip>
          <a:srcRect/>
          <a:stretch/>
        </p:blipFill>
        <p:spPr>
          <a:xfrm>
            <a:off x="4310062" y="3422302"/>
            <a:ext cx="190500" cy="200025"/>
          </a:xfrm>
          <a:prstGeom prst="rect">
            <a:avLst/>
          </a:prstGeom>
          <a:noFill/>
          <a:ln>
            <a:noFill/>
          </a:ln>
        </p:spPr>
      </p:pic>
      <p:pic>
        <p:nvPicPr>
          <p:cNvPr id="240" name="Google Shape;240;p22" descr="image.png"/>
          <p:cNvPicPr preferRelativeResize="0"/>
          <p:nvPr/>
        </p:nvPicPr>
        <p:blipFill rotWithShape="1">
          <a:blip r:embed="rId3">
            <a:alphaModFix/>
          </a:blip>
          <a:srcRect/>
          <a:stretch/>
        </p:blipFill>
        <p:spPr>
          <a:xfrm>
            <a:off x="4310062" y="3822352"/>
            <a:ext cx="190500" cy="200025"/>
          </a:xfrm>
          <a:prstGeom prst="rect">
            <a:avLst/>
          </a:prstGeom>
          <a:noFill/>
          <a:ln>
            <a:noFill/>
          </a:ln>
        </p:spPr>
      </p:pic>
      <p:pic>
        <p:nvPicPr>
          <p:cNvPr id="241" name="Google Shape;241;p22" descr="image.png"/>
          <p:cNvPicPr preferRelativeResize="0"/>
          <p:nvPr/>
        </p:nvPicPr>
        <p:blipFill rotWithShape="1">
          <a:blip r:embed="rId3">
            <a:alphaModFix/>
          </a:blip>
          <a:srcRect/>
          <a:stretch/>
        </p:blipFill>
        <p:spPr>
          <a:xfrm>
            <a:off x="4310062" y="4222402"/>
            <a:ext cx="190500" cy="200025"/>
          </a:xfrm>
          <a:prstGeom prst="rect">
            <a:avLst/>
          </a:prstGeom>
          <a:noFill/>
          <a:ln>
            <a:noFill/>
          </a:ln>
        </p:spPr>
      </p:pic>
      <p:pic>
        <p:nvPicPr>
          <p:cNvPr id="242" name="Google Shape;242;p22" descr="image.png"/>
          <p:cNvPicPr preferRelativeResize="0"/>
          <p:nvPr/>
        </p:nvPicPr>
        <p:blipFill rotWithShape="1">
          <a:blip r:embed="rId4">
            <a:alphaModFix/>
          </a:blip>
          <a:srcRect/>
          <a:stretch/>
        </p:blipFill>
        <p:spPr>
          <a:xfrm>
            <a:off x="3552900" y="2666625"/>
            <a:ext cx="5086350" cy="2505075"/>
          </a:xfrm>
          <a:prstGeom prst="rect">
            <a:avLst/>
          </a:prstGeom>
          <a:noFill/>
          <a:ln>
            <a:noFill/>
          </a:ln>
        </p:spPr>
      </p:pic>
      <p:sp>
        <p:nvSpPr>
          <p:cNvPr id="243" name="Google Shape;243;p22"/>
          <p:cNvSpPr txBox="1"/>
          <p:nvPr/>
        </p:nvSpPr>
        <p:spPr>
          <a:xfrm>
            <a:off x="295275" y="571500"/>
            <a:ext cx="11601600" cy="9813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375" b="1" i="0" u="none" strike="noStrike" cap="none">
                <a:solidFill>
                  <a:srgbClr val="E31E24"/>
                </a:solidFill>
                <a:latin typeface="Outfit"/>
                <a:ea typeface="Outfit"/>
                <a:cs typeface="Outfit"/>
                <a:sym typeface="Outfit"/>
              </a:rPr>
              <a:t>Next Steps?</a:t>
            </a:r>
            <a:endParaRPr/>
          </a:p>
        </p:txBody>
      </p:sp>
      <p:sp>
        <p:nvSpPr>
          <p:cNvPr id="244" name="Google Shape;244;p22"/>
          <p:cNvSpPr txBox="1"/>
          <p:nvPr/>
        </p:nvSpPr>
        <p:spPr>
          <a:xfrm>
            <a:off x="571500" y="1781175"/>
            <a:ext cx="11049000" cy="3231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100" b="0" i="0" u="none" strike="noStrike" cap="none">
                <a:solidFill>
                  <a:srgbClr val="334155"/>
                </a:solidFill>
                <a:latin typeface="Plus Jakarta Sans Medium"/>
                <a:ea typeface="Plus Jakarta Sans Medium"/>
                <a:cs typeface="Plus Jakarta Sans Medium"/>
                <a:sym typeface="Plus Jakarta Sans Medium"/>
              </a:rPr>
              <a:t>Apply Now to secure your spot in the batch.</a:t>
            </a:r>
            <a:endParaRPr/>
          </a:p>
        </p:txBody>
      </p:sp>
      <p:sp>
        <p:nvSpPr>
          <p:cNvPr id="245" name="Google Shape;245;p22"/>
          <p:cNvSpPr txBox="1"/>
          <p:nvPr/>
        </p:nvSpPr>
        <p:spPr>
          <a:xfrm>
            <a:off x="571500" y="5734050"/>
            <a:ext cx="11049000" cy="2310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500" b="1" i="0" u="none" strike="noStrike" cap="none">
                <a:solidFill>
                  <a:srgbClr val="334155"/>
                </a:solidFill>
                <a:latin typeface="Plus Jakarta Sans"/>
                <a:ea typeface="Plus Jakarta Sans"/>
                <a:cs typeface="Plus Jakarta Sans"/>
                <a:sym typeface="Plus Jakarta Sans"/>
              </a:rPr>
              <a:t>WWW.GINGERTAX.IN</a:t>
            </a:r>
            <a:endParaRPr/>
          </a:p>
        </p:txBody>
      </p:sp>
      <p:sp>
        <p:nvSpPr>
          <p:cNvPr id="246" name="Google Shape;246;p22"/>
          <p:cNvSpPr txBox="1"/>
          <p:nvPr/>
        </p:nvSpPr>
        <p:spPr>
          <a:xfrm>
            <a:off x="4476750" y="3152775"/>
            <a:ext cx="3667200" cy="2541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334155"/>
                </a:solidFill>
                <a:latin typeface="Plus Jakarta Sans"/>
                <a:ea typeface="Plus Jakarta Sans"/>
                <a:cs typeface="Plus Jakarta Sans"/>
                <a:sym typeface="Plus Jakarta Sans"/>
              </a:rPr>
              <a:t>Scan the QR Code on screen</a:t>
            </a:r>
            <a:endParaRPr/>
          </a:p>
        </p:txBody>
      </p:sp>
      <p:sp>
        <p:nvSpPr>
          <p:cNvPr id="247" name="Google Shape;247;p22"/>
          <p:cNvSpPr txBox="1"/>
          <p:nvPr/>
        </p:nvSpPr>
        <p:spPr>
          <a:xfrm>
            <a:off x="4476750" y="3657600"/>
            <a:ext cx="3667200" cy="2541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334155"/>
                </a:solidFill>
                <a:latin typeface="Plus Jakarta Sans"/>
                <a:ea typeface="Plus Jakarta Sans"/>
                <a:cs typeface="Plus Jakarta Sans"/>
                <a:sym typeface="Plus Jakarta Sans"/>
              </a:rPr>
              <a:t>Submit your Form immediately</a:t>
            </a:r>
            <a:endParaRPr/>
          </a:p>
        </p:txBody>
      </p:sp>
      <p:sp>
        <p:nvSpPr>
          <p:cNvPr id="248" name="Google Shape;248;p22"/>
          <p:cNvSpPr txBox="1"/>
          <p:nvPr/>
        </p:nvSpPr>
        <p:spPr>
          <a:xfrm>
            <a:off x="4476750" y="4162425"/>
            <a:ext cx="3667200" cy="2541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334155"/>
                </a:solidFill>
                <a:latin typeface="Plus Jakarta Sans"/>
                <a:ea typeface="Plus Jakarta Sans"/>
                <a:cs typeface="Plus Jakarta Sans"/>
                <a:sym typeface="Plus Jakarta Sans"/>
              </a:rPr>
              <a:t>Wait for the Offer Letter in your Inbox</a:t>
            </a:r>
            <a:endParaRPr/>
          </a:p>
        </p:txBody>
      </p:sp>
      <p:pic>
        <p:nvPicPr>
          <p:cNvPr id="249" name="Google Shape;249;p22" descr="image.png"/>
          <p:cNvPicPr preferRelativeResize="0"/>
          <p:nvPr/>
        </p:nvPicPr>
        <p:blipFill rotWithShape="1">
          <a:blip r:embed="rId5">
            <a:alphaModFix/>
          </a:blip>
          <a:srcRect/>
          <a:stretch/>
        </p:blipFill>
        <p:spPr>
          <a:xfrm>
            <a:off x="4048125" y="3171825"/>
            <a:ext cx="200025" cy="247650"/>
          </a:xfrm>
          <a:prstGeom prst="rect">
            <a:avLst/>
          </a:prstGeom>
          <a:noFill/>
          <a:ln>
            <a:noFill/>
          </a:ln>
        </p:spPr>
      </p:pic>
      <p:pic>
        <p:nvPicPr>
          <p:cNvPr id="250" name="Google Shape;250;p22" descr="image.png"/>
          <p:cNvPicPr preferRelativeResize="0"/>
          <p:nvPr/>
        </p:nvPicPr>
        <p:blipFill rotWithShape="1">
          <a:blip r:embed="rId5">
            <a:alphaModFix/>
          </a:blip>
          <a:srcRect/>
          <a:stretch/>
        </p:blipFill>
        <p:spPr>
          <a:xfrm>
            <a:off x="4048125" y="3676650"/>
            <a:ext cx="200025" cy="247650"/>
          </a:xfrm>
          <a:prstGeom prst="rect">
            <a:avLst/>
          </a:prstGeom>
          <a:noFill/>
          <a:ln>
            <a:noFill/>
          </a:ln>
        </p:spPr>
      </p:pic>
      <p:pic>
        <p:nvPicPr>
          <p:cNvPr id="251" name="Google Shape;251;p22" descr="image.png"/>
          <p:cNvPicPr preferRelativeResize="0"/>
          <p:nvPr/>
        </p:nvPicPr>
        <p:blipFill rotWithShape="1">
          <a:blip r:embed="rId5">
            <a:alphaModFix/>
          </a:blip>
          <a:srcRect/>
          <a:stretch/>
        </p:blipFill>
        <p:spPr>
          <a:xfrm>
            <a:off x="4048125" y="4181475"/>
            <a:ext cx="200025" cy="2476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TotalTime>
  <Words>536</Words>
  <Application>Microsoft Office PowerPoint</Application>
  <PresentationFormat>Widescreen</PresentationFormat>
  <Paragraphs>79</Paragraphs>
  <Slides>10</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Outfit</vt:lpstr>
      <vt:lpstr>Arial</vt:lpstr>
      <vt:lpstr>Plus Jakarta Sans</vt:lpstr>
      <vt:lpstr>Outfit SemiBold</vt:lpstr>
      <vt:lpstr>Outfit ExtraBold</vt:lpstr>
      <vt:lpstr>Calibri</vt:lpstr>
      <vt:lpstr>Plus Jakarta Sans SemiBold</vt:lpstr>
      <vt:lpstr>Plus Jakarta Sans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JAGADISH JEEVAN SAI</cp:lastModifiedBy>
  <cp:revision>1</cp:revision>
  <dcterms:modified xsi:type="dcterms:W3CDTF">2026-05-31T15:16:03Z</dcterms:modified>
</cp:coreProperties>
</file>