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Garet Bold" panose="020B0604020202020204" charset="0"/>
      <p:regular r:id="rId14"/>
    </p:embeddedFont>
    <p:embeddedFont>
      <p:font typeface="League Spartan" panose="020B0604020202020204" charset="0"/>
      <p:regular r:id="rId15"/>
    </p:embeddedFont>
    <p:embeddedFont>
      <p:font typeface="Public Sans Bold" panose="020B0604020202020204" charset="0"/>
      <p:regular r:id="rId16"/>
    </p:embeddedFont>
    <p:embeddedFont>
      <p:font typeface="Public Sans Ligh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16908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825" cy="2709333"/>
            </a:xfrm>
            <a:custGeom>
              <a:avLst/>
              <a:gdLst/>
              <a:ahLst/>
              <a:cxnLst/>
              <a:rect l="l" t="t" r="r" b="b"/>
              <a:pathLst>
                <a:path w="1690825" h="2709333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97862" y="0"/>
            <a:ext cx="190138" cy="10287000"/>
            <a:chOff x="0" y="0"/>
            <a:chExt cx="50077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077" cy="2709333"/>
            </a:xfrm>
            <a:custGeom>
              <a:avLst/>
              <a:gdLst/>
              <a:ahLst/>
              <a:cxnLst/>
              <a:rect l="l" t="t" r="r" b="b"/>
              <a:pathLst>
                <a:path w="50077" h="2709333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296400" y="1028700"/>
            <a:ext cx="4121001" cy="1853250"/>
          </a:xfrm>
          <a:custGeom>
            <a:avLst/>
            <a:gdLst/>
            <a:ahLst/>
            <a:cxnLst/>
            <a:rect l="l" t="t" r="r" b="b"/>
            <a:pathLst>
              <a:path w="4121001" h="1853250">
                <a:moveTo>
                  <a:pt x="0" y="0"/>
                </a:moveTo>
                <a:lnTo>
                  <a:pt x="4121001" y="0"/>
                </a:lnTo>
                <a:lnTo>
                  <a:pt x="4121001" y="1853250"/>
                </a:lnTo>
                <a:lnTo>
                  <a:pt x="0" y="185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36" b="-2393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1028700"/>
            <a:ext cx="11544300" cy="8229600"/>
          </a:xfrm>
          <a:custGeom>
            <a:avLst/>
            <a:gdLst/>
            <a:ahLst/>
            <a:cxnLst/>
            <a:rect l="l" t="t" r="r" b="b"/>
            <a:pathLst>
              <a:path w="7228809" h="5425302">
                <a:moveTo>
                  <a:pt x="0" y="0"/>
                </a:moveTo>
                <a:lnTo>
                  <a:pt x="7228809" y="0"/>
                </a:lnTo>
                <a:lnTo>
                  <a:pt x="7228809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296400" y="4476184"/>
            <a:ext cx="6886575" cy="3667760"/>
            <a:chOff x="0" y="0"/>
            <a:chExt cx="9182100" cy="489034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4365202"/>
              <a:ext cx="91821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0"/>
              <a:ext cx="9182100" cy="3623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60"/>
                </a:lnSpc>
              </a:pPr>
              <a:r>
                <a:rPr lang="en-US" sz="9600">
                  <a:solidFill>
                    <a:srgbClr val="FF282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Welcome</a:t>
              </a:r>
            </a:p>
            <a:p>
              <a:pPr marL="0" lvl="0" indent="0" algn="l">
                <a:lnSpc>
                  <a:spcPts val="10560"/>
                </a:lnSpc>
              </a:pPr>
              <a:r>
                <a:rPr lang="en-US" sz="9600">
                  <a:solidFill>
                    <a:srgbClr val="FF282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Interns!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296400" y="8959532"/>
            <a:ext cx="6886575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172950" y="0"/>
            <a:ext cx="6115050" cy="10287000"/>
          </a:xfrm>
          <a:prstGeom prst="rect">
            <a:avLst/>
          </a:prstGeom>
          <a:solidFill>
            <a:srgbClr val="FF2828"/>
          </a:solidFill>
        </p:spPr>
      </p:sp>
      <p:grpSp>
        <p:nvGrpSpPr>
          <p:cNvPr id="3" name="Group 3"/>
          <p:cNvGrpSpPr/>
          <p:nvPr/>
        </p:nvGrpSpPr>
        <p:grpSpPr>
          <a:xfrm>
            <a:off x="10734675" y="666750"/>
            <a:ext cx="6886575" cy="8953500"/>
            <a:chOff x="0" y="0"/>
            <a:chExt cx="1799687" cy="23398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9687" cy="2339842"/>
            </a:xfrm>
            <a:custGeom>
              <a:avLst/>
              <a:gdLst/>
              <a:ahLst/>
              <a:cxnLst/>
              <a:rect l="l" t="t" r="r" b="b"/>
              <a:pathLst>
                <a:path w="1799687" h="2339842">
                  <a:moveTo>
                    <a:pt x="0" y="0"/>
                  </a:moveTo>
                  <a:lnTo>
                    <a:pt x="1799687" y="0"/>
                  </a:lnTo>
                  <a:lnTo>
                    <a:pt x="1799687" y="2339842"/>
                  </a:lnTo>
                  <a:lnTo>
                    <a:pt x="0" y="2339842"/>
                  </a:lnTo>
                  <a:close/>
                </a:path>
              </a:pathLst>
            </a:custGeom>
            <a:blipFill>
              <a:blip r:embed="rId2"/>
              <a:stretch>
                <a:fillRect t="-189" b="-18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61422" y="666750"/>
            <a:ext cx="8324850" cy="5724525"/>
            <a:chOff x="0" y="0"/>
            <a:chExt cx="11099800" cy="7632700"/>
          </a:xfrm>
        </p:grpSpPr>
        <p:sp>
          <p:nvSpPr>
            <p:cNvPr id="6" name="TextBox 6"/>
            <p:cNvSpPr txBox="1"/>
            <p:nvPr/>
          </p:nvSpPr>
          <p:spPr>
            <a:xfrm>
              <a:off x="0" y="5567257"/>
              <a:ext cx="9182100" cy="2065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FF2828"/>
                  </a:solidFill>
                  <a:latin typeface="Public Sans Light"/>
                  <a:ea typeface="Public Sans Light"/>
                  <a:cs typeface="Public Sans Light"/>
                  <a:sym typeface="Public Sans Light"/>
                </a:rPr>
                <a:t>Founded with a mission to make taxes simple for every Indian, we processed </a:t>
              </a:r>
              <a:r>
                <a:rPr lang="en-US" sz="2199" b="1">
                  <a:solidFill>
                    <a:srgbClr val="FF2828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24Cr refunds</a:t>
              </a:r>
              <a:r>
                <a:rPr lang="en-US" sz="2199">
                  <a:solidFill>
                    <a:srgbClr val="FF2828"/>
                  </a:solidFill>
                  <a:latin typeface="Public Sans Light"/>
                  <a:ea typeface="Public Sans Light"/>
                  <a:cs typeface="Public Sans Light"/>
                  <a:sym typeface="Public Sans Light"/>
                </a:rPr>
                <a:t> last year and served over </a:t>
              </a:r>
              <a:r>
                <a:rPr lang="en-US" sz="2199" b="1">
                  <a:solidFill>
                    <a:srgbClr val="FF2828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50 industries</a:t>
              </a:r>
              <a:r>
                <a:rPr lang="en-US" sz="2199">
                  <a:solidFill>
                    <a:srgbClr val="FF2828"/>
                  </a:solidFill>
                  <a:latin typeface="Public Sans Light"/>
                  <a:ea typeface="Public Sans Light"/>
                  <a:cs typeface="Public Sans Light"/>
                  <a:sym typeface="Public Sans Light"/>
                </a:rPr>
                <a:t> with a rapid </a:t>
              </a:r>
              <a:r>
                <a:rPr lang="en-US" sz="2199" b="1">
                  <a:solidFill>
                    <a:srgbClr val="FF2828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24-hour turnaround</a:t>
              </a:r>
              <a:r>
                <a:rPr lang="en-US" sz="2199">
                  <a:solidFill>
                    <a:srgbClr val="FF2828"/>
                  </a:solidFill>
                  <a:latin typeface="Public Sans Light"/>
                  <a:ea typeface="Public Sans Light"/>
                  <a:cs typeface="Public Sans Light"/>
                  <a:sym typeface="Public Sans Light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32150"/>
              <a:ext cx="9182100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F282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INDIA’S FAST-GROWING TAX FILING BRAND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FF282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Who We Are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0" y="0"/>
            <a:ext cx="189775" cy="10287000"/>
            <a:chOff x="0" y="0"/>
            <a:chExt cx="49982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16387" y="3504317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672866" y="666750"/>
            <a:ext cx="8133643" cy="2375159"/>
            <a:chOff x="0" y="0"/>
            <a:chExt cx="10844857" cy="3166879"/>
          </a:xfrm>
        </p:grpSpPr>
        <p:sp>
          <p:nvSpPr>
            <p:cNvPr id="7" name="TextBox 7"/>
            <p:cNvSpPr txBox="1"/>
            <p:nvPr/>
          </p:nvSpPr>
          <p:spPr>
            <a:xfrm>
              <a:off x="0" y="863284"/>
              <a:ext cx="10844857" cy="2303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72"/>
                </a:lnSpc>
              </a:pPr>
              <a:r>
                <a:rPr lang="en-US" sz="248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simplify tax filing for gig workers, including those from platforms like Swiggy and Zomato, ensuring they maximize refunds and navigate their unique tax situations effortlessly.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844857" cy="673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99"/>
                </a:lnSpc>
              </a:pPr>
              <a:r>
                <a:rPr lang="en-US" sz="3070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ITR FOR GIG WORKERS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72866" y="3504317"/>
            <a:ext cx="7510109" cy="2193077"/>
            <a:chOff x="0" y="0"/>
            <a:chExt cx="10013479" cy="292410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793453"/>
              <a:ext cx="10013479" cy="213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06"/>
                </a:lnSpc>
              </a:pPr>
              <a:r>
                <a:rPr lang="en-US" sz="229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services cater to salaried professionals across various sectors, such as IT and healthcare, offering fast, accurate tax filing to ensure peace of mind during tax season.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013479" cy="62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9"/>
                </a:lnSpc>
              </a:pPr>
              <a:r>
                <a:rPr lang="en-US" sz="2835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ITR FOR SALARIED INDIVIDUALS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72866" y="6164119"/>
            <a:ext cx="7783718" cy="2692844"/>
            <a:chOff x="0" y="0"/>
            <a:chExt cx="10378291" cy="359045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24095"/>
              <a:ext cx="10378291" cy="2766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23"/>
                </a:lnSpc>
              </a:pPr>
              <a:r>
                <a:rPr lang="en-US" sz="237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provide specialized tax services for employees with stock grants, ensuring compliance and optimizing tax liabilities through expert guidance tailored to complex financial situations.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378291" cy="646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14"/>
                </a:lnSpc>
              </a:pPr>
              <a:r>
                <a:rPr lang="en-US" sz="2938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ITR FOR RSU HOLDERS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5448300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Core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750" y="4014017"/>
            <a:ext cx="7907961" cy="4306565"/>
          </a:xfrm>
          <a:custGeom>
            <a:avLst/>
            <a:gdLst/>
            <a:ahLst/>
            <a:cxnLst/>
            <a:rect l="l" t="t" r="r" b="b"/>
            <a:pathLst>
              <a:path w="7907961" h="4306565">
                <a:moveTo>
                  <a:pt x="0" y="0"/>
                </a:moveTo>
                <a:lnTo>
                  <a:pt x="7907961" y="0"/>
                </a:lnTo>
                <a:lnTo>
                  <a:pt x="7907961" y="4306565"/>
                </a:lnTo>
                <a:lnTo>
                  <a:pt x="0" y="4306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296400" y="1562100"/>
            <a:ext cx="6886575" cy="1639520"/>
            <a:chOff x="0" y="0"/>
            <a:chExt cx="9182100" cy="2186026"/>
          </a:xfrm>
        </p:grpSpPr>
        <p:sp>
          <p:nvSpPr>
            <p:cNvPr id="7" name="TextBox 7"/>
            <p:cNvSpPr txBox="1"/>
            <p:nvPr/>
          </p:nvSpPr>
          <p:spPr>
            <a:xfrm>
              <a:off x="0" y="723622"/>
              <a:ext cx="91821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Gig workers often lack awareness of TDS refunds owed to them, requiring clear communication and trust to simplify their tax experience.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GIG WORKER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4248150"/>
            <a:ext cx="6886575" cy="2010995"/>
            <a:chOff x="0" y="0"/>
            <a:chExt cx="9182100" cy="268132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723622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These clients work hard and tend to file their taxes last minute, so they need speed, accuracy, and peace of mind to complete their tax returns efficiently.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SALARIED INDIVIDUAL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6935420"/>
            <a:ext cx="6886575" cy="2382470"/>
            <a:chOff x="0" y="0"/>
            <a:chExt cx="9182100" cy="317662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723622"/>
              <a:ext cx="9182100" cy="245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High-income individuals with complex tax obligations require expertise and confidentiality, as they navigate stock grants and various income sources, needing tailored solutions for their unique situations.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RSU HOLDER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6747365" cy="188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56"/>
              </a:lnSpc>
              <a:spcBef>
                <a:spcPct val="0"/>
              </a:spcBef>
            </a:pPr>
            <a:r>
              <a:rPr lang="en-US" sz="6687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Understanding Our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6886575" cy="1612850"/>
            <a:chOff x="0" y="0"/>
            <a:chExt cx="91821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Clients securely share necessary documents through our easy-to-use online portal.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 DOCUMENT SHARING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6886575" cy="1612850"/>
            <a:chOff x="0" y="0"/>
            <a:chExt cx="91821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Clients review and approve the return summary before submission for accuracy.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 APPROVAL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6886575" cy="1612850"/>
            <a:chOff x="0" y="0"/>
            <a:chExt cx="91821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continuously track refund status and keep clients informed throughout the process.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REFUND TRACKING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6886575" cy="1612850"/>
            <a:chOff x="0" y="0"/>
            <a:chExt cx="91821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experienced CAs review documents to identify deductions and compute tax liabilities.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EXPERT REVIEW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6886575" cy="1612850"/>
            <a:chOff x="0" y="0"/>
            <a:chExt cx="91821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ITR is e-filed, and clients receive an acknowledgment immediately after.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E-FILING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7829550"/>
            <a:ext cx="6886575" cy="1612850"/>
            <a:chOff x="0" y="0"/>
            <a:chExt cx="9182100" cy="215046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average turnaround time is 24 hours for salaried and gig returns.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QUICK TURNAROUND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6750" y="733425"/>
            <a:ext cx="155162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Ginger Tax Process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255859"/>
            <a:ext cx="15512477" cy="7465380"/>
          </a:xfrm>
          <a:custGeom>
            <a:avLst/>
            <a:gdLst/>
            <a:ahLst/>
            <a:cxnLst/>
            <a:rect l="l" t="t" r="r" b="b"/>
            <a:pathLst>
              <a:path w="15512477" h="7465380">
                <a:moveTo>
                  <a:pt x="0" y="0"/>
                </a:moveTo>
                <a:lnTo>
                  <a:pt x="15512477" y="0"/>
                </a:lnTo>
                <a:lnTo>
                  <a:pt x="15512477" y="7465380"/>
                </a:lnTo>
                <a:lnTo>
                  <a:pt x="0" y="7465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733425"/>
            <a:ext cx="155162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Pricing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751493" y="9278302"/>
            <a:ext cx="463868" cy="463868"/>
            <a:chOff x="0" y="0"/>
            <a:chExt cx="618490" cy="618490"/>
          </a:xfrm>
        </p:grpSpPr>
        <p:sp>
          <p:nvSpPr>
            <p:cNvPr id="8" name="Freeform 8"/>
            <p:cNvSpPr/>
            <p:nvPr/>
          </p:nvSpPr>
          <p:spPr>
            <a:xfrm>
              <a:off x="50321" y="46514"/>
              <a:ext cx="508479" cy="520385"/>
            </a:xfrm>
            <a:custGeom>
              <a:avLst/>
              <a:gdLst/>
              <a:ahLst/>
              <a:cxnLst/>
              <a:rect l="l" t="t" r="r" b="b"/>
              <a:pathLst>
                <a:path w="508479" h="520385">
                  <a:moveTo>
                    <a:pt x="508479" y="183356"/>
                  </a:moveTo>
                  <a:cubicBezTo>
                    <a:pt x="508479" y="347186"/>
                    <a:pt x="489429" y="389096"/>
                    <a:pt x="465299" y="420846"/>
                  </a:cubicBezTo>
                  <a:cubicBezTo>
                    <a:pt x="439899" y="452596"/>
                    <a:pt x="403069" y="481806"/>
                    <a:pt x="366239" y="498316"/>
                  </a:cubicBezTo>
                  <a:cubicBezTo>
                    <a:pt x="330679" y="514826"/>
                    <a:pt x="284959" y="522446"/>
                    <a:pt x="244319" y="519906"/>
                  </a:cubicBezTo>
                  <a:cubicBezTo>
                    <a:pt x="203679" y="517366"/>
                    <a:pt x="159229" y="503396"/>
                    <a:pt x="124939" y="483076"/>
                  </a:cubicBezTo>
                  <a:cubicBezTo>
                    <a:pt x="90649" y="462756"/>
                    <a:pt x="57629" y="429736"/>
                    <a:pt x="37309" y="395446"/>
                  </a:cubicBezTo>
                  <a:cubicBezTo>
                    <a:pt x="15719" y="359886"/>
                    <a:pt x="3019" y="316706"/>
                    <a:pt x="479" y="276066"/>
                  </a:cubicBezTo>
                  <a:cubicBezTo>
                    <a:pt x="-2061" y="235426"/>
                    <a:pt x="5559" y="189706"/>
                    <a:pt x="22069" y="152876"/>
                  </a:cubicBezTo>
                  <a:cubicBezTo>
                    <a:pt x="38579" y="117316"/>
                    <a:pt x="67789" y="80486"/>
                    <a:pt x="99539" y="55086"/>
                  </a:cubicBezTo>
                  <a:cubicBezTo>
                    <a:pt x="131289" y="30956"/>
                    <a:pt x="173199" y="11906"/>
                    <a:pt x="212569" y="4286"/>
                  </a:cubicBezTo>
                  <a:cubicBezTo>
                    <a:pt x="253209" y="-3334"/>
                    <a:pt x="298929" y="-794"/>
                    <a:pt x="337029" y="11906"/>
                  </a:cubicBezTo>
                  <a:cubicBezTo>
                    <a:pt x="376399" y="23336"/>
                    <a:pt x="443709" y="76676"/>
                    <a:pt x="443709" y="7667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5664815" y="9364980"/>
            <a:ext cx="463868" cy="463868"/>
            <a:chOff x="0" y="0"/>
            <a:chExt cx="618490" cy="618490"/>
          </a:xfrm>
        </p:grpSpPr>
        <p:sp>
          <p:nvSpPr>
            <p:cNvPr id="10" name="Freeform 10"/>
            <p:cNvSpPr/>
            <p:nvPr/>
          </p:nvSpPr>
          <p:spPr>
            <a:xfrm>
              <a:off x="50371" y="46514"/>
              <a:ext cx="508489" cy="520335"/>
            </a:xfrm>
            <a:custGeom>
              <a:avLst/>
              <a:gdLst/>
              <a:ahLst/>
              <a:cxnLst/>
              <a:rect l="l" t="t" r="r" b="b"/>
              <a:pathLst>
                <a:path w="508489" h="520335">
                  <a:moveTo>
                    <a:pt x="508429" y="182086"/>
                  </a:moveTo>
                  <a:cubicBezTo>
                    <a:pt x="509699" y="347186"/>
                    <a:pt x="490649" y="389096"/>
                    <a:pt x="465249" y="420846"/>
                  </a:cubicBezTo>
                  <a:cubicBezTo>
                    <a:pt x="439849" y="452596"/>
                    <a:pt x="404289" y="480536"/>
                    <a:pt x="367459" y="497046"/>
                  </a:cubicBezTo>
                  <a:cubicBezTo>
                    <a:pt x="330629" y="513556"/>
                    <a:pt x="284909" y="522446"/>
                    <a:pt x="244269" y="519906"/>
                  </a:cubicBezTo>
                  <a:cubicBezTo>
                    <a:pt x="204899" y="517366"/>
                    <a:pt x="160449" y="503396"/>
                    <a:pt x="126159" y="483076"/>
                  </a:cubicBezTo>
                  <a:cubicBezTo>
                    <a:pt x="90599" y="461486"/>
                    <a:pt x="58849" y="429736"/>
                    <a:pt x="37259" y="394176"/>
                  </a:cubicBezTo>
                  <a:cubicBezTo>
                    <a:pt x="16939" y="359886"/>
                    <a:pt x="2969" y="315436"/>
                    <a:pt x="429" y="276066"/>
                  </a:cubicBezTo>
                  <a:cubicBezTo>
                    <a:pt x="-2111" y="235426"/>
                    <a:pt x="6779" y="189706"/>
                    <a:pt x="23289" y="152876"/>
                  </a:cubicBezTo>
                  <a:cubicBezTo>
                    <a:pt x="39799" y="116046"/>
                    <a:pt x="67739" y="80486"/>
                    <a:pt x="99489" y="55086"/>
                  </a:cubicBezTo>
                  <a:cubicBezTo>
                    <a:pt x="131239" y="29686"/>
                    <a:pt x="173149" y="10636"/>
                    <a:pt x="213789" y="4286"/>
                  </a:cubicBezTo>
                  <a:cubicBezTo>
                    <a:pt x="253159" y="-3334"/>
                    <a:pt x="298879" y="-794"/>
                    <a:pt x="338249" y="11906"/>
                  </a:cubicBezTo>
                  <a:cubicBezTo>
                    <a:pt x="376349" y="23336"/>
                    <a:pt x="444929" y="75406"/>
                    <a:pt x="444929" y="7540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5721965" y="9134475"/>
            <a:ext cx="463868" cy="463868"/>
            <a:chOff x="0" y="0"/>
            <a:chExt cx="618490" cy="618490"/>
          </a:xfrm>
        </p:grpSpPr>
        <p:sp>
          <p:nvSpPr>
            <p:cNvPr id="12" name="Freeform 12"/>
            <p:cNvSpPr/>
            <p:nvPr/>
          </p:nvSpPr>
          <p:spPr>
            <a:xfrm>
              <a:off x="50664" y="46514"/>
              <a:ext cx="509406" cy="520335"/>
            </a:xfrm>
            <a:custGeom>
              <a:avLst/>
              <a:gdLst/>
              <a:ahLst/>
              <a:cxnLst/>
              <a:rect l="l" t="t" r="r" b="b"/>
              <a:pathLst>
                <a:path w="509406" h="520335">
                  <a:moveTo>
                    <a:pt x="509406" y="182086"/>
                  </a:moveTo>
                  <a:cubicBezTo>
                    <a:pt x="509406" y="347186"/>
                    <a:pt x="490356" y="389096"/>
                    <a:pt x="464956" y="420846"/>
                  </a:cubicBezTo>
                  <a:cubicBezTo>
                    <a:pt x="440826" y="452596"/>
                    <a:pt x="403996" y="480536"/>
                    <a:pt x="367166" y="497046"/>
                  </a:cubicBezTo>
                  <a:cubicBezTo>
                    <a:pt x="330336" y="513556"/>
                    <a:pt x="284616" y="522446"/>
                    <a:pt x="245246" y="519906"/>
                  </a:cubicBezTo>
                  <a:cubicBezTo>
                    <a:pt x="204606" y="517366"/>
                    <a:pt x="160156" y="503396"/>
                    <a:pt x="125866" y="483076"/>
                  </a:cubicBezTo>
                  <a:cubicBezTo>
                    <a:pt x="91576" y="461486"/>
                    <a:pt x="58556" y="429736"/>
                    <a:pt x="38236" y="394176"/>
                  </a:cubicBezTo>
                  <a:cubicBezTo>
                    <a:pt x="16646" y="359886"/>
                    <a:pt x="2676" y="316706"/>
                    <a:pt x="136" y="276066"/>
                  </a:cubicBezTo>
                  <a:cubicBezTo>
                    <a:pt x="-1134" y="235426"/>
                    <a:pt x="6486" y="189706"/>
                    <a:pt x="22996" y="152876"/>
                  </a:cubicBezTo>
                  <a:cubicBezTo>
                    <a:pt x="39506" y="116046"/>
                    <a:pt x="68716" y="80486"/>
                    <a:pt x="100466" y="55086"/>
                  </a:cubicBezTo>
                  <a:cubicBezTo>
                    <a:pt x="132216" y="29686"/>
                    <a:pt x="174126" y="11906"/>
                    <a:pt x="213496" y="4286"/>
                  </a:cubicBezTo>
                  <a:cubicBezTo>
                    <a:pt x="252866" y="-3334"/>
                    <a:pt x="299856" y="-794"/>
                    <a:pt x="337956" y="11906"/>
                  </a:cubicBezTo>
                  <a:cubicBezTo>
                    <a:pt x="376056" y="23336"/>
                    <a:pt x="444636" y="76676"/>
                    <a:pt x="444636" y="7667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5952470" y="9096375"/>
            <a:ext cx="463868" cy="463868"/>
            <a:chOff x="0" y="0"/>
            <a:chExt cx="618490" cy="618490"/>
          </a:xfrm>
        </p:grpSpPr>
        <p:sp>
          <p:nvSpPr>
            <p:cNvPr id="14" name="Freeform 14"/>
            <p:cNvSpPr/>
            <p:nvPr/>
          </p:nvSpPr>
          <p:spPr>
            <a:xfrm>
              <a:off x="50371" y="47398"/>
              <a:ext cx="509699" cy="520721"/>
            </a:xfrm>
            <a:custGeom>
              <a:avLst/>
              <a:gdLst/>
              <a:ahLst/>
              <a:cxnLst/>
              <a:rect l="l" t="t" r="r" b="b"/>
              <a:pathLst>
                <a:path w="509699" h="520721">
                  <a:moveTo>
                    <a:pt x="509699" y="182472"/>
                  </a:moveTo>
                  <a:cubicBezTo>
                    <a:pt x="509699" y="346302"/>
                    <a:pt x="490649" y="389482"/>
                    <a:pt x="465249" y="421232"/>
                  </a:cubicBezTo>
                  <a:cubicBezTo>
                    <a:pt x="441119" y="452982"/>
                    <a:pt x="404289" y="480922"/>
                    <a:pt x="367459" y="497432"/>
                  </a:cubicBezTo>
                  <a:cubicBezTo>
                    <a:pt x="330629" y="513942"/>
                    <a:pt x="284909" y="522832"/>
                    <a:pt x="245539" y="520292"/>
                  </a:cubicBezTo>
                  <a:cubicBezTo>
                    <a:pt x="204899" y="517752"/>
                    <a:pt x="160449" y="503782"/>
                    <a:pt x="126159" y="483462"/>
                  </a:cubicBezTo>
                  <a:cubicBezTo>
                    <a:pt x="91869" y="461872"/>
                    <a:pt x="58849" y="428852"/>
                    <a:pt x="38529" y="394562"/>
                  </a:cubicBezTo>
                  <a:cubicBezTo>
                    <a:pt x="16939" y="360272"/>
                    <a:pt x="2969" y="315822"/>
                    <a:pt x="429" y="275182"/>
                  </a:cubicBezTo>
                  <a:cubicBezTo>
                    <a:pt x="-2111" y="235812"/>
                    <a:pt x="6779" y="190092"/>
                    <a:pt x="23289" y="153262"/>
                  </a:cubicBezTo>
                  <a:cubicBezTo>
                    <a:pt x="39799" y="116432"/>
                    <a:pt x="69009" y="79602"/>
                    <a:pt x="100759" y="55472"/>
                  </a:cubicBezTo>
                  <a:cubicBezTo>
                    <a:pt x="132509" y="30072"/>
                    <a:pt x="174419" y="11022"/>
                    <a:pt x="213789" y="3402"/>
                  </a:cubicBezTo>
                  <a:cubicBezTo>
                    <a:pt x="253159" y="-2948"/>
                    <a:pt x="300149" y="-408"/>
                    <a:pt x="338249" y="11022"/>
                  </a:cubicBezTo>
                  <a:cubicBezTo>
                    <a:pt x="376349" y="23722"/>
                    <a:pt x="444929" y="75792"/>
                    <a:pt x="444929" y="7579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5952470" y="9259252"/>
            <a:ext cx="463868" cy="463868"/>
            <a:chOff x="0" y="0"/>
            <a:chExt cx="618490" cy="618490"/>
          </a:xfrm>
        </p:grpSpPr>
        <p:sp>
          <p:nvSpPr>
            <p:cNvPr id="16" name="Freeform 16"/>
            <p:cNvSpPr/>
            <p:nvPr/>
          </p:nvSpPr>
          <p:spPr>
            <a:xfrm>
              <a:off x="50371" y="47398"/>
              <a:ext cx="509699" cy="520720"/>
            </a:xfrm>
            <a:custGeom>
              <a:avLst/>
              <a:gdLst/>
              <a:ahLst/>
              <a:cxnLst/>
              <a:rect l="l" t="t" r="r" b="b"/>
              <a:pathLst>
                <a:path w="509699" h="520720">
                  <a:moveTo>
                    <a:pt x="509699" y="182472"/>
                  </a:moveTo>
                  <a:cubicBezTo>
                    <a:pt x="509699" y="346302"/>
                    <a:pt x="490649" y="388212"/>
                    <a:pt x="465249" y="419962"/>
                  </a:cubicBezTo>
                  <a:cubicBezTo>
                    <a:pt x="441119" y="451712"/>
                    <a:pt x="404289" y="480922"/>
                    <a:pt x="367459" y="497432"/>
                  </a:cubicBezTo>
                  <a:cubicBezTo>
                    <a:pt x="330629" y="513942"/>
                    <a:pt x="284909" y="522832"/>
                    <a:pt x="245539" y="520292"/>
                  </a:cubicBezTo>
                  <a:cubicBezTo>
                    <a:pt x="204899" y="517752"/>
                    <a:pt x="160449" y="503782"/>
                    <a:pt x="126159" y="482192"/>
                  </a:cubicBezTo>
                  <a:cubicBezTo>
                    <a:pt x="91869" y="461872"/>
                    <a:pt x="58849" y="428852"/>
                    <a:pt x="38529" y="394562"/>
                  </a:cubicBezTo>
                  <a:cubicBezTo>
                    <a:pt x="16939" y="360272"/>
                    <a:pt x="2969" y="315822"/>
                    <a:pt x="429" y="275182"/>
                  </a:cubicBezTo>
                  <a:cubicBezTo>
                    <a:pt x="-2111" y="235812"/>
                    <a:pt x="6779" y="190092"/>
                    <a:pt x="23289" y="153262"/>
                  </a:cubicBezTo>
                  <a:cubicBezTo>
                    <a:pt x="39799" y="116432"/>
                    <a:pt x="69009" y="79602"/>
                    <a:pt x="100759" y="55472"/>
                  </a:cubicBezTo>
                  <a:cubicBezTo>
                    <a:pt x="132509" y="30072"/>
                    <a:pt x="174419" y="11022"/>
                    <a:pt x="213789" y="3402"/>
                  </a:cubicBezTo>
                  <a:cubicBezTo>
                    <a:pt x="253159" y="-2948"/>
                    <a:pt x="300149" y="-408"/>
                    <a:pt x="338249" y="11022"/>
                  </a:cubicBezTo>
                  <a:cubicBezTo>
                    <a:pt x="376349" y="23722"/>
                    <a:pt x="444929" y="75792"/>
                    <a:pt x="444929" y="7579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5934373" y="9306878"/>
            <a:ext cx="463868" cy="463868"/>
            <a:chOff x="0" y="0"/>
            <a:chExt cx="618490" cy="618490"/>
          </a:xfrm>
        </p:grpSpPr>
        <p:sp>
          <p:nvSpPr>
            <p:cNvPr id="18" name="Freeform 18"/>
            <p:cNvSpPr/>
            <p:nvPr/>
          </p:nvSpPr>
          <p:spPr>
            <a:xfrm>
              <a:off x="50321" y="47398"/>
              <a:ext cx="508479" cy="519501"/>
            </a:xfrm>
            <a:custGeom>
              <a:avLst/>
              <a:gdLst/>
              <a:ahLst/>
              <a:cxnLst/>
              <a:rect l="l" t="t" r="r" b="b"/>
              <a:pathLst>
                <a:path w="508479" h="519501">
                  <a:moveTo>
                    <a:pt x="508479" y="182472"/>
                  </a:moveTo>
                  <a:cubicBezTo>
                    <a:pt x="508479" y="346302"/>
                    <a:pt x="489429" y="388212"/>
                    <a:pt x="465299" y="419962"/>
                  </a:cubicBezTo>
                  <a:cubicBezTo>
                    <a:pt x="439899" y="451712"/>
                    <a:pt x="403069" y="480922"/>
                    <a:pt x="366239" y="497432"/>
                  </a:cubicBezTo>
                  <a:cubicBezTo>
                    <a:pt x="330679" y="513942"/>
                    <a:pt x="284959" y="521562"/>
                    <a:pt x="244319" y="519022"/>
                  </a:cubicBezTo>
                  <a:cubicBezTo>
                    <a:pt x="203679" y="517752"/>
                    <a:pt x="159229" y="503782"/>
                    <a:pt x="124939" y="482192"/>
                  </a:cubicBezTo>
                  <a:cubicBezTo>
                    <a:pt x="90649" y="461872"/>
                    <a:pt x="57629" y="428852"/>
                    <a:pt x="37309" y="394562"/>
                  </a:cubicBezTo>
                  <a:cubicBezTo>
                    <a:pt x="15719" y="360272"/>
                    <a:pt x="3019" y="315822"/>
                    <a:pt x="479" y="275182"/>
                  </a:cubicBezTo>
                  <a:cubicBezTo>
                    <a:pt x="-2061" y="235812"/>
                    <a:pt x="5559" y="190092"/>
                    <a:pt x="22069" y="153262"/>
                  </a:cubicBezTo>
                  <a:cubicBezTo>
                    <a:pt x="38579" y="116432"/>
                    <a:pt x="67789" y="79602"/>
                    <a:pt x="99539" y="54202"/>
                  </a:cubicBezTo>
                  <a:cubicBezTo>
                    <a:pt x="131289" y="30072"/>
                    <a:pt x="173199" y="11022"/>
                    <a:pt x="212569" y="3402"/>
                  </a:cubicBezTo>
                  <a:cubicBezTo>
                    <a:pt x="253209" y="-2948"/>
                    <a:pt x="298929" y="-408"/>
                    <a:pt x="337029" y="11022"/>
                  </a:cubicBezTo>
                  <a:cubicBezTo>
                    <a:pt x="376399" y="23722"/>
                    <a:pt x="443709" y="75792"/>
                    <a:pt x="443709" y="7579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5837218" y="9288780"/>
            <a:ext cx="463868" cy="463868"/>
            <a:chOff x="0" y="0"/>
            <a:chExt cx="618490" cy="618490"/>
          </a:xfrm>
        </p:grpSpPr>
        <p:sp>
          <p:nvSpPr>
            <p:cNvPr id="20" name="Freeform 20"/>
            <p:cNvSpPr/>
            <p:nvPr/>
          </p:nvSpPr>
          <p:spPr>
            <a:xfrm>
              <a:off x="50664" y="46514"/>
              <a:ext cx="509406" cy="520335"/>
            </a:xfrm>
            <a:custGeom>
              <a:avLst/>
              <a:gdLst/>
              <a:ahLst/>
              <a:cxnLst/>
              <a:rect l="l" t="t" r="r" b="b"/>
              <a:pathLst>
                <a:path w="509406" h="520335">
                  <a:moveTo>
                    <a:pt x="509406" y="182086"/>
                  </a:moveTo>
                  <a:cubicBezTo>
                    <a:pt x="509406" y="345916"/>
                    <a:pt x="490356" y="389096"/>
                    <a:pt x="464956" y="420846"/>
                  </a:cubicBezTo>
                  <a:cubicBezTo>
                    <a:pt x="440826" y="452596"/>
                    <a:pt x="403996" y="480536"/>
                    <a:pt x="367166" y="497046"/>
                  </a:cubicBezTo>
                  <a:cubicBezTo>
                    <a:pt x="330336" y="513556"/>
                    <a:pt x="284616" y="522446"/>
                    <a:pt x="245246" y="519906"/>
                  </a:cubicBezTo>
                  <a:cubicBezTo>
                    <a:pt x="204606" y="517366"/>
                    <a:pt x="160156" y="503396"/>
                    <a:pt x="125866" y="483076"/>
                  </a:cubicBezTo>
                  <a:cubicBezTo>
                    <a:pt x="91576" y="461486"/>
                    <a:pt x="58556" y="428466"/>
                    <a:pt x="38236" y="394176"/>
                  </a:cubicBezTo>
                  <a:cubicBezTo>
                    <a:pt x="16646" y="359886"/>
                    <a:pt x="2676" y="315436"/>
                    <a:pt x="136" y="276066"/>
                  </a:cubicBezTo>
                  <a:cubicBezTo>
                    <a:pt x="-1134" y="235426"/>
                    <a:pt x="6486" y="189706"/>
                    <a:pt x="22996" y="152876"/>
                  </a:cubicBezTo>
                  <a:cubicBezTo>
                    <a:pt x="39506" y="116046"/>
                    <a:pt x="68716" y="79216"/>
                    <a:pt x="100466" y="55086"/>
                  </a:cubicBezTo>
                  <a:cubicBezTo>
                    <a:pt x="132216" y="29686"/>
                    <a:pt x="174126" y="10636"/>
                    <a:pt x="213496" y="4286"/>
                  </a:cubicBezTo>
                  <a:cubicBezTo>
                    <a:pt x="252866" y="-3334"/>
                    <a:pt x="299856" y="-794"/>
                    <a:pt x="337956" y="11906"/>
                  </a:cubicBezTo>
                  <a:cubicBezTo>
                    <a:pt x="376056" y="23336"/>
                    <a:pt x="444636" y="75406"/>
                    <a:pt x="444636" y="7540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6886575" cy="1612850"/>
            <a:chOff x="0" y="0"/>
            <a:chExt cx="91821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dedicated experts ensure tailored solutions for every tax category and client need.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SPECIALIST EXPERTISE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6886575" cy="1612850"/>
            <a:chOff x="0" y="0"/>
            <a:chExt cx="91821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prioritize end-to-end encryption to protect client data and ensure confidentiality.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FULLY SECURE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6886575" cy="1612850"/>
            <a:chOff x="0" y="0"/>
            <a:chExt cx="91821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team is available for real-time assistance via call, WhatsApp, or email anytime.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EXPERT SUPPORT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6886575" cy="1612850"/>
            <a:chOff x="0" y="0"/>
            <a:chExt cx="91821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If we miss a deduction, we will refile at no additional charge to clients.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MAXIMUM REFUND GUARANTEE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6886575" cy="1612850"/>
            <a:chOff x="0" y="0"/>
            <a:chExt cx="91821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Clients can expect their returns processed swiftly, within 24 to 48 hours maximum.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FAST TURNAROUND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7829550"/>
            <a:ext cx="6886575" cy="1612850"/>
            <a:chOff x="0" y="0"/>
            <a:chExt cx="9182100" cy="215046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manage IT department notices at no extra charge, providing peace of mind for clients.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NOTICE HANDLING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6750" y="733425"/>
            <a:ext cx="155162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Clients Choose Us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393993"/>
            <a:ext cx="6886575" cy="2181860"/>
            <a:chOff x="0" y="0"/>
            <a:chExt cx="9182100" cy="2909147"/>
          </a:xfrm>
        </p:grpSpPr>
        <p:sp>
          <p:nvSpPr>
            <p:cNvPr id="3" name="TextBox 3"/>
            <p:cNvSpPr txBox="1"/>
            <p:nvPr/>
          </p:nvSpPr>
          <p:spPr>
            <a:xfrm>
              <a:off x="0" y="951442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 will focus on specific client segments such as gig workers, salaried professionals, and RSU holders, tailoring your approach to meet their unique needs and concerns.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TARGET SEGMENTS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53226"/>
            <a:ext cx="6886575" cy="2181860"/>
            <a:chOff x="0" y="0"/>
            <a:chExt cx="9182100" cy="2909147"/>
          </a:xfrm>
        </p:grpSpPr>
        <p:sp>
          <p:nvSpPr>
            <p:cNvPr id="6" name="TextBox 6"/>
            <p:cNvSpPr txBox="1"/>
            <p:nvPr/>
          </p:nvSpPr>
          <p:spPr>
            <a:xfrm>
              <a:off x="0" y="951442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 will utilize various tools, including WhatsApp, CRM software, and social media for outreach, enhancing your productivity and effectiveness in engaging with potential clients.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TOOLS OF THE TRADE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3212133"/>
            <a:ext cx="6886575" cy="2181860"/>
            <a:chOff x="0" y="0"/>
            <a:chExt cx="9182100" cy="2909147"/>
          </a:xfrm>
        </p:grpSpPr>
        <p:sp>
          <p:nvSpPr>
            <p:cNvPr id="9" name="TextBox 9"/>
            <p:cNvSpPr txBox="1"/>
            <p:nvPr/>
          </p:nvSpPr>
          <p:spPr>
            <a:xfrm>
              <a:off x="0" y="951442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 a Business Development Intern, you will serve as the first point of contact for Ginger Tax, representing our values and mission while engaging with potential clients.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FRONTLINE AMBASSADOR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2492678"/>
            <a:ext cx="6886575" cy="2181860"/>
            <a:chOff x="0" y="0"/>
            <a:chExt cx="9182100" cy="290914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51442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Your primary duties include lead generation, outreach initiatives, and client onboarding support, ensuring a smooth and efficient process for new clients joining our services.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KEY RESPONSIBILITIES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33425"/>
            <a:ext cx="15516225" cy="104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30"/>
              </a:lnSpc>
              <a:spcBef>
                <a:spcPct val="0"/>
              </a:spcBef>
            </a:pPr>
            <a:r>
              <a:rPr lang="en-US" sz="7300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Business Development Intern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6886575" cy="1612850"/>
            <a:chOff x="0" y="0"/>
            <a:chExt cx="91821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 a Taxation Intern, you'll begin by reviewing client documents for accuracy.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DOCUMENT REVIEW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6886575" cy="1612850"/>
            <a:chOff x="0" y="0"/>
            <a:chExt cx="91821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Identifying potential deductions is crucial to maximizing clients' tax refunds and savings.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DEDUCTION OPTIMIZATION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6886575" cy="1612850"/>
            <a:chOff x="0" y="0"/>
            <a:chExt cx="91821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Engage in advanced tasks like RSU perquisite tax and DTAA for complex clients.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ADVANCED WORK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6886575" cy="1612850"/>
            <a:chOff x="0" y="0"/>
            <a:chExt cx="91821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You'll prepare Income Tax Returns (ITRs) ensuring compliance with current regulations.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ITR PREPARATION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6886575" cy="1612850"/>
            <a:chOff x="0" y="0"/>
            <a:chExt cx="91821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You'll reconcile various forms like Form 16, 26AS, and AIS for completeness.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FORM RECONCILIATION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7829550"/>
            <a:ext cx="6886575" cy="1612850"/>
            <a:chOff x="0" y="0"/>
            <a:chExt cx="9182100" cy="215046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Your work directly impacts clients, ensuring they receive maximum benefits from tax filings.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 FOCUS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6750" y="733425"/>
            <a:ext cx="155162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F28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Taxation Intern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747" cy="4826627"/>
            </a:xfrm>
            <a:custGeom>
              <a:avLst/>
              <a:gdLst/>
              <a:ahLst/>
              <a:cxnLst/>
              <a:rect l="l" t="t" r="r" b="b"/>
              <a:pathLst>
                <a:path w="50747" h="482662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2C14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81330" y="0"/>
            <a:ext cx="6725340" cy="10094319"/>
          </a:xfrm>
          <a:custGeom>
            <a:avLst/>
            <a:gdLst/>
            <a:ahLst/>
            <a:cxnLst/>
            <a:rect l="l" t="t" r="r" b="b"/>
            <a:pathLst>
              <a:path w="6725340" h="10094319">
                <a:moveTo>
                  <a:pt x="0" y="0"/>
                </a:moveTo>
                <a:lnTo>
                  <a:pt x="6725340" y="0"/>
                </a:lnTo>
                <a:lnTo>
                  <a:pt x="6725340" y="10094319"/>
                </a:lnTo>
                <a:lnTo>
                  <a:pt x="0" y="10094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66750" y="2457450"/>
            <a:ext cx="6886575" cy="1612850"/>
            <a:chOff x="0" y="0"/>
            <a:chExt cx="9182100" cy="2150467"/>
          </a:xfrm>
        </p:grpSpPr>
        <p:sp>
          <p:nvSpPr>
            <p:cNvPr id="7" name="TextBox 7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Focus on leads contacted per week and conversion rates for effective onboarding.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BD INTERNS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5165675"/>
            <a:ext cx="6886575" cy="1612850"/>
            <a:chOff x="0" y="0"/>
            <a:chExt cx="9182100" cy="2150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Both roles require strong teamwork to ensure smooth operations and client service delivery.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COLLABORATION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7829550"/>
            <a:ext cx="6886575" cy="1612850"/>
            <a:chOff x="0" y="0"/>
            <a:chExt cx="9182100" cy="2150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Building a career is essential; focus on gaining experience rather than just completing tasks.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CAREER DEVELOPMENT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026424" y="2457450"/>
            <a:ext cx="6886575" cy="1612850"/>
            <a:chOff x="0" y="0"/>
            <a:chExt cx="9182100" cy="21504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Accuracy rates and turnaround times are crucial for maximizing client satisfaction and efficiency.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TAXATION INTERNS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26424" y="5047160"/>
            <a:ext cx="6886575" cy="1612850"/>
            <a:chOff x="0" y="0"/>
            <a:chExt cx="9182100" cy="215046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183362"/>
              <a:ext cx="91821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It's important to learn, ask questions, and shadow experienced colleagues for growth.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182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FIRST 30 DAYS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6750" y="733425"/>
            <a:ext cx="155162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2C14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 Success KPIs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1562100"/>
            <a:ext cx="5448300" cy="4744085"/>
            <a:chOff x="0" y="0"/>
            <a:chExt cx="7264400" cy="6325447"/>
          </a:xfrm>
        </p:grpSpPr>
        <p:sp>
          <p:nvSpPr>
            <p:cNvPr id="3" name="TextBox 3"/>
            <p:cNvSpPr txBox="1"/>
            <p:nvPr/>
          </p:nvSpPr>
          <p:spPr>
            <a:xfrm>
              <a:off x="0" y="1489075"/>
              <a:ext cx="7264400" cy="483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Honesty: We are honest with clients and each other always.</a:t>
              </a:r>
            </a:p>
            <a:p>
              <a:pPr marL="561339" lvl="1" indent="-280669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Thoroughness: Every rupee saved for a client matters.</a:t>
              </a:r>
            </a:p>
            <a:p>
              <a:pPr marL="561339" lvl="1" indent="-280669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Speed: We are fast but never at the cost of accuracy.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72644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</a:pPr>
              <a:r>
                <a:rPr lang="en-US" sz="3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Core Values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89923" y="1562100"/>
            <a:ext cx="5454777" cy="5839460"/>
            <a:chOff x="0" y="0"/>
            <a:chExt cx="7273036" cy="7785947"/>
          </a:xfrm>
        </p:grpSpPr>
        <p:sp>
          <p:nvSpPr>
            <p:cNvPr id="6" name="TextBox 6"/>
            <p:cNvSpPr txBox="1"/>
            <p:nvPr/>
          </p:nvSpPr>
          <p:spPr>
            <a:xfrm>
              <a:off x="0" y="2339975"/>
              <a:ext cx="7273036" cy="5445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Kindness: Taxes are stressful; we make the experience warm.</a:t>
              </a:r>
            </a:p>
            <a:p>
              <a:pPr marL="561339" lvl="1" indent="-280669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Collaboration: Engage with your team and share knowledge.</a:t>
              </a:r>
            </a:p>
            <a:p>
              <a:pPr marL="561339" lvl="1" indent="-280669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Support: Always reach out to HR for escalations or help.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7273036" cy="164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</a:pPr>
              <a:r>
                <a:rPr lang="en-US" sz="3600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Building a Positive Environment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96128" y="0"/>
            <a:ext cx="191872" cy="10287000"/>
            <a:chOff x="0" y="0"/>
            <a:chExt cx="50534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34" cy="2709333"/>
            </a:xfrm>
            <a:custGeom>
              <a:avLst/>
              <a:gdLst/>
              <a:ahLst/>
              <a:cxnLst/>
              <a:rect l="l" t="t" r="r" b="b"/>
              <a:pathLst>
                <a:path w="50534" h="2709333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96128" y="0"/>
            <a:ext cx="191872" cy="10287000"/>
            <a:chOff x="0" y="0"/>
            <a:chExt cx="5053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4" cy="2709333"/>
            </a:xfrm>
            <a:custGeom>
              <a:avLst/>
              <a:gdLst/>
              <a:ahLst/>
              <a:cxnLst/>
              <a:rect l="l" t="t" r="r" b="b"/>
              <a:pathLst>
                <a:path w="50534" h="2709333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C14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454960" y="3564477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809625"/>
            <a:ext cx="8324850" cy="207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>
                <a:solidFill>
                  <a:srgbClr val="F2C14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Welcome to the Team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66750" y="5659120"/>
            <a:ext cx="5448300" cy="3883832"/>
            <a:chOff x="0" y="0"/>
            <a:chExt cx="7264400" cy="5178442"/>
          </a:xfrm>
        </p:grpSpPr>
        <p:sp>
          <p:nvSpPr>
            <p:cNvPr id="8" name="TextBox 8"/>
            <p:cNvSpPr txBox="1"/>
            <p:nvPr/>
          </p:nvSpPr>
          <p:spPr>
            <a:xfrm>
              <a:off x="0" y="2331493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gingertax.in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644000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WEBSITE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716226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hr@gingertax.in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28733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4F4F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EMAIL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841</Words>
  <Application>Microsoft Office PowerPoint</Application>
  <PresentationFormat>Custom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Public Sans Light</vt:lpstr>
      <vt:lpstr>League Spartan</vt:lpstr>
      <vt:lpstr>Calibri</vt:lpstr>
      <vt:lpstr>Garet Bold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Welcome</dc:title>
  <dc:description>Presentation - Welcome</dc:description>
  <cp:lastModifiedBy>JAGADISH JEEVAN SAI</cp:lastModifiedBy>
  <cp:revision>2</cp:revision>
  <dcterms:created xsi:type="dcterms:W3CDTF">2006-08-16T00:00:00Z</dcterms:created>
  <dcterms:modified xsi:type="dcterms:W3CDTF">2026-05-31T15:26:41Z</dcterms:modified>
  <dc:identifier>DAHLPZ3z9CY</dc:identifier>
</cp:coreProperties>
</file>