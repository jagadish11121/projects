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76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005840"/>
            <a:ext cx="164592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12801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411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 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Compliance, Operations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Onboarding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11480" y="2432304"/>
            <a:ext cx="47548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7860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job-ready with statutory compliance, candidate experience design,</a:t>
            </a:r>
            <a:endParaRPr lang="en-US" sz="15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onboarding &amp; full HR operations for IT recruitment teams.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663440"/>
            <a:ext cx="84124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IT Recruitment Training Program  |  Practical · Outcome-Based · Job-Ready</a:t>
            </a:r>
            <a:endParaRPr lang="en-US" sz="1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132320" y="1463040"/>
            <a:ext cx="1645920" cy="1645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Statutory Compliance Essentials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09728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4592" y="1188720"/>
            <a:ext cx="1645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4592" y="1188720"/>
            <a:ext cx="1645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" y="1188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EPF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75564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032" y="23042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Provident Fund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74320" y="2816352"/>
            <a:ext cx="1426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employer + 12% employee contribution. Mandatory for orgs with 20+ staff. Track UAN, file ECR monthly.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888236" y="1188720"/>
            <a:ext cx="1645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888236" y="1188720"/>
            <a:ext cx="1645920" cy="50292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888236" y="1188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ESI</a:t>
            </a:r>
            <a:endParaRPr lang="en-US" sz="1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2596" y="175564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79676" y="23042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State Insurance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997964" y="2816352"/>
            <a:ext cx="1426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3.25% employer + 0.75% employee. Covers medical &amp; disability. Applicable for wages ≤ ₹21,000/month.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11880" y="1188720"/>
            <a:ext cx="1645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611880" y="1188720"/>
            <a:ext cx="1645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11880" y="1188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Gratuity</a:t>
            </a:r>
            <a:endParaRPr lang="en-US" sz="16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175564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03320" y="23042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Gratuity Act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721608" y="2816352"/>
            <a:ext cx="1426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days salary × years of service. Eligible after 5 years. Calculate &amp; disclose during offer stage.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335524" y="1188720"/>
            <a:ext cx="1645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335524" y="1188720"/>
            <a:ext cx="1645920" cy="502920"/>
          </a:xfrm>
          <a:prstGeom prst="rect">
            <a:avLst/>
          </a:prstGeom>
          <a:solidFill>
            <a:srgbClr val="0D4F4F"/>
          </a:solidFill>
          <a:ln w="12700">
            <a:solidFill>
              <a:srgbClr val="0D4F4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335524" y="1188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Tax</a:t>
            </a:r>
            <a:endParaRPr lang="en-US" sz="16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9884" y="1755648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26964" y="23042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TDS &amp; Income Tax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45252" y="2816352"/>
            <a:ext cx="1426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TDS per slab. New regime default from FY25. Issue Form 16 annually. Validate PAN at onboarding.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059168" y="1188720"/>
            <a:ext cx="1645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059168" y="1188720"/>
            <a:ext cx="1645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059168" y="1188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Contracts</a:t>
            </a:r>
            <a:endParaRPr lang="en-US" sz="16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3528" y="1755648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150608" y="23042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Employment Contracts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7168896" y="2816352"/>
            <a:ext cx="1426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letter, NDA, IP clause, notice period, non-compete. Must be signed before Day 1 joining.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36576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Recruiter Action: Always validate compliance status of new hires on Day 1. Errors = legal liability for the company.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CANDIDATE</a:t>
            </a:r>
            <a:endParaRPr lang="en-US" sz="2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</a:t>
            </a:r>
            <a:endParaRPr lang="en-US" sz="2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OFFER</a:t>
            </a:r>
            <a:endParaRPr lang="en-US" sz="2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2487168"/>
            <a:ext cx="2286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6517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shapes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employer brand.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this right.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3749040"/>
            <a:ext cx="27432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749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candidates share bad CX on social media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"/>
            <a:ext cx="5440680" cy="740664"/>
          </a:xfrm>
          <a:prstGeom prst="rect">
            <a:avLst/>
          </a:prstGeom>
          <a:solidFill>
            <a:srgbClr val="F0F7FF"/>
          </a:solidFill>
          <a:ln w="635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64592"/>
            <a:ext cx="457200" cy="7406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4592"/>
            <a:ext cx="457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50208" y="21945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Feedback Loop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50208" y="5029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feedback within 48 hrs of every interview round — positive or not. Silence kills your brand.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969264"/>
            <a:ext cx="5440680" cy="740664"/>
          </a:xfrm>
          <a:prstGeom prst="rect">
            <a:avLst/>
          </a:prstGeom>
          <a:solidFill>
            <a:srgbClr val="FAFCFF"/>
          </a:solidFill>
          <a:ln w="6350">
            <a:solidFill>
              <a:srgbClr val="E2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969264"/>
            <a:ext cx="457200" cy="7406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969264"/>
            <a:ext cx="457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50208" y="102412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 Letter Checklist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50208" y="130759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breakup, joining date, role, reporting manager, probation terms. Zero ambiguity = zero dropouts.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1773936"/>
            <a:ext cx="5440680" cy="740664"/>
          </a:xfrm>
          <a:prstGeom prst="rect">
            <a:avLst/>
          </a:prstGeom>
          <a:solidFill>
            <a:srgbClr val="F0F7FF"/>
          </a:solidFill>
          <a:ln w="6350">
            <a:solidFill>
              <a:srgbClr val="E2ED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1773936"/>
            <a:ext cx="457200" cy="7406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773936"/>
            <a:ext cx="457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50208" y="18288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Verbal Offer → Written in 24hrs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50208" y="211226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offer must be followed by written offer same day or next. Delays cause ghosting.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29000" y="2578608"/>
            <a:ext cx="5440680" cy="740664"/>
          </a:xfrm>
          <a:prstGeom prst="rect">
            <a:avLst/>
          </a:prstGeom>
          <a:solidFill>
            <a:srgbClr val="FAFCFF"/>
          </a:solidFill>
          <a:ln w="6350">
            <a:solidFill>
              <a:srgbClr val="E2ED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2578608"/>
            <a:ext cx="457200" cy="7406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578608"/>
            <a:ext cx="457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50208" y="263347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Counter-Offer Handling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50208" y="291693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candidate before they resign. Role-play counter scenarios. Share joining support plan.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3383280"/>
            <a:ext cx="5440680" cy="740664"/>
          </a:xfrm>
          <a:prstGeom prst="rect">
            <a:avLst/>
          </a:prstGeom>
          <a:solidFill>
            <a:srgbClr val="F0F7FF"/>
          </a:solidFill>
          <a:ln w="6350">
            <a:solidFill>
              <a:srgbClr val="E2ED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3383280"/>
            <a:ext cx="457200" cy="7406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3383280"/>
            <a:ext cx="457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50208" y="343814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Keep-Warm Communication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50208" y="372160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touchpoints/week between offer &amp; joining. Share team intro, org news, buddy assignment.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29000" y="4187952"/>
            <a:ext cx="5440680" cy="740664"/>
          </a:xfrm>
          <a:prstGeom prst="rect">
            <a:avLst/>
          </a:prstGeom>
          <a:solidFill>
            <a:srgbClr val="FAFCFF"/>
          </a:solidFill>
          <a:ln w="6350">
            <a:solidFill>
              <a:srgbClr val="E2ED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29000" y="4187952"/>
            <a:ext cx="457200" cy="7406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4187952"/>
            <a:ext cx="457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50208" y="4242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 Acceptance Confirmation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50208" y="452628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signed acceptance digitally (DocuSign/email). Trigger BGV &amp; document collection immediately.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Designing a World-Class Onboarding Process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" y="1143000"/>
            <a:ext cx="217627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" y="11430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PRE-BOARDING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" y="1581912"/>
            <a:ext cx="21762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5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D-7 to D-1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" y="1938528"/>
            <a:ext cx="217627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73736" y="2084832"/>
            <a:ext cx="20116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" y="2011680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welcome email + schedule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73736" y="2624328"/>
            <a:ext cx="20116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8056" y="2551176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KYC documents digitally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73736" y="3163824"/>
            <a:ext cx="20116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056" y="309067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system access &amp; tools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73736" y="3703320"/>
            <a:ext cx="20116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" y="363016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onboarding buddy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73736" y="4242816"/>
            <a:ext cx="20116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8056" y="4169664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team org chart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258568" y="1143000"/>
            <a:ext cx="217627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258568" y="11430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ONE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258568" y="1581912"/>
            <a:ext cx="21762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5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258568" y="1938528"/>
            <a:ext cx="217627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386584" y="2084832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60904" y="2011680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CEO/CTO welcome video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386584" y="2624328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660904" y="2551176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equipment handover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386584" y="3163824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60904" y="309067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policy walkthrough (30 min)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386584" y="3703320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60904" y="363016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lunch/virtual introduction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386584" y="4242816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660904" y="4169664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verification check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471416" y="1143000"/>
            <a:ext cx="2176272" cy="77724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471416" y="11430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471416" y="1581912"/>
            <a:ext cx="21762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5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2–5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471416" y="1938528"/>
            <a:ext cx="217627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599432" y="2084832"/>
            <a:ext cx="201168" cy="201168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73752" y="2011680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clarity session with manager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599432" y="2624328"/>
            <a:ext cx="201168" cy="201168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73752" y="2551176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senior recruiter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599432" y="3163824"/>
            <a:ext cx="201168" cy="201168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73752" y="309067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compliance training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599432" y="3703320"/>
            <a:ext cx="201168" cy="201168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73752" y="363016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30-60-90 day goals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4599432" y="4242816"/>
            <a:ext cx="201168" cy="201168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73752" y="4169664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meeting with HR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6684264" y="1143000"/>
            <a:ext cx="217627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6684264" y="11430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RAMP-UP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6684264" y="1581912"/>
            <a:ext cx="21762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5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6–30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684264" y="1938528"/>
            <a:ext cx="217627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6812280" y="2084832"/>
            <a:ext cx="201168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086600" y="2011680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solo requisition assigned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6812280" y="2624328"/>
            <a:ext cx="201168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086600" y="2551176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1:1 with manager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6812280" y="3163824"/>
            <a:ext cx="201168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86600" y="309067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Mid-month feedback survey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6812280" y="3703320"/>
            <a:ext cx="201168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086600" y="363016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time-to-productivity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6812280" y="4242816"/>
            <a:ext cx="201168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086600" y="4169664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adjust 90-day plan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65760" y="4709160"/>
            <a:ext cx="8595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Outcome: 90-day ramp-up → Recruiter fills first position independently. Time-to-productivity tracked via weekly scorecard.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Operations for IT Recruitment Teams — 2026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4114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761488" cy="3840480"/>
          </a:xfrm>
          <a:prstGeom prst="rect">
            <a:avLst/>
          </a:prstGeom>
          <a:solidFill>
            <a:srgbClr val="1A2B5E"/>
          </a:solidFill>
          <a:ln w="635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27614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1155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115568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ATS &amp; HRMS Mastery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72768"/>
            <a:ext cx="2432304" cy="36576"/>
          </a:xfrm>
          <a:prstGeom prst="rect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" y="1755648"/>
            <a:ext cx="11887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169164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ATS (Zoho Recruit / Greenhouse) for every role — no spreadsheet tracking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" y="2505456"/>
            <a:ext cx="11887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244144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JD publishing across Naukri, LinkedIn, Indeed from one dashboard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6072" y="3255264"/>
            <a:ext cx="11887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" y="3191256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pipeline: Applied → Screened → Interviewed → Offered → Joined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76072" y="4005072"/>
            <a:ext cx="11887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3941064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time-to-fill, source-of-hire, and offer-to-join ratio weekly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392424" y="1005840"/>
            <a:ext cx="2761488" cy="3840480"/>
          </a:xfrm>
          <a:prstGeom prst="rect">
            <a:avLst/>
          </a:prstGeom>
          <a:solidFill>
            <a:srgbClr val="1A2B5E"/>
          </a:solidFill>
          <a:ln w="635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92424" y="1005840"/>
            <a:ext cx="27614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115568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014216" y="1115568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Operations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557016" y="1572768"/>
            <a:ext cx="2432304" cy="36576"/>
          </a:xfrm>
          <a:prstGeom prst="rect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57016" y="1755648"/>
            <a:ext cx="11887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739896" y="169164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BGV checklist: Identity, Education, Employment, Criminal (mandatory for IT)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557016" y="2505456"/>
            <a:ext cx="11887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739896" y="244144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statutory registers: PF, ESI, gratuity under Shops &amp; Estab Act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557016" y="3255264"/>
            <a:ext cx="11887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739896" y="3191256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retention: 7 years for payroll, 5 years for interview notes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3557016" y="4005072"/>
            <a:ext cx="11887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739896" y="3941064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annual compliance audit — Q4 is ideal before appraisal cycle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373368" y="1005840"/>
            <a:ext cx="2761488" cy="3840480"/>
          </a:xfrm>
          <a:prstGeom prst="rect">
            <a:avLst/>
          </a:prstGeom>
          <a:solidFill>
            <a:srgbClr val="1A2B5E"/>
          </a:solidFill>
          <a:ln w="635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373368" y="1005840"/>
            <a:ext cx="27614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115568"/>
            <a:ext cx="384048" cy="38404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995160" y="1115568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HR Metrics 2026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6537960" y="1572768"/>
            <a:ext cx="2432304" cy="36576"/>
          </a:xfrm>
          <a:prstGeom prst="rect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537960" y="1755648"/>
            <a:ext cx="11887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720840" y="169164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acceptance rate target: ≥ 82% (IT industry benchmark)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537960" y="2505456"/>
            <a:ext cx="11887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720840" y="2441448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 joining rate target: ≥ 88% (track weekly, fix gaps monthly)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537960" y="3255264"/>
            <a:ext cx="11887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720840" y="3191256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retention: ≥ 91% — linked to onboarding quality score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6537960" y="4005072"/>
            <a:ext cx="11887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720840" y="3941064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hire ratio: Track gender, differently-abled &amp; veteran hires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65760" y="4681728"/>
            <a:ext cx="8503920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Takeaway: Leave today knowing EPF/ESI/Gratuity basics, how to craft a killer offer, and how to run HR ops like a 2026 pro.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Office PowerPoint</Application>
  <PresentationFormat>On-screen Show (16:9)</PresentationFormat>
  <Paragraphs>102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 – HR Compliance, Operations &amp; Onboarding</dc:title>
  <dc:subject>PptxGenJS Presentation</dc:subject>
  <dc:creator>PptxGenJS</dc:creator>
  <cp:lastModifiedBy>JAGADISH JEEVAN SAI</cp:lastModifiedBy>
  <cp:revision>2</cp:revision>
  <dcterms:created xsi:type="dcterms:W3CDTF">2026-04-07T07:35:58Z</dcterms:created>
  <dcterms:modified xsi:type="dcterms:W3CDTF">2026-04-07T07:38:45Z</dcterms:modified>
</cp:coreProperties>
</file>