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6" d="100"/>
          <a:sy n="96" d="100"/>
        </p:scale>
        <p:origin x="42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657984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F59E0B"/>
          </a:solidFill>
          <a:ln w="12700">
            <a:solidFill>
              <a:srgbClr val="F59E0B"/>
            </a:solidFill>
            <a:prstDash val="solid"/>
          </a:ln>
        </p:spPr>
      </p:sp>
      <p:sp>
        <p:nvSpPr>
          <p:cNvPr id="3" name="Shape 1"/>
          <p:cNvSpPr/>
          <p:nvPr/>
        </p:nvSpPr>
        <p:spPr>
          <a:xfrm>
            <a:off x="0" y="109728"/>
            <a:ext cx="5120640" cy="5033772"/>
          </a:xfrm>
          <a:prstGeom prst="rect">
            <a:avLst/>
          </a:prstGeom>
          <a:solidFill>
            <a:srgbClr val="1C2333"/>
          </a:solidFill>
          <a:ln w="12700">
            <a:solidFill>
              <a:srgbClr val="1C2333"/>
            </a:solidFill>
            <a:prstDash val="solid"/>
          </a:ln>
        </p:spPr>
      </p:sp>
      <p:sp>
        <p:nvSpPr>
          <p:cNvPr id="4" name="Shape 2"/>
          <p:cNvSpPr/>
          <p:nvPr/>
        </p:nvSpPr>
        <p:spPr>
          <a:xfrm>
            <a:off x="5349240" y="256032"/>
            <a:ext cx="64008" cy="64008"/>
          </a:xfrm>
          <a:prstGeom prst="ellipse">
            <a:avLst/>
          </a:prstGeom>
          <a:solidFill>
            <a:srgbClr val="1E2733"/>
          </a:solidFill>
          <a:ln w="12700">
            <a:solidFill>
              <a:srgbClr val="1E2733"/>
            </a:solidFill>
            <a:prstDash val="solid"/>
          </a:ln>
        </p:spPr>
      </p:sp>
      <p:sp>
        <p:nvSpPr>
          <p:cNvPr id="5" name="Shape 3"/>
          <p:cNvSpPr/>
          <p:nvPr/>
        </p:nvSpPr>
        <p:spPr>
          <a:xfrm>
            <a:off x="5349240" y="768096"/>
            <a:ext cx="64008" cy="64008"/>
          </a:xfrm>
          <a:prstGeom prst="ellipse">
            <a:avLst/>
          </a:prstGeom>
          <a:solidFill>
            <a:srgbClr val="1E2733"/>
          </a:solidFill>
          <a:ln w="12700">
            <a:solidFill>
              <a:srgbClr val="1E2733"/>
            </a:solidFill>
            <a:prstDash val="solid"/>
          </a:ln>
        </p:spPr>
      </p:sp>
      <p:sp>
        <p:nvSpPr>
          <p:cNvPr id="6" name="Shape 4"/>
          <p:cNvSpPr/>
          <p:nvPr/>
        </p:nvSpPr>
        <p:spPr>
          <a:xfrm>
            <a:off x="5349240" y="1280160"/>
            <a:ext cx="64008" cy="64008"/>
          </a:xfrm>
          <a:prstGeom prst="ellipse">
            <a:avLst/>
          </a:prstGeom>
          <a:solidFill>
            <a:srgbClr val="1E2733"/>
          </a:solidFill>
          <a:ln w="12700">
            <a:solidFill>
              <a:srgbClr val="1E2733"/>
            </a:solidFill>
            <a:prstDash val="solid"/>
          </a:ln>
        </p:spPr>
      </p:sp>
      <p:sp>
        <p:nvSpPr>
          <p:cNvPr id="7" name="Shape 5"/>
          <p:cNvSpPr/>
          <p:nvPr/>
        </p:nvSpPr>
        <p:spPr>
          <a:xfrm>
            <a:off x="5349240" y="1792224"/>
            <a:ext cx="64008" cy="64008"/>
          </a:xfrm>
          <a:prstGeom prst="ellipse">
            <a:avLst/>
          </a:prstGeom>
          <a:solidFill>
            <a:srgbClr val="1E2733"/>
          </a:solidFill>
          <a:ln w="12700">
            <a:solidFill>
              <a:srgbClr val="1E2733"/>
            </a:solidFill>
            <a:prstDash val="solid"/>
          </a:ln>
        </p:spPr>
      </p:sp>
      <p:sp>
        <p:nvSpPr>
          <p:cNvPr id="8" name="Shape 6"/>
          <p:cNvSpPr/>
          <p:nvPr/>
        </p:nvSpPr>
        <p:spPr>
          <a:xfrm>
            <a:off x="5349240" y="2304288"/>
            <a:ext cx="64008" cy="64008"/>
          </a:xfrm>
          <a:prstGeom prst="ellipse">
            <a:avLst/>
          </a:prstGeom>
          <a:solidFill>
            <a:srgbClr val="1E2733"/>
          </a:solidFill>
          <a:ln w="12700">
            <a:solidFill>
              <a:srgbClr val="1E2733"/>
            </a:solidFill>
            <a:prstDash val="solid"/>
          </a:ln>
        </p:spPr>
      </p:sp>
      <p:sp>
        <p:nvSpPr>
          <p:cNvPr id="9" name="Shape 7"/>
          <p:cNvSpPr/>
          <p:nvPr/>
        </p:nvSpPr>
        <p:spPr>
          <a:xfrm>
            <a:off x="5349240" y="2816352"/>
            <a:ext cx="64008" cy="64008"/>
          </a:xfrm>
          <a:prstGeom prst="ellipse">
            <a:avLst/>
          </a:prstGeom>
          <a:solidFill>
            <a:srgbClr val="1E2733"/>
          </a:solidFill>
          <a:ln w="12700">
            <a:solidFill>
              <a:srgbClr val="1E2733"/>
            </a:solidFill>
            <a:prstDash val="solid"/>
          </a:ln>
        </p:spPr>
      </p:sp>
      <p:sp>
        <p:nvSpPr>
          <p:cNvPr id="10" name="Shape 8"/>
          <p:cNvSpPr/>
          <p:nvPr/>
        </p:nvSpPr>
        <p:spPr>
          <a:xfrm>
            <a:off x="5349240" y="3328416"/>
            <a:ext cx="64008" cy="64008"/>
          </a:xfrm>
          <a:prstGeom prst="ellipse">
            <a:avLst/>
          </a:prstGeom>
          <a:solidFill>
            <a:srgbClr val="1E2733"/>
          </a:solidFill>
          <a:ln w="12700">
            <a:solidFill>
              <a:srgbClr val="1E2733"/>
            </a:solidFill>
            <a:prstDash val="solid"/>
          </a:ln>
        </p:spPr>
      </p:sp>
      <p:sp>
        <p:nvSpPr>
          <p:cNvPr id="11" name="Shape 9"/>
          <p:cNvSpPr/>
          <p:nvPr/>
        </p:nvSpPr>
        <p:spPr>
          <a:xfrm>
            <a:off x="5349240" y="3840480"/>
            <a:ext cx="64008" cy="64008"/>
          </a:xfrm>
          <a:prstGeom prst="ellipse">
            <a:avLst/>
          </a:prstGeom>
          <a:solidFill>
            <a:srgbClr val="1E2733"/>
          </a:solidFill>
          <a:ln w="12700">
            <a:solidFill>
              <a:srgbClr val="1E2733"/>
            </a:solidFill>
            <a:prstDash val="solid"/>
          </a:ln>
        </p:spPr>
      </p:sp>
      <p:sp>
        <p:nvSpPr>
          <p:cNvPr id="12" name="Shape 10"/>
          <p:cNvSpPr/>
          <p:nvPr/>
        </p:nvSpPr>
        <p:spPr>
          <a:xfrm>
            <a:off x="5349240" y="4352544"/>
            <a:ext cx="64008" cy="64008"/>
          </a:xfrm>
          <a:prstGeom prst="ellipse">
            <a:avLst/>
          </a:prstGeom>
          <a:solidFill>
            <a:srgbClr val="1E2733"/>
          </a:solidFill>
          <a:ln w="12700">
            <a:solidFill>
              <a:srgbClr val="1E2733"/>
            </a:solidFill>
            <a:prstDash val="solid"/>
          </a:ln>
        </p:spPr>
      </p:sp>
      <p:sp>
        <p:nvSpPr>
          <p:cNvPr id="13" name="Shape 11"/>
          <p:cNvSpPr/>
          <p:nvPr/>
        </p:nvSpPr>
        <p:spPr>
          <a:xfrm>
            <a:off x="5861304" y="256032"/>
            <a:ext cx="64008" cy="64008"/>
          </a:xfrm>
          <a:prstGeom prst="ellipse">
            <a:avLst/>
          </a:prstGeom>
          <a:solidFill>
            <a:srgbClr val="1E2733"/>
          </a:solidFill>
          <a:ln w="12700">
            <a:solidFill>
              <a:srgbClr val="1E2733"/>
            </a:solidFill>
            <a:prstDash val="solid"/>
          </a:ln>
        </p:spPr>
      </p:sp>
      <p:sp>
        <p:nvSpPr>
          <p:cNvPr id="14" name="Shape 12"/>
          <p:cNvSpPr/>
          <p:nvPr/>
        </p:nvSpPr>
        <p:spPr>
          <a:xfrm>
            <a:off x="5861304" y="768096"/>
            <a:ext cx="64008" cy="64008"/>
          </a:xfrm>
          <a:prstGeom prst="ellipse">
            <a:avLst/>
          </a:prstGeom>
          <a:solidFill>
            <a:srgbClr val="1E2733"/>
          </a:solidFill>
          <a:ln w="12700">
            <a:solidFill>
              <a:srgbClr val="1E2733"/>
            </a:solidFill>
            <a:prstDash val="solid"/>
          </a:ln>
        </p:spPr>
      </p:sp>
      <p:sp>
        <p:nvSpPr>
          <p:cNvPr id="15" name="Shape 13"/>
          <p:cNvSpPr/>
          <p:nvPr/>
        </p:nvSpPr>
        <p:spPr>
          <a:xfrm>
            <a:off x="5861304" y="1280160"/>
            <a:ext cx="64008" cy="64008"/>
          </a:xfrm>
          <a:prstGeom prst="ellipse">
            <a:avLst/>
          </a:prstGeom>
          <a:solidFill>
            <a:srgbClr val="1E2733"/>
          </a:solidFill>
          <a:ln w="12700">
            <a:solidFill>
              <a:srgbClr val="1E2733"/>
            </a:solidFill>
            <a:prstDash val="solid"/>
          </a:ln>
        </p:spPr>
      </p:sp>
      <p:sp>
        <p:nvSpPr>
          <p:cNvPr id="16" name="Shape 14"/>
          <p:cNvSpPr/>
          <p:nvPr/>
        </p:nvSpPr>
        <p:spPr>
          <a:xfrm>
            <a:off x="5861304" y="1792224"/>
            <a:ext cx="64008" cy="64008"/>
          </a:xfrm>
          <a:prstGeom prst="ellipse">
            <a:avLst/>
          </a:prstGeom>
          <a:solidFill>
            <a:srgbClr val="1E2733"/>
          </a:solidFill>
          <a:ln w="12700">
            <a:solidFill>
              <a:srgbClr val="1E2733"/>
            </a:solidFill>
            <a:prstDash val="solid"/>
          </a:ln>
        </p:spPr>
      </p:sp>
      <p:sp>
        <p:nvSpPr>
          <p:cNvPr id="17" name="Shape 15"/>
          <p:cNvSpPr/>
          <p:nvPr/>
        </p:nvSpPr>
        <p:spPr>
          <a:xfrm>
            <a:off x="5861304" y="2304288"/>
            <a:ext cx="64008" cy="64008"/>
          </a:xfrm>
          <a:prstGeom prst="ellipse">
            <a:avLst/>
          </a:prstGeom>
          <a:solidFill>
            <a:srgbClr val="1E2733"/>
          </a:solidFill>
          <a:ln w="12700">
            <a:solidFill>
              <a:srgbClr val="1E2733"/>
            </a:solidFill>
            <a:prstDash val="solid"/>
          </a:ln>
        </p:spPr>
      </p:sp>
      <p:sp>
        <p:nvSpPr>
          <p:cNvPr id="18" name="Shape 16"/>
          <p:cNvSpPr/>
          <p:nvPr/>
        </p:nvSpPr>
        <p:spPr>
          <a:xfrm>
            <a:off x="5861304" y="2816352"/>
            <a:ext cx="64008" cy="64008"/>
          </a:xfrm>
          <a:prstGeom prst="ellipse">
            <a:avLst/>
          </a:prstGeom>
          <a:solidFill>
            <a:srgbClr val="1E2733"/>
          </a:solidFill>
          <a:ln w="12700">
            <a:solidFill>
              <a:srgbClr val="1E2733"/>
            </a:solidFill>
            <a:prstDash val="solid"/>
          </a:ln>
        </p:spPr>
      </p:sp>
      <p:sp>
        <p:nvSpPr>
          <p:cNvPr id="19" name="Shape 17"/>
          <p:cNvSpPr/>
          <p:nvPr/>
        </p:nvSpPr>
        <p:spPr>
          <a:xfrm>
            <a:off x="5861304" y="3328416"/>
            <a:ext cx="64008" cy="64008"/>
          </a:xfrm>
          <a:prstGeom prst="ellipse">
            <a:avLst/>
          </a:prstGeom>
          <a:solidFill>
            <a:srgbClr val="1E2733"/>
          </a:solidFill>
          <a:ln w="12700">
            <a:solidFill>
              <a:srgbClr val="1E2733"/>
            </a:solidFill>
            <a:prstDash val="solid"/>
          </a:ln>
        </p:spPr>
      </p:sp>
      <p:sp>
        <p:nvSpPr>
          <p:cNvPr id="20" name="Shape 18"/>
          <p:cNvSpPr/>
          <p:nvPr/>
        </p:nvSpPr>
        <p:spPr>
          <a:xfrm>
            <a:off x="5861304" y="3840480"/>
            <a:ext cx="64008" cy="64008"/>
          </a:xfrm>
          <a:prstGeom prst="ellipse">
            <a:avLst/>
          </a:prstGeom>
          <a:solidFill>
            <a:srgbClr val="1E2733"/>
          </a:solidFill>
          <a:ln w="12700">
            <a:solidFill>
              <a:srgbClr val="1E2733"/>
            </a:solidFill>
            <a:prstDash val="solid"/>
          </a:ln>
        </p:spPr>
      </p:sp>
      <p:sp>
        <p:nvSpPr>
          <p:cNvPr id="21" name="Shape 19"/>
          <p:cNvSpPr/>
          <p:nvPr/>
        </p:nvSpPr>
        <p:spPr>
          <a:xfrm>
            <a:off x="5861304" y="4352544"/>
            <a:ext cx="64008" cy="64008"/>
          </a:xfrm>
          <a:prstGeom prst="ellipse">
            <a:avLst/>
          </a:prstGeom>
          <a:solidFill>
            <a:srgbClr val="1E2733"/>
          </a:solidFill>
          <a:ln w="12700">
            <a:solidFill>
              <a:srgbClr val="1E2733"/>
            </a:solidFill>
            <a:prstDash val="solid"/>
          </a:ln>
        </p:spPr>
      </p:sp>
      <p:sp>
        <p:nvSpPr>
          <p:cNvPr id="22" name="Shape 20"/>
          <p:cNvSpPr/>
          <p:nvPr/>
        </p:nvSpPr>
        <p:spPr>
          <a:xfrm>
            <a:off x="6373368" y="256032"/>
            <a:ext cx="64008" cy="64008"/>
          </a:xfrm>
          <a:prstGeom prst="ellipse">
            <a:avLst/>
          </a:prstGeom>
          <a:solidFill>
            <a:srgbClr val="1E2733"/>
          </a:solidFill>
          <a:ln w="12700">
            <a:solidFill>
              <a:srgbClr val="1E2733"/>
            </a:solidFill>
            <a:prstDash val="solid"/>
          </a:ln>
        </p:spPr>
      </p:sp>
      <p:sp>
        <p:nvSpPr>
          <p:cNvPr id="23" name="Shape 21"/>
          <p:cNvSpPr/>
          <p:nvPr/>
        </p:nvSpPr>
        <p:spPr>
          <a:xfrm>
            <a:off x="6373368" y="768096"/>
            <a:ext cx="64008" cy="64008"/>
          </a:xfrm>
          <a:prstGeom prst="ellipse">
            <a:avLst/>
          </a:prstGeom>
          <a:solidFill>
            <a:srgbClr val="1E2733"/>
          </a:solidFill>
          <a:ln w="12700">
            <a:solidFill>
              <a:srgbClr val="1E2733"/>
            </a:solidFill>
            <a:prstDash val="solid"/>
          </a:ln>
        </p:spPr>
      </p:sp>
      <p:sp>
        <p:nvSpPr>
          <p:cNvPr id="24" name="Shape 22"/>
          <p:cNvSpPr/>
          <p:nvPr/>
        </p:nvSpPr>
        <p:spPr>
          <a:xfrm>
            <a:off x="6373368" y="1280160"/>
            <a:ext cx="64008" cy="64008"/>
          </a:xfrm>
          <a:prstGeom prst="ellipse">
            <a:avLst/>
          </a:prstGeom>
          <a:solidFill>
            <a:srgbClr val="1E2733"/>
          </a:solidFill>
          <a:ln w="12700">
            <a:solidFill>
              <a:srgbClr val="1E2733"/>
            </a:solidFill>
            <a:prstDash val="solid"/>
          </a:ln>
        </p:spPr>
      </p:sp>
      <p:sp>
        <p:nvSpPr>
          <p:cNvPr id="25" name="Shape 23"/>
          <p:cNvSpPr/>
          <p:nvPr/>
        </p:nvSpPr>
        <p:spPr>
          <a:xfrm>
            <a:off x="6373368" y="1792224"/>
            <a:ext cx="64008" cy="64008"/>
          </a:xfrm>
          <a:prstGeom prst="ellipse">
            <a:avLst/>
          </a:prstGeom>
          <a:solidFill>
            <a:srgbClr val="1E2733"/>
          </a:solidFill>
          <a:ln w="12700">
            <a:solidFill>
              <a:srgbClr val="1E2733"/>
            </a:solidFill>
            <a:prstDash val="solid"/>
          </a:ln>
        </p:spPr>
      </p:sp>
      <p:sp>
        <p:nvSpPr>
          <p:cNvPr id="26" name="Shape 24"/>
          <p:cNvSpPr/>
          <p:nvPr/>
        </p:nvSpPr>
        <p:spPr>
          <a:xfrm>
            <a:off x="6373368" y="2304288"/>
            <a:ext cx="64008" cy="64008"/>
          </a:xfrm>
          <a:prstGeom prst="ellipse">
            <a:avLst/>
          </a:prstGeom>
          <a:solidFill>
            <a:srgbClr val="1E2733"/>
          </a:solidFill>
          <a:ln w="12700">
            <a:solidFill>
              <a:srgbClr val="1E2733"/>
            </a:solidFill>
            <a:prstDash val="solid"/>
          </a:ln>
        </p:spPr>
      </p:sp>
      <p:sp>
        <p:nvSpPr>
          <p:cNvPr id="27" name="Shape 25"/>
          <p:cNvSpPr/>
          <p:nvPr/>
        </p:nvSpPr>
        <p:spPr>
          <a:xfrm>
            <a:off x="6373368" y="2816352"/>
            <a:ext cx="64008" cy="64008"/>
          </a:xfrm>
          <a:prstGeom prst="ellipse">
            <a:avLst/>
          </a:prstGeom>
          <a:solidFill>
            <a:srgbClr val="1E2733"/>
          </a:solidFill>
          <a:ln w="12700">
            <a:solidFill>
              <a:srgbClr val="1E2733"/>
            </a:solidFill>
            <a:prstDash val="solid"/>
          </a:ln>
        </p:spPr>
      </p:sp>
      <p:sp>
        <p:nvSpPr>
          <p:cNvPr id="28" name="Shape 26"/>
          <p:cNvSpPr/>
          <p:nvPr/>
        </p:nvSpPr>
        <p:spPr>
          <a:xfrm>
            <a:off x="6373368" y="3328416"/>
            <a:ext cx="64008" cy="64008"/>
          </a:xfrm>
          <a:prstGeom prst="ellipse">
            <a:avLst/>
          </a:prstGeom>
          <a:solidFill>
            <a:srgbClr val="1E2733"/>
          </a:solidFill>
          <a:ln w="12700">
            <a:solidFill>
              <a:srgbClr val="1E2733"/>
            </a:solidFill>
            <a:prstDash val="solid"/>
          </a:ln>
        </p:spPr>
      </p:sp>
      <p:sp>
        <p:nvSpPr>
          <p:cNvPr id="29" name="Shape 27"/>
          <p:cNvSpPr/>
          <p:nvPr/>
        </p:nvSpPr>
        <p:spPr>
          <a:xfrm>
            <a:off x="6373368" y="3840480"/>
            <a:ext cx="64008" cy="64008"/>
          </a:xfrm>
          <a:prstGeom prst="ellipse">
            <a:avLst/>
          </a:prstGeom>
          <a:solidFill>
            <a:srgbClr val="1E2733"/>
          </a:solidFill>
          <a:ln w="12700">
            <a:solidFill>
              <a:srgbClr val="1E2733"/>
            </a:solidFill>
            <a:prstDash val="solid"/>
          </a:ln>
        </p:spPr>
      </p:sp>
      <p:sp>
        <p:nvSpPr>
          <p:cNvPr id="30" name="Shape 28"/>
          <p:cNvSpPr/>
          <p:nvPr/>
        </p:nvSpPr>
        <p:spPr>
          <a:xfrm>
            <a:off x="6373368" y="4352544"/>
            <a:ext cx="64008" cy="64008"/>
          </a:xfrm>
          <a:prstGeom prst="ellipse">
            <a:avLst/>
          </a:prstGeom>
          <a:solidFill>
            <a:srgbClr val="1E2733"/>
          </a:solidFill>
          <a:ln w="12700">
            <a:solidFill>
              <a:srgbClr val="1E2733"/>
            </a:solidFill>
            <a:prstDash val="solid"/>
          </a:ln>
        </p:spPr>
      </p:sp>
      <p:sp>
        <p:nvSpPr>
          <p:cNvPr id="31" name="Shape 29"/>
          <p:cNvSpPr/>
          <p:nvPr/>
        </p:nvSpPr>
        <p:spPr>
          <a:xfrm>
            <a:off x="6885432" y="256032"/>
            <a:ext cx="64008" cy="64008"/>
          </a:xfrm>
          <a:prstGeom prst="ellipse">
            <a:avLst/>
          </a:prstGeom>
          <a:solidFill>
            <a:srgbClr val="1E2733"/>
          </a:solidFill>
          <a:ln w="12700">
            <a:solidFill>
              <a:srgbClr val="1E2733"/>
            </a:solidFill>
            <a:prstDash val="solid"/>
          </a:ln>
        </p:spPr>
      </p:sp>
      <p:sp>
        <p:nvSpPr>
          <p:cNvPr id="32" name="Shape 30"/>
          <p:cNvSpPr/>
          <p:nvPr/>
        </p:nvSpPr>
        <p:spPr>
          <a:xfrm>
            <a:off x="6885432" y="768096"/>
            <a:ext cx="64008" cy="64008"/>
          </a:xfrm>
          <a:prstGeom prst="ellipse">
            <a:avLst/>
          </a:prstGeom>
          <a:solidFill>
            <a:srgbClr val="1E2733"/>
          </a:solidFill>
          <a:ln w="12700">
            <a:solidFill>
              <a:srgbClr val="1E2733"/>
            </a:solidFill>
            <a:prstDash val="solid"/>
          </a:ln>
        </p:spPr>
      </p:sp>
      <p:sp>
        <p:nvSpPr>
          <p:cNvPr id="33" name="Shape 31"/>
          <p:cNvSpPr/>
          <p:nvPr/>
        </p:nvSpPr>
        <p:spPr>
          <a:xfrm>
            <a:off x="6885432" y="1280160"/>
            <a:ext cx="64008" cy="64008"/>
          </a:xfrm>
          <a:prstGeom prst="ellipse">
            <a:avLst/>
          </a:prstGeom>
          <a:solidFill>
            <a:srgbClr val="1E2733"/>
          </a:solidFill>
          <a:ln w="12700">
            <a:solidFill>
              <a:srgbClr val="1E2733"/>
            </a:solidFill>
            <a:prstDash val="solid"/>
          </a:ln>
        </p:spPr>
      </p:sp>
      <p:sp>
        <p:nvSpPr>
          <p:cNvPr id="34" name="Shape 32"/>
          <p:cNvSpPr/>
          <p:nvPr/>
        </p:nvSpPr>
        <p:spPr>
          <a:xfrm>
            <a:off x="6885432" y="1792224"/>
            <a:ext cx="64008" cy="64008"/>
          </a:xfrm>
          <a:prstGeom prst="ellipse">
            <a:avLst/>
          </a:prstGeom>
          <a:solidFill>
            <a:srgbClr val="1E2733"/>
          </a:solidFill>
          <a:ln w="12700">
            <a:solidFill>
              <a:srgbClr val="1E2733"/>
            </a:solidFill>
            <a:prstDash val="solid"/>
          </a:ln>
        </p:spPr>
      </p:sp>
      <p:sp>
        <p:nvSpPr>
          <p:cNvPr id="35" name="Shape 33"/>
          <p:cNvSpPr/>
          <p:nvPr/>
        </p:nvSpPr>
        <p:spPr>
          <a:xfrm>
            <a:off x="6885432" y="2304288"/>
            <a:ext cx="64008" cy="64008"/>
          </a:xfrm>
          <a:prstGeom prst="ellipse">
            <a:avLst/>
          </a:prstGeom>
          <a:solidFill>
            <a:srgbClr val="1E2733"/>
          </a:solidFill>
          <a:ln w="12700">
            <a:solidFill>
              <a:srgbClr val="1E2733"/>
            </a:solidFill>
            <a:prstDash val="solid"/>
          </a:ln>
        </p:spPr>
      </p:sp>
      <p:sp>
        <p:nvSpPr>
          <p:cNvPr id="36" name="Shape 34"/>
          <p:cNvSpPr/>
          <p:nvPr/>
        </p:nvSpPr>
        <p:spPr>
          <a:xfrm>
            <a:off x="6885432" y="2816352"/>
            <a:ext cx="64008" cy="64008"/>
          </a:xfrm>
          <a:prstGeom prst="ellipse">
            <a:avLst/>
          </a:prstGeom>
          <a:solidFill>
            <a:srgbClr val="1E2733"/>
          </a:solidFill>
          <a:ln w="12700">
            <a:solidFill>
              <a:srgbClr val="1E2733"/>
            </a:solidFill>
            <a:prstDash val="solid"/>
          </a:ln>
        </p:spPr>
      </p:sp>
      <p:sp>
        <p:nvSpPr>
          <p:cNvPr id="37" name="Shape 35"/>
          <p:cNvSpPr/>
          <p:nvPr/>
        </p:nvSpPr>
        <p:spPr>
          <a:xfrm>
            <a:off x="6885432" y="3328416"/>
            <a:ext cx="64008" cy="64008"/>
          </a:xfrm>
          <a:prstGeom prst="ellipse">
            <a:avLst/>
          </a:prstGeom>
          <a:solidFill>
            <a:srgbClr val="1E2733"/>
          </a:solidFill>
          <a:ln w="12700">
            <a:solidFill>
              <a:srgbClr val="1E2733"/>
            </a:solidFill>
            <a:prstDash val="solid"/>
          </a:ln>
        </p:spPr>
      </p:sp>
      <p:sp>
        <p:nvSpPr>
          <p:cNvPr id="38" name="Shape 36"/>
          <p:cNvSpPr/>
          <p:nvPr/>
        </p:nvSpPr>
        <p:spPr>
          <a:xfrm>
            <a:off x="6885432" y="3840480"/>
            <a:ext cx="64008" cy="64008"/>
          </a:xfrm>
          <a:prstGeom prst="ellipse">
            <a:avLst/>
          </a:prstGeom>
          <a:solidFill>
            <a:srgbClr val="1E2733"/>
          </a:solidFill>
          <a:ln w="12700">
            <a:solidFill>
              <a:srgbClr val="1E2733"/>
            </a:solidFill>
            <a:prstDash val="solid"/>
          </a:ln>
        </p:spPr>
      </p:sp>
      <p:sp>
        <p:nvSpPr>
          <p:cNvPr id="39" name="Shape 37"/>
          <p:cNvSpPr/>
          <p:nvPr/>
        </p:nvSpPr>
        <p:spPr>
          <a:xfrm>
            <a:off x="6885432" y="4352544"/>
            <a:ext cx="64008" cy="64008"/>
          </a:xfrm>
          <a:prstGeom prst="ellipse">
            <a:avLst/>
          </a:prstGeom>
          <a:solidFill>
            <a:srgbClr val="1E2733"/>
          </a:solidFill>
          <a:ln w="12700">
            <a:solidFill>
              <a:srgbClr val="1E2733"/>
            </a:solidFill>
            <a:prstDash val="solid"/>
          </a:ln>
        </p:spPr>
      </p:sp>
      <p:sp>
        <p:nvSpPr>
          <p:cNvPr id="40" name="Shape 38"/>
          <p:cNvSpPr/>
          <p:nvPr/>
        </p:nvSpPr>
        <p:spPr>
          <a:xfrm>
            <a:off x="7397496" y="256032"/>
            <a:ext cx="64008" cy="64008"/>
          </a:xfrm>
          <a:prstGeom prst="ellipse">
            <a:avLst/>
          </a:prstGeom>
          <a:solidFill>
            <a:srgbClr val="1E2733"/>
          </a:solidFill>
          <a:ln w="12700">
            <a:solidFill>
              <a:srgbClr val="1E2733"/>
            </a:solidFill>
            <a:prstDash val="solid"/>
          </a:ln>
        </p:spPr>
      </p:sp>
      <p:sp>
        <p:nvSpPr>
          <p:cNvPr id="41" name="Shape 39"/>
          <p:cNvSpPr/>
          <p:nvPr/>
        </p:nvSpPr>
        <p:spPr>
          <a:xfrm>
            <a:off x="7397496" y="768096"/>
            <a:ext cx="64008" cy="64008"/>
          </a:xfrm>
          <a:prstGeom prst="ellipse">
            <a:avLst/>
          </a:prstGeom>
          <a:solidFill>
            <a:srgbClr val="1E2733"/>
          </a:solidFill>
          <a:ln w="12700">
            <a:solidFill>
              <a:srgbClr val="1E2733"/>
            </a:solidFill>
            <a:prstDash val="solid"/>
          </a:ln>
        </p:spPr>
      </p:sp>
      <p:sp>
        <p:nvSpPr>
          <p:cNvPr id="42" name="Shape 40"/>
          <p:cNvSpPr/>
          <p:nvPr/>
        </p:nvSpPr>
        <p:spPr>
          <a:xfrm>
            <a:off x="7397496" y="1280160"/>
            <a:ext cx="64008" cy="64008"/>
          </a:xfrm>
          <a:prstGeom prst="ellipse">
            <a:avLst/>
          </a:prstGeom>
          <a:solidFill>
            <a:srgbClr val="1E2733"/>
          </a:solidFill>
          <a:ln w="12700">
            <a:solidFill>
              <a:srgbClr val="1E2733"/>
            </a:solidFill>
            <a:prstDash val="solid"/>
          </a:ln>
        </p:spPr>
      </p:sp>
      <p:sp>
        <p:nvSpPr>
          <p:cNvPr id="43" name="Shape 41"/>
          <p:cNvSpPr/>
          <p:nvPr/>
        </p:nvSpPr>
        <p:spPr>
          <a:xfrm>
            <a:off x="7397496" y="1792224"/>
            <a:ext cx="64008" cy="64008"/>
          </a:xfrm>
          <a:prstGeom prst="ellipse">
            <a:avLst/>
          </a:prstGeom>
          <a:solidFill>
            <a:srgbClr val="1E2733"/>
          </a:solidFill>
          <a:ln w="12700">
            <a:solidFill>
              <a:srgbClr val="1E2733"/>
            </a:solidFill>
            <a:prstDash val="solid"/>
          </a:ln>
        </p:spPr>
      </p:sp>
      <p:sp>
        <p:nvSpPr>
          <p:cNvPr id="44" name="Shape 42"/>
          <p:cNvSpPr/>
          <p:nvPr/>
        </p:nvSpPr>
        <p:spPr>
          <a:xfrm>
            <a:off x="7397496" y="2304288"/>
            <a:ext cx="64008" cy="64008"/>
          </a:xfrm>
          <a:prstGeom prst="ellipse">
            <a:avLst/>
          </a:prstGeom>
          <a:solidFill>
            <a:srgbClr val="1E2733"/>
          </a:solidFill>
          <a:ln w="12700">
            <a:solidFill>
              <a:srgbClr val="1E2733"/>
            </a:solidFill>
            <a:prstDash val="solid"/>
          </a:ln>
        </p:spPr>
      </p:sp>
      <p:sp>
        <p:nvSpPr>
          <p:cNvPr id="45" name="Shape 43"/>
          <p:cNvSpPr/>
          <p:nvPr/>
        </p:nvSpPr>
        <p:spPr>
          <a:xfrm>
            <a:off x="7397496" y="2816352"/>
            <a:ext cx="64008" cy="64008"/>
          </a:xfrm>
          <a:prstGeom prst="ellipse">
            <a:avLst/>
          </a:prstGeom>
          <a:solidFill>
            <a:srgbClr val="1E2733"/>
          </a:solidFill>
          <a:ln w="12700">
            <a:solidFill>
              <a:srgbClr val="1E2733"/>
            </a:solidFill>
            <a:prstDash val="solid"/>
          </a:ln>
        </p:spPr>
      </p:sp>
      <p:sp>
        <p:nvSpPr>
          <p:cNvPr id="46" name="Shape 44"/>
          <p:cNvSpPr/>
          <p:nvPr/>
        </p:nvSpPr>
        <p:spPr>
          <a:xfrm>
            <a:off x="7397496" y="3328416"/>
            <a:ext cx="64008" cy="64008"/>
          </a:xfrm>
          <a:prstGeom prst="ellipse">
            <a:avLst/>
          </a:prstGeom>
          <a:solidFill>
            <a:srgbClr val="1E2733"/>
          </a:solidFill>
          <a:ln w="12700">
            <a:solidFill>
              <a:srgbClr val="1E2733"/>
            </a:solidFill>
            <a:prstDash val="solid"/>
          </a:ln>
        </p:spPr>
      </p:sp>
      <p:sp>
        <p:nvSpPr>
          <p:cNvPr id="47" name="Shape 45"/>
          <p:cNvSpPr/>
          <p:nvPr/>
        </p:nvSpPr>
        <p:spPr>
          <a:xfrm>
            <a:off x="7397496" y="3840480"/>
            <a:ext cx="64008" cy="64008"/>
          </a:xfrm>
          <a:prstGeom prst="ellipse">
            <a:avLst/>
          </a:prstGeom>
          <a:solidFill>
            <a:srgbClr val="1E2733"/>
          </a:solidFill>
          <a:ln w="12700">
            <a:solidFill>
              <a:srgbClr val="1E2733"/>
            </a:solidFill>
            <a:prstDash val="solid"/>
          </a:ln>
        </p:spPr>
      </p:sp>
      <p:sp>
        <p:nvSpPr>
          <p:cNvPr id="48" name="Shape 46"/>
          <p:cNvSpPr/>
          <p:nvPr/>
        </p:nvSpPr>
        <p:spPr>
          <a:xfrm>
            <a:off x="7397496" y="4352544"/>
            <a:ext cx="64008" cy="64008"/>
          </a:xfrm>
          <a:prstGeom prst="ellipse">
            <a:avLst/>
          </a:prstGeom>
          <a:solidFill>
            <a:srgbClr val="1E2733"/>
          </a:solidFill>
          <a:ln w="12700">
            <a:solidFill>
              <a:srgbClr val="1E2733"/>
            </a:solidFill>
            <a:prstDash val="solid"/>
          </a:ln>
        </p:spPr>
      </p:sp>
      <p:sp>
        <p:nvSpPr>
          <p:cNvPr id="49" name="Shape 47"/>
          <p:cNvSpPr/>
          <p:nvPr/>
        </p:nvSpPr>
        <p:spPr>
          <a:xfrm>
            <a:off x="7909560" y="256032"/>
            <a:ext cx="64008" cy="64008"/>
          </a:xfrm>
          <a:prstGeom prst="ellipse">
            <a:avLst/>
          </a:prstGeom>
          <a:solidFill>
            <a:srgbClr val="1E2733"/>
          </a:solidFill>
          <a:ln w="12700">
            <a:solidFill>
              <a:srgbClr val="1E2733"/>
            </a:solidFill>
            <a:prstDash val="solid"/>
          </a:ln>
        </p:spPr>
      </p:sp>
      <p:sp>
        <p:nvSpPr>
          <p:cNvPr id="50" name="Shape 48"/>
          <p:cNvSpPr/>
          <p:nvPr/>
        </p:nvSpPr>
        <p:spPr>
          <a:xfrm>
            <a:off x="7909560" y="768096"/>
            <a:ext cx="64008" cy="64008"/>
          </a:xfrm>
          <a:prstGeom prst="ellipse">
            <a:avLst/>
          </a:prstGeom>
          <a:solidFill>
            <a:srgbClr val="1E2733"/>
          </a:solidFill>
          <a:ln w="12700">
            <a:solidFill>
              <a:srgbClr val="1E2733"/>
            </a:solidFill>
            <a:prstDash val="solid"/>
          </a:ln>
        </p:spPr>
      </p:sp>
      <p:sp>
        <p:nvSpPr>
          <p:cNvPr id="51" name="Shape 49"/>
          <p:cNvSpPr/>
          <p:nvPr/>
        </p:nvSpPr>
        <p:spPr>
          <a:xfrm>
            <a:off x="7909560" y="1280160"/>
            <a:ext cx="64008" cy="64008"/>
          </a:xfrm>
          <a:prstGeom prst="ellipse">
            <a:avLst/>
          </a:prstGeom>
          <a:solidFill>
            <a:srgbClr val="1E2733"/>
          </a:solidFill>
          <a:ln w="12700">
            <a:solidFill>
              <a:srgbClr val="1E2733"/>
            </a:solidFill>
            <a:prstDash val="solid"/>
          </a:ln>
        </p:spPr>
      </p:sp>
      <p:sp>
        <p:nvSpPr>
          <p:cNvPr id="52" name="Shape 50"/>
          <p:cNvSpPr/>
          <p:nvPr/>
        </p:nvSpPr>
        <p:spPr>
          <a:xfrm>
            <a:off x="7909560" y="1792224"/>
            <a:ext cx="64008" cy="64008"/>
          </a:xfrm>
          <a:prstGeom prst="ellipse">
            <a:avLst/>
          </a:prstGeom>
          <a:solidFill>
            <a:srgbClr val="1E2733"/>
          </a:solidFill>
          <a:ln w="12700">
            <a:solidFill>
              <a:srgbClr val="1E2733"/>
            </a:solidFill>
            <a:prstDash val="solid"/>
          </a:ln>
        </p:spPr>
      </p:sp>
      <p:sp>
        <p:nvSpPr>
          <p:cNvPr id="53" name="Shape 51"/>
          <p:cNvSpPr/>
          <p:nvPr/>
        </p:nvSpPr>
        <p:spPr>
          <a:xfrm>
            <a:off x="7909560" y="2304288"/>
            <a:ext cx="64008" cy="64008"/>
          </a:xfrm>
          <a:prstGeom prst="ellipse">
            <a:avLst/>
          </a:prstGeom>
          <a:solidFill>
            <a:srgbClr val="1E2733"/>
          </a:solidFill>
          <a:ln w="12700">
            <a:solidFill>
              <a:srgbClr val="1E2733"/>
            </a:solidFill>
            <a:prstDash val="solid"/>
          </a:ln>
        </p:spPr>
      </p:sp>
      <p:sp>
        <p:nvSpPr>
          <p:cNvPr id="54" name="Shape 52"/>
          <p:cNvSpPr/>
          <p:nvPr/>
        </p:nvSpPr>
        <p:spPr>
          <a:xfrm>
            <a:off x="7909560" y="2816352"/>
            <a:ext cx="64008" cy="64008"/>
          </a:xfrm>
          <a:prstGeom prst="ellipse">
            <a:avLst/>
          </a:prstGeom>
          <a:solidFill>
            <a:srgbClr val="1E2733"/>
          </a:solidFill>
          <a:ln w="12700">
            <a:solidFill>
              <a:srgbClr val="1E2733"/>
            </a:solidFill>
            <a:prstDash val="solid"/>
          </a:ln>
        </p:spPr>
      </p:sp>
      <p:sp>
        <p:nvSpPr>
          <p:cNvPr id="55" name="Shape 53"/>
          <p:cNvSpPr/>
          <p:nvPr/>
        </p:nvSpPr>
        <p:spPr>
          <a:xfrm>
            <a:off x="7909560" y="3328416"/>
            <a:ext cx="64008" cy="64008"/>
          </a:xfrm>
          <a:prstGeom prst="ellipse">
            <a:avLst/>
          </a:prstGeom>
          <a:solidFill>
            <a:srgbClr val="1E2733"/>
          </a:solidFill>
          <a:ln w="12700">
            <a:solidFill>
              <a:srgbClr val="1E2733"/>
            </a:solidFill>
            <a:prstDash val="solid"/>
          </a:ln>
        </p:spPr>
      </p:sp>
      <p:sp>
        <p:nvSpPr>
          <p:cNvPr id="56" name="Shape 54"/>
          <p:cNvSpPr/>
          <p:nvPr/>
        </p:nvSpPr>
        <p:spPr>
          <a:xfrm>
            <a:off x="7909560" y="3840480"/>
            <a:ext cx="64008" cy="64008"/>
          </a:xfrm>
          <a:prstGeom prst="ellipse">
            <a:avLst/>
          </a:prstGeom>
          <a:solidFill>
            <a:srgbClr val="1E2733"/>
          </a:solidFill>
          <a:ln w="12700">
            <a:solidFill>
              <a:srgbClr val="1E2733"/>
            </a:solidFill>
            <a:prstDash val="solid"/>
          </a:ln>
        </p:spPr>
      </p:sp>
      <p:sp>
        <p:nvSpPr>
          <p:cNvPr id="57" name="Shape 55"/>
          <p:cNvSpPr/>
          <p:nvPr/>
        </p:nvSpPr>
        <p:spPr>
          <a:xfrm>
            <a:off x="7909560" y="4352544"/>
            <a:ext cx="64008" cy="64008"/>
          </a:xfrm>
          <a:prstGeom prst="ellipse">
            <a:avLst/>
          </a:prstGeom>
          <a:solidFill>
            <a:srgbClr val="1E2733"/>
          </a:solidFill>
          <a:ln w="12700">
            <a:solidFill>
              <a:srgbClr val="1E2733"/>
            </a:solidFill>
            <a:prstDash val="solid"/>
          </a:ln>
        </p:spPr>
      </p:sp>
      <p:sp>
        <p:nvSpPr>
          <p:cNvPr id="58" name="Shape 56"/>
          <p:cNvSpPr/>
          <p:nvPr/>
        </p:nvSpPr>
        <p:spPr>
          <a:xfrm>
            <a:off x="8421624" y="256032"/>
            <a:ext cx="64008" cy="64008"/>
          </a:xfrm>
          <a:prstGeom prst="ellipse">
            <a:avLst/>
          </a:prstGeom>
          <a:solidFill>
            <a:srgbClr val="1E2733"/>
          </a:solidFill>
          <a:ln w="12700">
            <a:solidFill>
              <a:srgbClr val="1E2733"/>
            </a:solidFill>
            <a:prstDash val="solid"/>
          </a:ln>
        </p:spPr>
      </p:sp>
      <p:sp>
        <p:nvSpPr>
          <p:cNvPr id="59" name="Shape 57"/>
          <p:cNvSpPr/>
          <p:nvPr/>
        </p:nvSpPr>
        <p:spPr>
          <a:xfrm>
            <a:off x="8421624" y="768096"/>
            <a:ext cx="64008" cy="64008"/>
          </a:xfrm>
          <a:prstGeom prst="ellipse">
            <a:avLst/>
          </a:prstGeom>
          <a:solidFill>
            <a:srgbClr val="1E2733"/>
          </a:solidFill>
          <a:ln w="12700">
            <a:solidFill>
              <a:srgbClr val="1E2733"/>
            </a:solidFill>
            <a:prstDash val="solid"/>
          </a:ln>
        </p:spPr>
      </p:sp>
      <p:sp>
        <p:nvSpPr>
          <p:cNvPr id="60" name="Shape 58"/>
          <p:cNvSpPr/>
          <p:nvPr/>
        </p:nvSpPr>
        <p:spPr>
          <a:xfrm>
            <a:off x="8421624" y="1280160"/>
            <a:ext cx="64008" cy="64008"/>
          </a:xfrm>
          <a:prstGeom prst="ellipse">
            <a:avLst/>
          </a:prstGeom>
          <a:solidFill>
            <a:srgbClr val="1E2733"/>
          </a:solidFill>
          <a:ln w="12700">
            <a:solidFill>
              <a:srgbClr val="1E2733"/>
            </a:solidFill>
            <a:prstDash val="solid"/>
          </a:ln>
        </p:spPr>
      </p:sp>
      <p:sp>
        <p:nvSpPr>
          <p:cNvPr id="61" name="Shape 59"/>
          <p:cNvSpPr/>
          <p:nvPr/>
        </p:nvSpPr>
        <p:spPr>
          <a:xfrm>
            <a:off x="8421624" y="1792224"/>
            <a:ext cx="64008" cy="64008"/>
          </a:xfrm>
          <a:prstGeom prst="ellipse">
            <a:avLst/>
          </a:prstGeom>
          <a:solidFill>
            <a:srgbClr val="1E2733"/>
          </a:solidFill>
          <a:ln w="12700">
            <a:solidFill>
              <a:srgbClr val="1E2733"/>
            </a:solidFill>
            <a:prstDash val="solid"/>
          </a:ln>
        </p:spPr>
      </p:sp>
      <p:sp>
        <p:nvSpPr>
          <p:cNvPr id="62" name="Shape 60"/>
          <p:cNvSpPr/>
          <p:nvPr/>
        </p:nvSpPr>
        <p:spPr>
          <a:xfrm>
            <a:off x="8421624" y="2304288"/>
            <a:ext cx="64008" cy="64008"/>
          </a:xfrm>
          <a:prstGeom prst="ellipse">
            <a:avLst/>
          </a:prstGeom>
          <a:solidFill>
            <a:srgbClr val="1E2733"/>
          </a:solidFill>
          <a:ln w="12700">
            <a:solidFill>
              <a:srgbClr val="1E2733"/>
            </a:solidFill>
            <a:prstDash val="solid"/>
          </a:ln>
        </p:spPr>
      </p:sp>
      <p:sp>
        <p:nvSpPr>
          <p:cNvPr id="63" name="Shape 61"/>
          <p:cNvSpPr/>
          <p:nvPr/>
        </p:nvSpPr>
        <p:spPr>
          <a:xfrm>
            <a:off x="8421624" y="2816352"/>
            <a:ext cx="64008" cy="64008"/>
          </a:xfrm>
          <a:prstGeom prst="ellipse">
            <a:avLst/>
          </a:prstGeom>
          <a:solidFill>
            <a:srgbClr val="1E2733"/>
          </a:solidFill>
          <a:ln w="12700">
            <a:solidFill>
              <a:srgbClr val="1E2733"/>
            </a:solidFill>
            <a:prstDash val="solid"/>
          </a:ln>
        </p:spPr>
      </p:sp>
      <p:sp>
        <p:nvSpPr>
          <p:cNvPr id="64" name="Shape 62"/>
          <p:cNvSpPr/>
          <p:nvPr/>
        </p:nvSpPr>
        <p:spPr>
          <a:xfrm>
            <a:off x="8421624" y="3328416"/>
            <a:ext cx="64008" cy="64008"/>
          </a:xfrm>
          <a:prstGeom prst="ellipse">
            <a:avLst/>
          </a:prstGeom>
          <a:solidFill>
            <a:srgbClr val="1E2733"/>
          </a:solidFill>
          <a:ln w="12700">
            <a:solidFill>
              <a:srgbClr val="1E2733"/>
            </a:solidFill>
            <a:prstDash val="solid"/>
          </a:ln>
        </p:spPr>
      </p:sp>
      <p:sp>
        <p:nvSpPr>
          <p:cNvPr id="65" name="Shape 63"/>
          <p:cNvSpPr/>
          <p:nvPr/>
        </p:nvSpPr>
        <p:spPr>
          <a:xfrm>
            <a:off x="8421624" y="3840480"/>
            <a:ext cx="64008" cy="64008"/>
          </a:xfrm>
          <a:prstGeom prst="ellipse">
            <a:avLst/>
          </a:prstGeom>
          <a:solidFill>
            <a:srgbClr val="1E2733"/>
          </a:solidFill>
          <a:ln w="12700">
            <a:solidFill>
              <a:srgbClr val="1E2733"/>
            </a:solidFill>
            <a:prstDash val="solid"/>
          </a:ln>
        </p:spPr>
      </p:sp>
      <p:sp>
        <p:nvSpPr>
          <p:cNvPr id="66" name="Shape 64"/>
          <p:cNvSpPr/>
          <p:nvPr/>
        </p:nvSpPr>
        <p:spPr>
          <a:xfrm>
            <a:off x="8421624" y="4352544"/>
            <a:ext cx="64008" cy="64008"/>
          </a:xfrm>
          <a:prstGeom prst="ellipse">
            <a:avLst/>
          </a:prstGeom>
          <a:solidFill>
            <a:srgbClr val="1E2733"/>
          </a:solidFill>
          <a:ln w="12700">
            <a:solidFill>
              <a:srgbClr val="1E2733"/>
            </a:solidFill>
            <a:prstDash val="solid"/>
          </a:ln>
        </p:spPr>
      </p:sp>
      <p:sp>
        <p:nvSpPr>
          <p:cNvPr id="67" name="Shape 65"/>
          <p:cNvSpPr/>
          <p:nvPr/>
        </p:nvSpPr>
        <p:spPr>
          <a:xfrm>
            <a:off x="457200" y="384048"/>
            <a:ext cx="1188720" cy="329184"/>
          </a:xfrm>
          <a:prstGeom prst="rect">
            <a:avLst/>
          </a:prstGeom>
          <a:solidFill>
            <a:srgbClr val="F59E0B"/>
          </a:solidFill>
          <a:ln w="12700">
            <a:solidFill>
              <a:srgbClr val="F59E0B"/>
            </a:solidFill>
            <a:prstDash val="solid"/>
          </a:ln>
        </p:spPr>
      </p:sp>
      <p:sp>
        <p:nvSpPr>
          <p:cNvPr id="68" name="Text 66"/>
          <p:cNvSpPr/>
          <p:nvPr/>
        </p:nvSpPr>
        <p:spPr>
          <a:xfrm>
            <a:off x="457200" y="384048"/>
            <a:ext cx="1188720" cy="329184"/>
          </a:xfrm>
          <a:prstGeom prst="rect">
            <a:avLst/>
          </a:prstGeom>
          <a:noFill/>
          <a:ln/>
        </p:spPr>
        <p:txBody>
          <a:bodyPr wrap="square" lIns="0" tIns="0" rIns="0" bIns="0" rtlCol="0" anchor="ctr"/>
          <a:lstStyle/>
          <a:p>
            <a:pPr marL="0" indent="0" algn="ctr">
              <a:buNone/>
            </a:pPr>
            <a:r>
              <a:rPr lang="en-US" sz="1100" b="1" kern="0" spc="200" dirty="0">
                <a:solidFill>
                  <a:srgbClr val="0D1117"/>
                </a:solidFill>
              </a:rPr>
              <a:t>DAY  5</a:t>
            </a:r>
            <a:endParaRPr lang="en-US" sz="1100" dirty="0"/>
          </a:p>
        </p:txBody>
      </p:sp>
      <p:sp>
        <p:nvSpPr>
          <p:cNvPr id="69" name="Text 67"/>
          <p:cNvSpPr/>
          <p:nvPr/>
        </p:nvSpPr>
        <p:spPr>
          <a:xfrm>
            <a:off x="457200" y="868680"/>
            <a:ext cx="4572000" cy="658368"/>
          </a:xfrm>
          <a:prstGeom prst="rect">
            <a:avLst/>
          </a:prstGeom>
          <a:noFill/>
          <a:ln/>
        </p:spPr>
        <p:txBody>
          <a:bodyPr wrap="square" rtlCol="0" anchor="ctr"/>
          <a:lstStyle/>
          <a:p>
            <a:pPr marL="0" indent="0">
              <a:buNone/>
            </a:pPr>
            <a:r>
              <a:rPr lang="en-US" sz="3400" b="1" dirty="0">
                <a:solidFill>
                  <a:srgbClr val="FFFFFF"/>
                </a:solidFill>
                <a:latin typeface="Trebuchet MS" pitchFamily="34" charset="0"/>
                <a:ea typeface="Trebuchet MS" pitchFamily="34" charset="-122"/>
                <a:cs typeface="Trebuchet MS" pitchFamily="34" charset="-120"/>
              </a:rPr>
              <a:t>15-Minute Technical</a:t>
            </a:r>
            <a:endParaRPr lang="en-US" sz="3400" dirty="0"/>
          </a:p>
        </p:txBody>
      </p:sp>
      <p:sp>
        <p:nvSpPr>
          <p:cNvPr id="70" name="Text 68"/>
          <p:cNvSpPr/>
          <p:nvPr/>
        </p:nvSpPr>
        <p:spPr>
          <a:xfrm>
            <a:off x="457200" y="1508760"/>
            <a:ext cx="4572000" cy="658368"/>
          </a:xfrm>
          <a:prstGeom prst="rect">
            <a:avLst/>
          </a:prstGeom>
          <a:noFill/>
          <a:ln/>
        </p:spPr>
        <p:txBody>
          <a:bodyPr wrap="square" rtlCol="0" anchor="ctr"/>
          <a:lstStyle/>
          <a:p>
            <a:pPr marL="0" indent="0">
              <a:buNone/>
            </a:pPr>
            <a:r>
              <a:rPr lang="en-US" sz="3400" b="1" dirty="0">
                <a:solidFill>
                  <a:srgbClr val="F59E0B"/>
                </a:solidFill>
                <a:latin typeface="Trebuchet MS" pitchFamily="34" charset="0"/>
                <a:ea typeface="Trebuchet MS" pitchFamily="34" charset="-122"/>
                <a:cs typeface="Trebuchet MS" pitchFamily="34" charset="-120"/>
              </a:rPr>
              <a:t>Screening &amp;</a:t>
            </a:r>
            <a:endParaRPr lang="en-US" sz="3400" dirty="0"/>
          </a:p>
        </p:txBody>
      </p:sp>
      <p:sp>
        <p:nvSpPr>
          <p:cNvPr id="71" name="Text 69"/>
          <p:cNvSpPr/>
          <p:nvPr/>
        </p:nvSpPr>
        <p:spPr>
          <a:xfrm>
            <a:off x="457200" y="2148840"/>
            <a:ext cx="4572000" cy="658368"/>
          </a:xfrm>
          <a:prstGeom prst="rect">
            <a:avLst/>
          </a:prstGeom>
          <a:noFill/>
          <a:ln/>
        </p:spPr>
        <p:txBody>
          <a:bodyPr wrap="square" rtlCol="0" anchor="ctr"/>
          <a:lstStyle/>
          <a:p>
            <a:pPr marL="0" indent="0">
              <a:buNone/>
            </a:pPr>
            <a:r>
              <a:rPr lang="en-US" sz="3400" b="1" dirty="0">
                <a:solidFill>
                  <a:srgbClr val="FFFFFF"/>
                </a:solidFill>
                <a:latin typeface="Trebuchet MS" pitchFamily="34" charset="0"/>
                <a:ea typeface="Trebuchet MS" pitchFamily="34" charset="-122"/>
                <a:cs typeface="Trebuchet MS" pitchFamily="34" charset="-120"/>
              </a:rPr>
              <a:t>Vibe Check</a:t>
            </a:r>
            <a:endParaRPr lang="en-US" sz="3400" dirty="0"/>
          </a:p>
        </p:txBody>
      </p:sp>
      <p:sp>
        <p:nvSpPr>
          <p:cNvPr id="72" name="Shape 70"/>
          <p:cNvSpPr/>
          <p:nvPr/>
        </p:nvSpPr>
        <p:spPr>
          <a:xfrm>
            <a:off x="457200" y="2907792"/>
            <a:ext cx="4389120" cy="36576"/>
          </a:xfrm>
          <a:prstGeom prst="rect">
            <a:avLst/>
          </a:prstGeom>
          <a:solidFill>
            <a:srgbClr val="2D3A50"/>
          </a:solidFill>
          <a:ln w="12700">
            <a:solidFill>
              <a:srgbClr val="2D3A50"/>
            </a:solidFill>
            <a:prstDash val="solid"/>
          </a:ln>
        </p:spPr>
      </p:sp>
      <p:sp>
        <p:nvSpPr>
          <p:cNvPr id="73" name="Text 71"/>
          <p:cNvSpPr/>
          <p:nvPr/>
        </p:nvSpPr>
        <p:spPr>
          <a:xfrm>
            <a:off x="457200" y="2999232"/>
            <a:ext cx="4480560" cy="347472"/>
          </a:xfrm>
          <a:prstGeom prst="rect">
            <a:avLst/>
          </a:prstGeom>
          <a:noFill/>
          <a:ln/>
        </p:spPr>
        <p:txBody>
          <a:bodyPr wrap="square" rtlCol="0" anchor="ctr"/>
          <a:lstStyle/>
          <a:p>
            <a:pPr marL="0" indent="0">
              <a:buNone/>
            </a:pPr>
            <a:r>
              <a:rPr lang="en-US" sz="1400" i="1" dirty="0">
                <a:solidFill>
                  <a:srgbClr val="94A3B8"/>
                </a:solidFill>
              </a:rPr>
              <a:t>Screen smarter. No coding skills required.</a:t>
            </a:r>
            <a:endParaRPr lang="en-US" sz="1400" dirty="0"/>
          </a:p>
        </p:txBody>
      </p:sp>
      <p:sp>
        <p:nvSpPr>
          <p:cNvPr id="74" name="Shape 72"/>
          <p:cNvSpPr/>
          <p:nvPr/>
        </p:nvSpPr>
        <p:spPr>
          <a:xfrm>
            <a:off x="457200" y="3493008"/>
            <a:ext cx="73152" cy="228600"/>
          </a:xfrm>
          <a:prstGeom prst="rect">
            <a:avLst/>
          </a:prstGeom>
          <a:solidFill>
            <a:srgbClr val="F59E0B"/>
          </a:solidFill>
          <a:ln w="12700">
            <a:solidFill>
              <a:srgbClr val="F59E0B"/>
            </a:solidFill>
            <a:prstDash val="solid"/>
          </a:ln>
        </p:spPr>
      </p:sp>
      <p:sp>
        <p:nvSpPr>
          <p:cNvPr id="75" name="Text 73"/>
          <p:cNvSpPr/>
          <p:nvPr/>
        </p:nvSpPr>
        <p:spPr>
          <a:xfrm>
            <a:off x="658368" y="3493008"/>
            <a:ext cx="3840480" cy="274320"/>
          </a:xfrm>
          <a:prstGeom prst="rect">
            <a:avLst/>
          </a:prstGeom>
          <a:noFill/>
          <a:ln/>
        </p:spPr>
        <p:txBody>
          <a:bodyPr wrap="square" rtlCol="0" anchor="ctr"/>
          <a:lstStyle/>
          <a:p>
            <a:pPr marL="0" indent="0">
              <a:buNone/>
            </a:pPr>
            <a:r>
              <a:rPr lang="en-US" sz="1200" dirty="0">
                <a:solidFill>
                  <a:srgbClr val="FFFFFF"/>
                </a:solidFill>
              </a:rPr>
              <a:t>Vibe Check Framework</a:t>
            </a:r>
            <a:endParaRPr lang="en-US" sz="1200" dirty="0"/>
          </a:p>
        </p:txBody>
      </p:sp>
      <p:sp>
        <p:nvSpPr>
          <p:cNvPr id="76" name="Shape 74"/>
          <p:cNvSpPr/>
          <p:nvPr/>
        </p:nvSpPr>
        <p:spPr>
          <a:xfrm>
            <a:off x="457200" y="3831336"/>
            <a:ext cx="73152" cy="228600"/>
          </a:xfrm>
          <a:prstGeom prst="rect">
            <a:avLst/>
          </a:prstGeom>
          <a:solidFill>
            <a:srgbClr val="EF4444"/>
          </a:solidFill>
          <a:ln w="12700">
            <a:solidFill>
              <a:srgbClr val="EF4444"/>
            </a:solidFill>
            <a:prstDash val="solid"/>
          </a:ln>
        </p:spPr>
      </p:sp>
      <p:sp>
        <p:nvSpPr>
          <p:cNvPr id="77" name="Text 75"/>
          <p:cNvSpPr/>
          <p:nvPr/>
        </p:nvSpPr>
        <p:spPr>
          <a:xfrm>
            <a:off x="658368" y="3831336"/>
            <a:ext cx="3840480" cy="274320"/>
          </a:xfrm>
          <a:prstGeom prst="rect">
            <a:avLst/>
          </a:prstGeom>
          <a:noFill/>
          <a:ln/>
        </p:spPr>
        <p:txBody>
          <a:bodyPr wrap="square" rtlCol="0" anchor="ctr"/>
          <a:lstStyle/>
          <a:p>
            <a:pPr marL="0" indent="0">
              <a:buNone/>
            </a:pPr>
            <a:r>
              <a:rPr lang="en-US" sz="1200" dirty="0">
                <a:solidFill>
                  <a:srgbClr val="FFFFFF"/>
                </a:solidFill>
              </a:rPr>
              <a:t>Spot Fake Resumes</a:t>
            </a:r>
            <a:endParaRPr lang="en-US" sz="1200" dirty="0"/>
          </a:p>
        </p:txBody>
      </p:sp>
      <p:sp>
        <p:nvSpPr>
          <p:cNvPr id="78" name="Shape 76"/>
          <p:cNvSpPr/>
          <p:nvPr/>
        </p:nvSpPr>
        <p:spPr>
          <a:xfrm>
            <a:off x="457200" y="4169664"/>
            <a:ext cx="73152" cy="228600"/>
          </a:xfrm>
          <a:prstGeom prst="rect">
            <a:avLst/>
          </a:prstGeom>
          <a:solidFill>
            <a:srgbClr val="8B5CF6"/>
          </a:solidFill>
          <a:ln w="12700">
            <a:solidFill>
              <a:srgbClr val="8B5CF6"/>
            </a:solidFill>
            <a:prstDash val="solid"/>
          </a:ln>
        </p:spPr>
      </p:sp>
      <p:sp>
        <p:nvSpPr>
          <p:cNvPr id="79" name="Text 77"/>
          <p:cNvSpPr/>
          <p:nvPr/>
        </p:nvSpPr>
        <p:spPr>
          <a:xfrm>
            <a:off x="658368" y="4169664"/>
            <a:ext cx="3840480" cy="274320"/>
          </a:xfrm>
          <a:prstGeom prst="rect">
            <a:avLst/>
          </a:prstGeom>
          <a:noFill/>
          <a:ln/>
        </p:spPr>
        <p:txBody>
          <a:bodyPr wrap="square" rtlCol="0" anchor="ctr"/>
          <a:lstStyle/>
          <a:p>
            <a:pPr marL="0" indent="0">
              <a:buNone/>
            </a:pPr>
            <a:r>
              <a:rPr lang="en-US" sz="1200" dirty="0">
                <a:solidFill>
                  <a:srgbClr val="FFFFFF"/>
                </a:solidFill>
              </a:rPr>
              <a:t>Red-Flag Checklist</a:t>
            </a:r>
            <a:endParaRPr lang="en-US" sz="1200" dirty="0"/>
          </a:p>
        </p:txBody>
      </p:sp>
      <p:sp>
        <p:nvSpPr>
          <p:cNvPr id="80" name="Shape 78"/>
          <p:cNvSpPr/>
          <p:nvPr/>
        </p:nvSpPr>
        <p:spPr>
          <a:xfrm>
            <a:off x="457200" y="4507992"/>
            <a:ext cx="73152" cy="228600"/>
          </a:xfrm>
          <a:prstGeom prst="rect">
            <a:avLst/>
          </a:prstGeom>
          <a:solidFill>
            <a:srgbClr val="10B981"/>
          </a:solidFill>
          <a:ln w="12700">
            <a:solidFill>
              <a:srgbClr val="10B981"/>
            </a:solidFill>
            <a:prstDash val="solid"/>
          </a:ln>
        </p:spPr>
      </p:sp>
      <p:sp>
        <p:nvSpPr>
          <p:cNvPr id="81" name="Text 79"/>
          <p:cNvSpPr/>
          <p:nvPr/>
        </p:nvSpPr>
        <p:spPr>
          <a:xfrm>
            <a:off x="658368" y="4507992"/>
            <a:ext cx="3840480" cy="274320"/>
          </a:xfrm>
          <a:prstGeom prst="rect">
            <a:avLst/>
          </a:prstGeom>
          <a:noFill/>
          <a:ln/>
        </p:spPr>
        <p:txBody>
          <a:bodyPr wrap="square" rtlCol="0" anchor="ctr"/>
          <a:lstStyle/>
          <a:p>
            <a:pPr marL="0" indent="0">
              <a:buNone/>
            </a:pPr>
            <a:r>
              <a:rPr lang="en-US" sz="1200" dirty="0">
                <a:solidFill>
                  <a:srgbClr val="FFFFFF"/>
                </a:solidFill>
              </a:rPr>
              <a:t>Mock Screening Live</a:t>
            </a:r>
            <a:endParaRPr lang="en-US" sz="1200" dirty="0"/>
          </a:p>
        </p:txBody>
      </p:sp>
      <p:sp>
        <p:nvSpPr>
          <p:cNvPr id="82" name="Shape 80"/>
          <p:cNvSpPr/>
          <p:nvPr/>
        </p:nvSpPr>
        <p:spPr>
          <a:xfrm>
            <a:off x="5486400" y="822960"/>
            <a:ext cx="3200400" cy="1920240"/>
          </a:xfrm>
          <a:prstGeom prst="rect">
            <a:avLst/>
          </a:prstGeom>
          <a:solidFill>
            <a:srgbClr val="1E2D40"/>
          </a:solidFill>
          <a:ln w="12700">
            <a:solidFill>
              <a:srgbClr val="2A3F55"/>
            </a:solidFill>
            <a:prstDash val="solid"/>
          </a:ln>
        </p:spPr>
      </p:sp>
      <p:sp>
        <p:nvSpPr>
          <p:cNvPr id="83" name="Shape 81"/>
          <p:cNvSpPr/>
          <p:nvPr/>
        </p:nvSpPr>
        <p:spPr>
          <a:xfrm>
            <a:off x="5486400" y="822960"/>
            <a:ext cx="3200400" cy="64008"/>
          </a:xfrm>
          <a:prstGeom prst="rect">
            <a:avLst/>
          </a:prstGeom>
          <a:solidFill>
            <a:srgbClr val="F59E0B"/>
          </a:solidFill>
          <a:ln w="12700">
            <a:solidFill>
              <a:srgbClr val="F59E0B"/>
            </a:solidFill>
            <a:prstDash val="solid"/>
          </a:ln>
        </p:spPr>
      </p:sp>
      <p:sp>
        <p:nvSpPr>
          <p:cNvPr id="84" name="Text 82"/>
          <p:cNvSpPr/>
          <p:nvPr/>
        </p:nvSpPr>
        <p:spPr>
          <a:xfrm>
            <a:off x="5486400" y="960120"/>
            <a:ext cx="3200400" cy="1005840"/>
          </a:xfrm>
          <a:prstGeom prst="rect">
            <a:avLst/>
          </a:prstGeom>
          <a:noFill/>
          <a:ln/>
        </p:spPr>
        <p:txBody>
          <a:bodyPr wrap="square" rtlCol="0" anchor="ctr"/>
          <a:lstStyle/>
          <a:p>
            <a:pPr marL="0" indent="0" algn="ctr">
              <a:buNone/>
            </a:pPr>
            <a:r>
              <a:rPr lang="en-US" sz="8800" b="1" dirty="0">
                <a:solidFill>
                  <a:srgbClr val="F59E0B"/>
                </a:solidFill>
                <a:latin typeface="Trebuchet MS" pitchFamily="34" charset="0"/>
                <a:ea typeface="Trebuchet MS" pitchFamily="34" charset="-122"/>
                <a:cs typeface="Trebuchet MS" pitchFamily="34" charset="-120"/>
              </a:rPr>
              <a:t>15</a:t>
            </a:r>
            <a:endParaRPr lang="en-US" sz="8800" dirty="0"/>
          </a:p>
        </p:txBody>
      </p:sp>
      <p:sp>
        <p:nvSpPr>
          <p:cNvPr id="85" name="Text 83"/>
          <p:cNvSpPr/>
          <p:nvPr/>
        </p:nvSpPr>
        <p:spPr>
          <a:xfrm>
            <a:off x="5486400" y="1920240"/>
            <a:ext cx="3200400" cy="347472"/>
          </a:xfrm>
          <a:prstGeom prst="rect">
            <a:avLst/>
          </a:prstGeom>
          <a:noFill/>
          <a:ln/>
        </p:spPr>
        <p:txBody>
          <a:bodyPr wrap="square" rtlCol="0" anchor="ctr"/>
          <a:lstStyle/>
          <a:p>
            <a:pPr marL="0" indent="0" algn="ctr">
              <a:buNone/>
            </a:pPr>
            <a:r>
              <a:rPr lang="en-US" sz="1050" b="1" kern="0" spc="150" dirty="0">
                <a:solidFill>
                  <a:srgbClr val="FFFFFF"/>
                </a:solidFill>
              </a:rPr>
              <a:t>MINUTES IS ALL YOU NEED</a:t>
            </a:r>
            <a:endParaRPr lang="en-US" sz="1050" dirty="0"/>
          </a:p>
        </p:txBody>
      </p:sp>
      <p:sp>
        <p:nvSpPr>
          <p:cNvPr id="86" name="Text 84"/>
          <p:cNvSpPr/>
          <p:nvPr/>
        </p:nvSpPr>
        <p:spPr>
          <a:xfrm>
            <a:off x="5486400" y="2249424"/>
            <a:ext cx="3200400" cy="347472"/>
          </a:xfrm>
          <a:prstGeom prst="rect">
            <a:avLst/>
          </a:prstGeom>
          <a:noFill/>
          <a:ln/>
        </p:spPr>
        <p:txBody>
          <a:bodyPr wrap="square" rtlCol="0" anchor="ctr"/>
          <a:lstStyle/>
          <a:p>
            <a:pPr marL="0" indent="0" algn="ctr">
              <a:buNone/>
            </a:pPr>
            <a:r>
              <a:rPr lang="en-US" sz="1000" i="1" dirty="0">
                <a:solidFill>
                  <a:srgbClr val="94A3B8"/>
                </a:solidFill>
              </a:rPr>
              <a:t>to qualify or disqualify any technical candidate</a:t>
            </a:r>
            <a:endParaRPr lang="en-US" sz="1000" dirty="0"/>
          </a:p>
        </p:txBody>
      </p:sp>
      <p:sp>
        <p:nvSpPr>
          <p:cNvPr id="87" name="Shape 85"/>
          <p:cNvSpPr/>
          <p:nvPr/>
        </p:nvSpPr>
        <p:spPr>
          <a:xfrm>
            <a:off x="5486400" y="2880360"/>
            <a:ext cx="3200400" cy="566928"/>
          </a:xfrm>
          <a:prstGeom prst="rect">
            <a:avLst/>
          </a:prstGeom>
          <a:solidFill>
            <a:srgbClr val="141C28"/>
          </a:solidFill>
          <a:ln w="6350">
            <a:solidFill>
              <a:srgbClr val="263347"/>
            </a:solidFill>
            <a:prstDash val="solid"/>
          </a:ln>
        </p:spPr>
      </p:sp>
      <p:sp>
        <p:nvSpPr>
          <p:cNvPr id="88" name="Text 86"/>
          <p:cNvSpPr/>
          <p:nvPr/>
        </p:nvSpPr>
        <p:spPr>
          <a:xfrm>
            <a:off x="5559552" y="2926080"/>
            <a:ext cx="713232" cy="475488"/>
          </a:xfrm>
          <a:prstGeom prst="rect">
            <a:avLst/>
          </a:prstGeom>
          <a:noFill/>
          <a:ln/>
        </p:spPr>
        <p:txBody>
          <a:bodyPr wrap="square" rtlCol="0" anchor="ctr"/>
          <a:lstStyle/>
          <a:p>
            <a:pPr marL="0" indent="0">
              <a:buNone/>
            </a:pPr>
            <a:r>
              <a:rPr lang="en-US" sz="2000" b="1" dirty="0">
                <a:solidFill>
                  <a:srgbClr val="F59E0B"/>
                </a:solidFill>
              </a:rPr>
              <a:t>73%</a:t>
            </a:r>
            <a:endParaRPr lang="en-US" sz="2000" dirty="0"/>
          </a:p>
        </p:txBody>
      </p:sp>
      <p:sp>
        <p:nvSpPr>
          <p:cNvPr id="89" name="Text 87"/>
          <p:cNvSpPr/>
          <p:nvPr/>
        </p:nvSpPr>
        <p:spPr>
          <a:xfrm>
            <a:off x="6309360" y="2926080"/>
            <a:ext cx="2286000" cy="475488"/>
          </a:xfrm>
          <a:prstGeom prst="rect">
            <a:avLst/>
          </a:prstGeom>
          <a:noFill/>
          <a:ln/>
        </p:spPr>
        <p:txBody>
          <a:bodyPr wrap="square" rtlCol="0" anchor="ctr"/>
          <a:lstStyle/>
          <a:p>
            <a:pPr marL="0" indent="0">
              <a:buNone/>
            </a:pPr>
            <a:r>
              <a:rPr lang="en-US" sz="950" dirty="0">
                <a:solidFill>
                  <a:srgbClr val="FFFFFF"/>
                </a:solidFill>
              </a:rPr>
              <a:t>of screeners miss key red flags in first 5 min</a:t>
            </a:r>
            <a:endParaRPr lang="en-US" sz="950" dirty="0"/>
          </a:p>
        </p:txBody>
      </p:sp>
      <p:sp>
        <p:nvSpPr>
          <p:cNvPr id="90" name="Shape 88"/>
          <p:cNvSpPr/>
          <p:nvPr/>
        </p:nvSpPr>
        <p:spPr>
          <a:xfrm>
            <a:off x="5486400" y="3520440"/>
            <a:ext cx="3200400" cy="566928"/>
          </a:xfrm>
          <a:prstGeom prst="rect">
            <a:avLst/>
          </a:prstGeom>
          <a:solidFill>
            <a:srgbClr val="141C28"/>
          </a:solidFill>
          <a:ln w="6350">
            <a:solidFill>
              <a:srgbClr val="263347"/>
            </a:solidFill>
            <a:prstDash val="solid"/>
          </a:ln>
        </p:spPr>
      </p:sp>
      <p:sp>
        <p:nvSpPr>
          <p:cNvPr id="91" name="Text 89"/>
          <p:cNvSpPr/>
          <p:nvPr/>
        </p:nvSpPr>
        <p:spPr>
          <a:xfrm>
            <a:off x="5559552" y="3566160"/>
            <a:ext cx="713232" cy="475488"/>
          </a:xfrm>
          <a:prstGeom prst="rect">
            <a:avLst/>
          </a:prstGeom>
          <a:noFill/>
          <a:ln/>
        </p:spPr>
        <p:txBody>
          <a:bodyPr wrap="square" rtlCol="0" anchor="ctr"/>
          <a:lstStyle/>
          <a:p>
            <a:pPr marL="0" indent="0">
              <a:buNone/>
            </a:pPr>
            <a:r>
              <a:rPr lang="en-US" sz="2000" b="1" dirty="0">
                <a:solidFill>
                  <a:srgbClr val="F59E0B"/>
                </a:solidFill>
              </a:rPr>
              <a:t>4×</a:t>
            </a:r>
            <a:endParaRPr lang="en-US" sz="2000" dirty="0"/>
          </a:p>
        </p:txBody>
      </p:sp>
      <p:sp>
        <p:nvSpPr>
          <p:cNvPr id="92" name="Text 90"/>
          <p:cNvSpPr/>
          <p:nvPr/>
        </p:nvSpPr>
        <p:spPr>
          <a:xfrm>
            <a:off x="6309360" y="3566160"/>
            <a:ext cx="2286000" cy="475488"/>
          </a:xfrm>
          <a:prstGeom prst="rect">
            <a:avLst/>
          </a:prstGeom>
          <a:noFill/>
          <a:ln/>
        </p:spPr>
        <p:txBody>
          <a:bodyPr wrap="square" rtlCol="0" anchor="ctr"/>
          <a:lstStyle/>
          <a:p>
            <a:pPr marL="0" indent="0">
              <a:buNone/>
            </a:pPr>
            <a:r>
              <a:rPr lang="en-US" sz="950" dirty="0">
                <a:solidFill>
                  <a:srgbClr val="FFFFFF"/>
                </a:solidFill>
              </a:rPr>
              <a:t>faster hiring decisions with a structured framework</a:t>
            </a:r>
            <a:endParaRPr lang="en-US" sz="950" dirty="0"/>
          </a:p>
        </p:txBody>
      </p:sp>
      <p:sp>
        <p:nvSpPr>
          <p:cNvPr id="93" name="Shape 91"/>
          <p:cNvSpPr/>
          <p:nvPr/>
        </p:nvSpPr>
        <p:spPr>
          <a:xfrm>
            <a:off x="5486400" y="4160520"/>
            <a:ext cx="3200400" cy="566928"/>
          </a:xfrm>
          <a:prstGeom prst="rect">
            <a:avLst/>
          </a:prstGeom>
          <a:solidFill>
            <a:srgbClr val="141C28"/>
          </a:solidFill>
          <a:ln w="6350">
            <a:solidFill>
              <a:srgbClr val="263347"/>
            </a:solidFill>
            <a:prstDash val="solid"/>
          </a:ln>
        </p:spPr>
      </p:sp>
      <p:sp>
        <p:nvSpPr>
          <p:cNvPr id="94" name="Text 92"/>
          <p:cNvSpPr/>
          <p:nvPr/>
        </p:nvSpPr>
        <p:spPr>
          <a:xfrm>
            <a:off x="5559552" y="4206240"/>
            <a:ext cx="713232" cy="475488"/>
          </a:xfrm>
          <a:prstGeom prst="rect">
            <a:avLst/>
          </a:prstGeom>
          <a:noFill/>
          <a:ln/>
        </p:spPr>
        <p:txBody>
          <a:bodyPr wrap="square" rtlCol="0" anchor="ctr"/>
          <a:lstStyle/>
          <a:p>
            <a:pPr marL="0" indent="0">
              <a:buNone/>
            </a:pPr>
            <a:r>
              <a:rPr lang="en-US" sz="2000" b="1" dirty="0">
                <a:solidFill>
                  <a:srgbClr val="F59E0B"/>
                </a:solidFill>
              </a:rPr>
              <a:t>91%</a:t>
            </a:r>
            <a:endParaRPr lang="en-US" sz="2000" dirty="0"/>
          </a:p>
        </p:txBody>
      </p:sp>
      <p:sp>
        <p:nvSpPr>
          <p:cNvPr id="95" name="Text 93"/>
          <p:cNvSpPr/>
          <p:nvPr/>
        </p:nvSpPr>
        <p:spPr>
          <a:xfrm>
            <a:off x="6309360" y="4206240"/>
            <a:ext cx="2286000" cy="475488"/>
          </a:xfrm>
          <a:prstGeom prst="rect">
            <a:avLst/>
          </a:prstGeom>
          <a:noFill/>
          <a:ln/>
        </p:spPr>
        <p:txBody>
          <a:bodyPr wrap="square" rtlCol="0" anchor="ctr"/>
          <a:lstStyle/>
          <a:p>
            <a:pPr marL="0" indent="0">
              <a:buNone/>
            </a:pPr>
            <a:r>
              <a:rPr lang="en-US" sz="950" dirty="0">
                <a:solidFill>
                  <a:srgbClr val="FFFFFF"/>
                </a:solidFill>
              </a:rPr>
              <a:t>of fake resume signals detectable without coding</a:t>
            </a:r>
            <a:endParaRPr lang="en-US" sz="950" dirty="0"/>
          </a:p>
        </p:txBody>
      </p:sp>
      <p:sp>
        <p:nvSpPr>
          <p:cNvPr id="96" name="Shape 94"/>
          <p:cNvSpPr/>
          <p:nvPr/>
        </p:nvSpPr>
        <p:spPr>
          <a:xfrm>
            <a:off x="0" y="4864608"/>
            <a:ext cx="9144000" cy="278892"/>
          </a:xfrm>
          <a:prstGeom prst="rect">
            <a:avLst/>
          </a:prstGeom>
          <a:solidFill>
            <a:srgbClr val="111827"/>
          </a:solidFill>
          <a:ln w="12700">
            <a:solidFill>
              <a:srgbClr val="111827"/>
            </a:solidFill>
            <a:prstDash val="solid"/>
          </a:ln>
        </p:spPr>
      </p:sp>
      <p:sp>
        <p:nvSpPr>
          <p:cNvPr id="97" name="Text 95"/>
          <p:cNvSpPr/>
          <p:nvPr/>
        </p:nvSpPr>
        <p:spPr>
          <a:xfrm>
            <a:off x="457200" y="4864608"/>
            <a:ext cx="8229600" cy="278892"/>
          </a:xfrm>
          <a:prstGeom prst="rect">
            <a:avLst/>
          </a:prstGeom>
          <a:noFill/>
          <a:ln/>
        </p:spPr>
        <p:txBody>
          <a:bodyPr wrap="square" rtlCol="0" anchor="ctr"/>
          <a:lstStyle/>
          <a:p>
            <a:pPr marL="0" indent="0">
              <a:buNone/>
            </a:pPr>
            <a:r>
              <a:rPr lang="en-US" sz="950" dirty="0">
                <a:solidFill>
                  <a:srgbClr val="94A3B8"/>
                </a:solidFill>
              </a:rPr>
              <a:t>Recruiter Training Program  •  Day 5 of 10  •  2026 Edition</a:t>
            </a:r>
            <a:endParaRPr lang="en-US" sz="9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E2D40"/>
          </a:solidFill>
          <a:ln w="12700">
            <a:solidFill>
              <a:srgbClr val="1E2D40"/>
            </a:solidFill>
            <a:prstDash val="solid"/>
          </a:ln>
        </p:spPr>
      </p:sp>
      <p:sp>
        <p:nvSpPr>
          <p:cNvPr id="3" name="Shape 1"/>
          <p:cNvSpPr/>
          <p:nvPr/>
        </p:nvSpPr>
        <p:spPr>
          <a:xfrm>
            <a:off x="0" y="0"/>
            <a:ext cx="274320" cy="960120"/>
          </a:xfrm>
          <a:prstGeom prst="rect">
            <a:avLst/>
          </a:prstGeom>
          <a:solidFill>
            <a:srgbClr val="F59E0B"/>
          </a:solidFill>
          <a:ln w="12700">
            <a:solidFill>
              <a:srgbClr val="F59E0B"/>
            </a:solidFill>
            <a:prstDash val="solid"/>
          </a:ln>
        </p:spPr>
      </p:sp>
      <p:sp>
        <p:nvSpPr>
          <p:cNvPr id="4" name="Text 2"/>
          <p:cNvSpPr/>
          <p:nvPr/>
        </p:nvSpPr>
        <p:spPr>
          <a:xfrm>
            <a:off x="457200" y="0"/>
            <a:ext cx="5486400" cy="960120"/>
          </a:xfrm>
          <a:prstGeom prst="rect">
            <a:avLst/>
          </a:prstGeom>
          <a:noFill/>
          <a:ln/>
        </p:spPr>
        <p:txBody>
          <a:bodyPr wrap="square" rtlCol="0" anchor="ctr"/>
          <a:lstStyle/>
          <a:p>
            <a:pPr marL="0" indent="0">
              <a:buNone/>
            </a:pPr>
            <a:r>
              <a:rPr lang="en-US" sz="2000" b="1" dirty="0">
                <a:solidFill>
                  <a:srgbClr val="FFFFFF"/>
                </a:solidFill>
                <a:latin typeface="Trebuchet MS" pitchFamily="34" charset="0"/>
                <a:ea typeface="Trebuchet MS" pitchFamily="34" charset="-122"/>
                <a:cs typeface="Trebuchet MS" pitchFamily="34" charset="-120"/>
              </a:rPr>
              <a:t>THE 15-MINUTE VIBE CHECK FRAMEWORK</a:t>
            </a:r>
            <a:endParaRPr lang="en-US" sz="2000" dirty="0"/>
          </a:p>
        </p:txBody>
      </p:sp>
      <p:sp>
        <p:nvSpPr>
          <p:cNvPr id="5" name="Text 3"/>
          <p:cNvSpPr/>
          <p:nvPr/>
        </p:nvSpPr>
        <p:spPr>
          <a:xfrm>
            <a:off x="6035040" y="0"/>
            <a:ext cx="2926080" cy="960120"/>
          </a:xfrm>
          <a:prstGeom prst="rect">
            <a:avLst/>
          </a:prstGeom>
          <a:noFill/>
          <a:ln/>
        </p:spPr>
        <p:txBody>
          <a:bodyPr wrap="square" rtlCol="0" anchor="ctr"/>
          <a:lstStyle/>
          <a:p>
            <a:pPr marL="0" indent="0" algn="r">
              <a:buNone/>
            </a:pPr>
            <a:r>
              <a:rPr lang="en-US" sz="1100" i="1" dirty="0">
                <a:solidFill>
                  <a:srgbClr val="FCD34D"/>
                </a:solidFill>
              </a:rPr>
              <a:t>No coding required</a:t>
            </a:r>
            <a:endParaRPr lang="en-US" sz="1100" dirty="0"/>
          </a:p>
        </p:txBody>
      </p:sp>
      <p:sp>
        <p:nvSpPr>
          <p:cNvPr id="6" name="Shape 4"/>
          <p:cNvSpPr/>
          <p:nvPr/>
        </p:nvSpPr>
        <p:spPr>
          <a:xfrm>
            <a:off x="365760" y="2304288"/>
            <a:ext cx="8412480" cy="91440"/>
          </a:xfrm>
          <a:prstGeom prst="rect">
            <a:avLst/>
          </a:prstGeom>
          <a:solidFill>
            <a:srgbClr val="CBD5E1"/>
          </a:solidFill>
          <a:ln w="12700">
            <a:solidFill>
              <a:srgbClr val="CBD5E1"/>
            </a:solidFill>
            <a:prstDash val="solid"/>
          </a:ln>
        </p:spPr>
      </p:sp>
      <p:sp>
        <p:nvSpPr>
          <p:cNvPr id="7" name="Shape 5"/>
          <p:cNvSpPr/>
          <p:nvPr/>
        </p:nvSpPr>
        <p:spPr>
          <a:xfrm>
            <a:off x="228600" y="1005840"/>
            <a:ext cx="2103120" cy="3383280"/>
          </a:xfrm>
          <a:prstGeom prst="rect">
            <a:avLst/>
          </a:prstGeom>
          <a:solidFill>
            <a:srgbClr val="FFFBEB"/>
          </a:solidFill>
          <a:ln w="6350">
            <a:solidFill>
              <a:srgbClr val="E2E8F0"/>
            </a:solidFill>
            <a:prstDash val="solid"/>
          </a:ln>
          <a:effectLst>
            <a:outerShdw blurRad="76200" dist="25400" dir="8100000" algn="bl" rotWithShape="0">
              <a:srgbClr val="000000">
                <a:alpha val="6000"/>
              </a:srgbClr>
            </a:outerShdw>
          </a:effectLst>
        </p:spPr>
      </p:sp>
      <p:sp>
        <p:nvSpPr>
          <p:cNvPr id="8" name="Shape 6"/>
          <p:cNvSpPr/>
          <p:nvPr/>
        </p:nvSpPr>
        <p:spPr>
          <a:xfrm>
            <a:off x="228600" y="1005840"/>
            <a:ext cx="2103120" cy="64008"/>
          </a:xfrm>
          <a:prstGeom prst="rect">
            <a:avLst/>
          </a:prstGeom>
          <a:solidFill>
            <a:srgbClr val="F59E0B"/>
          </a:solidFill>
          <a:ln w="12700">
            <a:solidFill>
              <a:srgbClr val="F59E0B"/>
            </a:solidFill>
            <a:prstDash val="solid"/>
          </a:ln>
        </p:spPr>
      </p:sp>
      <p:sp>
        <p:nvSpPr>
          <p:cNvPr id="9" name="Shape 7"/>
          <p:cNvSpPr/>
          <p:nvPr/>
        </p:nvSpPr>
        <p:spPr>
          <a:xfrm>
            <a:off x="365760" y="1124712"/>
            <a:ext cx="1371600" cy="256032"/>
          </a:xfrm>
          <a:prstGeom prst="rect">
            <a:avLst/>
          </a:prstGeom>
          <a:solidFill>
            <a:srgbClr val="F59E0B"/>
          </a:solidFill>
          <a:ln w="12700">
            <a:solidFill>
              <a:srgbClr val="F59E0B"/>
            </a:solidFill>
            <a:prstDash val="solid"/>
          </a:ln>
        </p:spPr>
      </p:sp>
      <p:sp>
        <p:nvSpPr>
          <p:cNvPr id="10" name="Text 8"/>
          <p:cNvSpPr/>
          <p:nvPr/>
        </p:nvSpPr>
        <p:spPr>
          <a:xfrm>
            <a:off x="365760" y="1124712"/>
            <a:ext cx="1371600" cy="256032"/>
          </a:xfrm>
          <a:prstGeom prst="rect">
            <a:avLst/>
          </a:prstGeom>
          <a:noFill/>
          <a:ln/>
        </p:spPr>
        <p:txBody>
          <a:bodyPr wrap="square" lIns="0" tIns="0" rIns="0" bIns="0" rtlCol="0" anchor="ctr"/>
          <a:lstStyle/>
          <a:p>
            <a:pPr marL="0" indent="0" algn="ctr">
              <a:buNone/>
            </a:pPr>
            <a:r>
              <a:rPr lang="en-US" sz="950" b="1" dirty="0">
                <a:solidFill>
                  <a:srgbClr val="0D1117"/>
                </a:solidFill>
              </a:rPr>
              <a:t>0–3 min</a:t>
            </a:r>
            <a:endParaRPr lang="en-US" sz="950" dirty="0"/>
          </a:p>
        </p:txBody>
      </p:sp>
      <p:sp>
        <p:nvSpPr>
          <p:cNvPr id="11" name="Text 9"/>
          <p:cNvSpPr/>
          <p:nvPr/>
        </p:nvSpPr>
        <p:spPr>
          <a:xfrm>
            <a:off x="365760" y="1444752"/>
            <a:ext cx="1828800" cy="228600"/>
          </a:xfrm>
          <a:prstGeom prst="rect">
            <a:avLst/>
          </a:prstGeom>
          <a:noFill/>
          <a:ln/>
        </p:spPr>
        <p:txBody>
          <a:bodyPr wrap="square" rtlCol="0" anchor="ctr"/>
          <a:lstStyle/>
          <a:p>
            <a:pPr marL="0" indent="0">
              <a:buNone/>
            </a:pPr>
            <a:r>
              <a:rPr lang="en-US" sz="900" b="1" kern="0" spc="200" dirty="0">
                <a:solidFill>
                  <a:srgbClr val="F59E0B"/>
                </a:solidFill>
              </a:rPr>
              <a:t>PHASE 1</a:t>
            </a:r>
            <a:endParaRPr lang="en-US" sz="900" dirty="0"/>
          </a:p>
        </p:txBody>
      </p:sp>
      <p:sp>
        <p:nvSpPr>
          <p:cNvPr id="12" name="Text 10"/>
          <p:cNvSpPr/>
          <p:nvPr/>
        </p:nvSpPr>
        <p:spPr>
          <a:xfrm>
            <a:off x="365760" y="1645920"/>
            <a:ext cx="1828800" cy="475488"/>
          </a:xfrm>
          <a:prstGeom prst="rect">
            <a:avLst/>
          </a:prstGeom>
          <a:noFill/>
          <a:ln/>
        </p:spPr>
        <p:txBody>
          <a:bodyPr wrap="square" rtlCol="0" anchor="ctr"/>
          <a:lstStyle/>
          <a:p>
            <a:pPr marL="0" indent="0">
              <a:buNone/>
            </a:pPr>
            <a:r>
              <a:rPr lang="en-US" sz="1250" b="1" dirty="0">
                <a:solidFill>
                  <a:srgbClr val="1E293B"/>
                </a:solidFill>
                <a:latin typeface="Trebuchet MS" pitchFamily="34" charset="0"/>
                <a:ea typeface="Trebuchet MS" pitchFamily="34" charset="-122"/>
                <a:cs typeface="Trebuchet MS" pitchFamily="34" charset="-120"/>
              </a:rPr>
              <a:t>Warm-Up &amp; Tone Set</a:t>
            </a:r>
            <a:endParaRPr lang="en-US" sz="1250" dirty="0"/>
          </a:p>
        </p:txBody>
      </p:sp>
      <p:sp>
        <p:nvSpPr>
          <p:cNvPr id="13" name="Shape 11"/>
          <p:cNvSpPr/>
          <p:nvPr/>
        </p:nvSpPr>
        <p:spPr>
          <a:xfrm>
            <a:off x="365760" y="2121408"/>
            <a:ext cx="1828800" cy="27432"/>
          </a:xfrm>
          <a:prstGeom prst="rect">
            <a:avLst/>
          </a:prstGeom>
          <a:solidFill>
            <a:srgbClr val="E2E8F0"/>
          </a:solidFill>
          <a:ln w="12700">
            <a:solidFill>
              <a:srgbClr val="E2E8F0"/>
            </a:solidFill>
            <a:prstDash val="solid"/>
          </a:ln>
        </p:spPr>
      </p:sp>
      <p:sp>
        <p:nvSpPr>
          <p:cNvPr id="14" name="Shape 12"/>
          <p:cNvSpPr/>
          <p:nvPr/>
        </p:nvSpPr>
        <p:spPr>
          <a:xfrm>
            <a:off x="347472" y="2267712"/>
            <a:ext cx="100584" cy="100584"/>
          </a:xfrm>
          <a:prstGeom prst="ellipse">
            <a:avLst/>
          </a:prstGeom>
          <a:solidFill>
            <a:srgbClr val="F59E0B"/>
          </a:solidFill>
          <a:ln w="12700">
            <a:solidFill>
              <a:srgbClr val="F59E0B"/>
            </a:solidFill>
            <a:prstDash val="solid"/>
          </a:ln>
        </p:spPr>
      </p:sp>
      <p:sp>
        <p:nvSpPr>
          <p:cNvPr id="15" name="Text 13"/>
          <p:cNvSpPr/>
          <p:nvPr/>
        </p:nvSpPr>
        <p:spPr>
          <a:xfrm>
            <a:off x="502920" y="2176272"/>
            <a:ext cx="1691640" cy="457200"/>
          </a:xfrm>
          <a:prstGeom prst="rect">
            <a:avLst/>
          </a:prstGeom>
          <a:noFill/>
          <a:ln/>
        </p:spPr>
        <p:txBody>
          <a:bodyPr wrap="square" rtlCol="0" anchor="ctr"/>
          <a:lstStyle/>
          <a:p>
            <a:pPr marL="0" indent="0">
              <a:buNone/>
            </a:pPr>
            <a:r>
              <a:rPr lang="en-US" sz="1000" dirty="0">
                <a:solidFill>
                  <a:srgbClr val="1E293B"/>
                </a:solidFill>
              </a:rPr>
              <a:t>Introduce yourself &amp; the role clearly</a:t>
            </a:r>
            <a:endParaRPr lang="en-US" sz="1000" dirty="0"/>
          </a:p>
        </p:txBody>
      </p:sp>
      <p:sp>
        <p:nvSpPr>
          <p:cNvPr id="16" name="Shape 14"/>
          <p:cNvSpPr/>
          <p:nvPr/>
        </p:nvSpPr>
        <p:spPr>
          <a:xfrm>
            <a:off x="347472" y="2770632"/>
            <a:ext cx="100584" cy="100584"/>
          </a:xfrm>
          <a:prstGeom prst="ellipse">
            <a:avLst/>
          </a:prstGeom>
          <a:solidFill>
            <a:srgbClr val="F59E0B"/>
          </a:solidFill>
          <a:ln w="12700">
            <a:solidFill>
              <a:srgbClr val="F59E0B"/>
            </a:solidFill>
            <a:prstDash val="solid"/>
          </a:ln>
        </p:spPr>
      </p:sp>
      <p:sp>
        <p:nvSpPr>
          <p:cNvPr id="17" name="Text 15"/>
          <p:cNvSpPr/>
          <p:nvPr/>
        </p:nvSpPr>
        <p:spPr>
          <a:xfrm>
            <a:off x="502920" y="2679192"/>
            <a:ext cx="1691640" cy="457200"/>
          </a:xfrm>
          <a:prstGeom prst="rect">
            <a:avLst/>
          </a:prstGeom>
          <a:noFill/>
          <a:ln/>
        </p:spPr>
        <p:txBody>
          <a:bodyPr wrap="square" rtlCol="0" anchor="ctr"/>
          <a:lstStyle/>
          <a:p>
            <a:pPr marL="0" indent="0">
              <a:buNone/>
            </a:pPr>
            <a:r>
              <a:rPr lang="en-US" sz="1000" dirty="0">
                <a:solidFill>
                  <a:srgbClr val="1E293B"/>
                </a:solidFill>
              </a:rPr>
              <a:t>Ask: 'Walk me through your last project'</a:t>
            </a:r>
            <a:endParaRPr lang="en-US" sz="1000" dirty="0"/>
          </a:p>
        </p:txBody>
      </p:sp>
      <p:sp>
        <p:nvSpPr>
          <p:cNvPr id="18" name="Shape 16"/>
          <p:cNvSpPr/>
          <p:nvPr/>
        </p:nvSpPr>
        <p:spPr>
          <a:xfrm>
            <a:off x="347472" y="3273552"/>
            <a:ext cx="100584" cy="100584"/>
          </a:xfrm>
          <a:prstGeom prst="ellipse">
            <a:avLst/>
          </a:prstGeom>
          <a:solidFill>
            <a:srgbClr val="F59E0B"/>
          </a:solidFill>
          <a:ln w="12700">
            <a:solidFill>
              <a:srgbClr val="F59E0B"/>
            </a:solidFill>
            <a:prstDash val="solid"/>
          </a:ln>
        </p:spPr>
      </p:sp>
      <p:sp>
        <p:nvSpPr>
          <p:cNvPr id="19" name="Text 17"/>
          <p:cNvSpPr/>
          <p:nvPr/>
        </p:nvSpPr>
        <p:spPr>
          <a:xfrm>
            <a:off x="502920" y="3182112"/>
            <a:ext cx="1691640" cy="457200"/>
          </a:xfrm>
          <a:prstGeom prst="rect">
            <a:avLst/>
          </a:prstGeom>
          <a:noFill/>
          <a:ln/>
        </p:spPr>
        <p:txBody>
          <a:bodyPr wrap="square" rtlCol="0" anchor="ctr"/>
          <a:lstStyle/>
          <a:p>
            <a:pPr marL="0" indent="0">
              <a:buNone/>
            </a:pPr>
            <a:r>
              <a:rPr lang="en-US" sz="1000" dirty="0">
                <a:solidFill>
                  <a:srgbClr val="1E293B"/>
                </a:solidFill>
              </a:rPr>
              <a:t>Listen for: clarity, confidence, ownership</a:t>
            </a:r>
            <a:endParaRPr lang="en-US" sz="1000" dirty="0"/>
          </a:p>
        </p:txBody>
      </p:sp>
      <p:sp>
        <p:nvSpPr>
          <p:cNvPr id="20" name="Shape 18"/>
          <p:cNvSpPr/>
          <p:nvPr/>
        </p:nvSpPr>
        <p:spPr>
          <a:xfrm>
            <a:off x="347472" y="3776472"/>
            <a:ext cx="100584" cy="100584"/>
          </a:xfrm>
          <a:prstGeom prst="ellipse">
            <a:avLst/>
          </a:prstGeom>
          <a:solidFill>
            <a:srgbClr val="F59E0B"/>
          </a:solidFill>
          <a:ln w="12700">
            <a:solidFill>
              <a:srgbClr val="F59E0B"/>
            </a:solidFill>
            <a:prstDash val="solid"/>
          </a:ln>
        </p:spPr>
      </p:sp>
      <p:sp>
        <p:nvSpPr>
          <p:cNvPr id="21" name="Text 19"/>
          <p:cNvSpPr/>
          <p:nvPr/>
        </p:nvSpPr>
        <p:spPr>
          <a:xfrm>
            <a:off x="502920" y="3685032"/>
            <a:ext cx="1691640" cy="457200"/>
          </a:xfrm>
          <a:prstGeom prst="rect">
            <a:avLst/>
          </a:prstGeom>
          <a:noFill/>
          <a:ln/>
        </p:spPr>
        <p:txBody>
          <a:bodyPr wrap="square" rtlCol="0" anchor="ctr"/>
          <a:lstStyle/>
          <a:p>
            <a:pPr marL="0" indent="0">
              <a:buNone/>
            </a:pPr>
            <a:r>
              <a:rPr lang="en-US" sz="1000" dirty="0">
                <a:solidFill>
                  <a:srgbClr val="1E293B"/>
                </a:solidFill>
              </a:rPr>
              <a:t>Red flag: vague answers, no specific outcomes</a:t>
            </a:r>
            <a:endParaRPr lang="en-US" sz="1000" dirty="0"/>
          </a:p>
        </p:txBody>
      </p:sp>
      <p:sp>
        <p:nvSpPr>
          <p:cNvPr id="22" name="Shape 20"/>
          <p:cNvSpPr/>
          <p:nvPr/>
        </p:nvSpPr>
        <p:spPr>
          <a:xfrm>
            <a:off x="1115568" y="2240280"/>
            <a:ext cx="237744" cy="237744"/>
          </a:xfrm>
          <a:prstGeom prst="ellipse">
            <a:avLst/>
          </a:prstGeom>
          <a:solidFill>
            <a:srgbClr val="F59E0B"/>
          </a:solidFill>
          <a:ln w="12700">
            <a:solidFill>
              <a:srgbClr val="F59E0B"/>
            </a:solidFill>
            <a:prstDash val="solid"/>
          </a:ln>
        </p:spPr>
      </p:sp>
      <p:sp>
        <p:nvSpPr>
          <p:cNvPr id="23" name="Shape 21"/>
          <p:cNvSpPr/>
          <p:nvPr/>
        </p:nvSpPr>
        <p:spPr>
          <a:xfrm>
            <a:off x="2423160" y="1005840"/>
            <a:ext cx="2103120" cy="3383280"/>
          </a:xfrm>
          <a:prstGeom prst="rect">
            <a:avLst/>
          </a:prstGeom>
          <a:solidFill>
            <a:srgbClr val="EFF6FF"/>
          </a:solidFill>
          <a:ln w="6350">
            <a:solidFill>
              <a:srgbClr val="E2E8F0"/>
            </a:solidFill>
            <a:prstDash val="solid"/>
          </a:ln>
          <a:effectLst>
            <a:outerShdw blurRad="76200" dist="25400" dir="8100000" algn="bl" rotWithShape="0">
              <a:srgbClr val="000000">
                <a:alpha val="6000"/>
              </a:srgbClr>
            </a:outerShdw>
          </a:effectLst>
        </p:spPr>
      </p:sp>
      <p:sp>
        <p:nvSpPr>
          <p:cNvPr id="24" name="Shape 22"/>
          <p:cNvSpPr/>
          <p:nvPr/>
        </p:nvSpPr>
        <p:spPr>
          <a:xfrm>
            <a:off x="2423160" y="1005840"/>
            <a:ext cx="2103120" cy="64008"/>
          </a:xfrm>
          <a:prstGeom prst="rect">
            <a:avLst/>
          </a:prstGeom>
          <a:solidFill>
            <a:srgbClr val="3B82F6"/>
          </a:solidFill>
          <a:ln w="12700">
            <a:solidFill>
              <a:srgbClr val="3B82F6"/>
            </a:solidFill>
            <a:prstDash val="solid"/>
          </a:ln>
        </p:spPr>
      </p:sp>
      <p:sp>
        <p:nvSpPr>
          <p:cNvPr id="25" name="Shape 23"/>
          <p:cNvSpPr/>
          <p:nvPr/>
        </p:nvSpPr>
        <p:spPr>
          <a:xfrm>
            <a:off x="2560320" y="1124712"/>
            <a:ext cx="1371600" cy="256032"/>
          </a:xfrm>
          <a:prstGeom prst="rect">
            <a:avLst/>
          </a:prstGeom>
          <a:solidFill>
            <a:srgbClr val="3B82F6"/>
          </a:solidFill>
          <a:ln w="12700">
            <a:solidFill>
              <a:srgbClr val="3B82F6"/>
            </a:solidFill>
            <a:prstDash val="solid"/>
          </a:ln>
        </p:spPr>
      </p:sp>
      <p:sp>
        <p:nvSpPr>
          <p:cNvPr id="26" name="Text 24"/>
          <p:cNvSpPr/>
          <p:nvPr/>
        </p:nvSpPr>
        <p:spPr>
          <a:xfrm>
            <a:off x="2560320" y="1124712"/>
            <a:ext cx="1371600" cy="256032"/>
          </a:xfrm>
          <a:prstGeom prst="rect">
            <a:avLst/>
          </a:prstGeom>
          <a:noFill/>
          <a:ln/>
        </p:spPr>
        <p:txBody>
          <a:bodyPr wrap="square" lIns="0" tIns="0" rIns="0" bIns="0" rtlCol="0" anchor="ctr"/>
          <a:lstStyle/>
          <a:p>
            <a:pPr marL="0" indent="0" algn="ctr">
              <a:buNone/>
            </a:pPr>
            <a:r>
              <a:rPr lang="en-US" sz="950" b="1" dirty="0">
                <a:solidFill>
                  <a:srgbClr val="0D1117"/>
                </a:solidFill>
              </a:rPr>
              <a:t>3–7 min</a:t>
            </a:r>
            <a:endParaRPr lang="en-US" sz="950" dirty="0"/>
          </a:p>
        </p:txBody>
      </p:sp>
      <p:sp>
        <p:nvSpPr>
          <p:cNvPr id="27" name="Text 25"/>
          <p:cNvSpPr/>
          <p:nvPr/>
        </p:nvSpPr>
        <p:spPr>
          <a:xfrm>
            <a:off x="2560320" y="1444752"/>
            <a:ext cx="1828800" cy="228600"/>
          </a:xfrm>
          <a:prstGeom prst="rect">
            <a:avLst/>
          </a:prstGeom>
          <a:noFill/>
          <a:ln/>
        </p:spPr>
        <p:txBody>
          <a:bodyPr wrap="square" rtlCol="0" anchor="ctr"/>
          <a:lstStyle/>
          <a:p>
            <a:pPr marL="0" indent="0">
              <a:buNone/>
            </a:pPr>
            <a:r>
              <a:rPr lang="en-US" sz="900" b="1" kern="0" spc="200" dirty="0">
                <a:solidFill>
                  <a:srgbClr val="3B82F6"/>
                </a:solidFill>
              </a:rPr>
              <a:t>PHASE 2</a:t>
            </a:r>
            <a:endParaRPr lang="en-US" sz="900" dirty="0"/>
          </a:p>
        </p:txBody>
      </p:sp>
      <p:sp>
        <p:nvSpPr>
          <p:cNvPr id="28" name="Text 26"/>
          <p:cNvSpPr/>
          <p:nvPr/>
        </p:nvSpPr>
        <p:spPr>
          <a:xfrm>
            <a:off x="2560320" y="1645920"/>
            <a:ext cx="1828800" cy="475488"/>
          </a:xfrm>
          <a:prstGeom prst="rect">
            <a:avLst/>
          </a:prstGeom>
          <a:noFill/>
          <a:ln/>
        </p:spPr>
        <p:txBody>
          <a:bodyPr wrap="square" rtlCol="0" anchor="ctr"/>
          <a:lstStyle/>
          <a:p>
            <a:pPr marL="0" indent="0">
              <a:buNone/>
            </a:pPr>
            <a:r>
              <a:rPr lang="en-US" sz="1250" b="1" dirty="0">
                <a:solidFill>
                  <a:srgbClr val="1E293B"/>
                </a:solidFill>
                <a:latin typeface="Trebuchet MS" pitchFamily="34" charset="0"/>
                <a:ea typeface="Trebuchet MS" pitchFamily="34" charset="-122"/>
                <a:cs typeface="Trebuchet MS" pitchFamily="34" charset="-120"/>
              </a:rPr>
              <a:t>Technical Depth Probe</a:t>
            </a:r>
            <a:endParaRPr lang="en-US" sz="1250" dirty="0"/>
          </a:p>
        </p:txBody>
      </p:sp>
      <p:sp>
        <p:nvSpPr>
          <p:cNvPr id="29" name="Shape 27"/>
          <p:cNvSpPr/>
          <p:nvPr/>
        </p:nvSpPr>
        <p:spPr>
          <a:xfrm>
            <a:off x="2560320" y="2121408"/>
            <a:ext cx="1828800" cy="27432"/>
          </a:xfrm>
          <a:prstGeom prst="rect">
            <a:avLst/>
          </a:prstGeom>
          <a:solidFill>
            <a:srgbClr val="E2E8F0"/>
          </a:solidFill>
          <a:ln w="12700">
            <a:solidFill>
              <a:srgbClr val="E2E8F0"/>
            </a:solidFill>
            <a:prstDash val="solid"/>
          </a:ln>
        </p:spPr>
      </p:sp>
      <p:sp>
        <p:nvSpPr>
          <p:cNvPr id="30" name="Shape 28"/>
          <p:cNvSpPr/>
          <p:nvPr/>
        </p:nvSpPr>
        <p:spPr>
          <a:xfrm>
            <a:off x="2542032" y="2267712"/>
            <a:ext cx="100584" cy="100584"/>
          </a:xfrm>
          <a:prstGeom prst="ellipse">
            <a:avLst/>
          </a:prstGeom>
          <a:solidFill>
            <a:srgbClr val="3B82F6"/>
          </a:solidFill>
          <a:ln w="12700">
            <a:solidFill>
              <a:srgbClr val="3B82F6"/>
            </a:solidFill>
            <a:prstDash val="solid"/>
          </a:ln>
        </p:spPr>
      </p:sp>
      <p:sp>
        <p:nvSpPr>
          <p:cNvPr id="31" name="Text 29"/>
          <p:cNvSpPr/>
          <p:nvPr/>
        </p:nvSpPr>
        <p:spPr>
          <a:xfrm>
            <a:off x="2697480" y="2176272"/>
            <a:ext cx="1691640" cy="457200"/>
          </a:xfrm>
          <a:prstGeom prst="rect">
            <a:avLst/>
          </a:prstGeom>
          <a:noFill/>
          <a:ln/>
        </p:spPr>
        <p:txBody>
          <a:bodyPr wrap="square" rtlCol="0" anchor="ctr"/>
          <a:lstStyle/>
          <a:p>
            <a:pPr marL="0" indent="0">
              <a:buNone/>
            </a:pPr>
            <a:r>
              <a:rPr lang="en-US" sz="1000" dirty="0">
                <a:solidFill>
                  <a:srgbClr val="1E293B"/>
                </a:solidFill>
              </a:rPr>
              <a:t>Ask 2–3 role-specific concept questions</a:t>
            </a:r>
            <a:endParaRPr lang="en-US" sz="1000" dirty="0"/>
          </a:p>
        </p:txBody>
      </p:sp>
      <p:sp>
        <p:nvSpPr>
          <p:cNvPr id="32" name="Shape 30"/>
          <p:cNvSpPr/>
          <p:nvPr/>
        </p:nvSpPr>
        <p:spPr>
          <a:xfrm>
            <a:off x="2542032" y="2770632"/>
            <a:ext cx="100584" cy="100584"/>
          </a:xfrm>
          <a:prstGeom prst="ellipse">
            <a:avLst/>
          </a:prstGeom>
          <a:solidFill>
            <a:srgbClr val="3B82F6"/>
          </a:solidFill>
          <a:ln w="12700">
            <a:solidFill>
              <a:srgbClr val="3B82F6"/>
            </a:solidFill>
            <a:prstDash val="solid"/>
          </a:ln>
        </p:spPr>
      </p:sp>
      <p:sp>
        <p:nvSpPr>
          <p:cNvPr id="33" name="Text 31"/>
          <p:cNvSpPr/>
          <p:nvPr/>
        </p:nvSpPr>
        <p:spPr>
          <a:xfrm>
            <a:off x="2697480" y="2679192"/>
            <a:ext cx="1691640" cy="457200"/>
          </a:xfrm>
          <a:prstGeom prst="rect">
            <a:avLst/>
          </a:prstGeom>
          <a:noFill/>
          <a:ln/>
        </p:spPr>
        <p:txBody>
          <a:bodyPr wrap="square" rtlCol="0" anchor="ctr"/>
          <a:lstStyle/>
          <a:p>
            <a:pPr marL="0" indent="0">
              <a:buNone/>
            </a:pPr>
            <a:r>
              <a:rPr lang="en-US" sz="1000" dirty="0">
                <a:solidFill>
                  <a:srgbClr val="1E293B"/>
                </a:solidFill>
              </a:rPr>
              <a:t>How would you explain [X] to a non-tech PM?</a:t>
            </a:r>
            <a:endParaRPr lang="en-US" sz="1000" dirty="0"/>
          </a:p>
        </p:txBody>
      </p:sp>
      <p:sp>
        <p:nvSpPr>
          <p:cNvPr id="34" name="Shape 32"/>
          <p:cNvSpPr/>
          <p:nvPr/>
        </p:nvSpPr>
        <p:spPr>
          <a:xfrm>
            <a:off x="2542032" y="3273552"/>
            <a:ext cx="100584" cy="100584"/>
          </a:xfrm>
          <a:prstGeom prst="ellipse">
            <a:avLst/>
          </a:prstGeom>
          <a:solidFill>
            <a:srgbClr val="3B82F6"/>
          </a:solidFill>
          <a:ln w="12700">
            <a:solidFill>
              <a:srgbClr val="3B82F6"/>
            </a:solidFill>
            <a:prstDash val="solid"/>
          </a:ln>
        </p:spPr>
      </p:sp>
      <p:sp>
        <p:nvSpPr>
          <p:cNvPr id="35" name="Text 33"/>
          <p:cNvSpPr/>
          <p:nvPr/>
        </p:nvSpPr>
        <p:spPr>
          <a:xfrm>
            <a:off x="2697480" y="3182112"/>
            <a:ext cx="1691640" cy="457200"/>
          </a:xfrm>
          <a:prstGeom prst="rect">
            <a:avLst/>
          </a:prstGeom>
          <a:noFill/>
          <a:ln/>
        </p:spPr>
        <p:txBody>
          <a:bodyPr wrap="square" rtlCol="0" anchor="ctr"/>
          <a:lstStyle/>
          <a:p>
            <a:pPr marL="0" indent="0">
              <a:buNone/>
            </a:pPr>
            <a:r>
              <a:rPr lang="en-US" sz="1000" dirty="0">
                <a:solidFill>
                  <a:srgbClr val="1E293B"/>
                </a:solidFill>
              </a:rPr>
              <a:t>Ask about trade-offs, not just definitions</a:t>
            </a:r>
            <a:endParaRPr lang="en-US" sz="1000" dirty="0"/>
          </a:p>
        </p:txBody>
      </p:sp>
      <p:sp>
        <p:nvSpPr>
          <p:cNvPr id="36" name="Shape 34"/>
          <p:cNvSpPr/>
          <p:nvPr/>
        </p:nvSpPr>
        <p:spPr>
          <a:xfrm>
            <a:off x="2542032" y="3776472"/>
            <a:ext cx="100584" cy="100584"/>
          </a:xfrm>
          <a:prstGeom prst="ellipse">
            <a:avLst/>
          </a:prstGeom>
          <a:solidFill>
            <a:srgbClr val="3B82F6"/>
          </a:solidFill>
          <a:ln w="12700">
            <a:solidFill>
              <a:srgbClr val="3B82F6"/>
            </a:solidFill>
            <a:prstDash val="solid"/>
          </a:ln>
        </p:spPr>
      </p:sp>
      <p:sp>
        <p:nvSpPr>
          <p:cNvPr id="37" name="Text 35"/>
          <p:cNvSpPr/>
          <p:nvPr/>
        </p:nvSpPr>
        <p:spPr>
          <a:xfrm>
            <a:off x="2697480" y="3685032"/>
            <a:ext cx="1691640" cy="457200"/>
          </a:xfrm>
          <a:prstGeom prst="rect">
            <a:avLst/>
          </a:prstGeom>
          <a:noFill/>
          <a:ln/>
        </p:spPr>
        <p:txBody>
          <a:bodyPr wrap="square" rtlCol="0" anchor="ctr"/>
          <a:lstStyle/>
          <a:p>
            <a:pPr marL="0" indent="0">
              <a:buNone/>
            </a:pPr>
            <a:r>
              <a:rPr lang="en-US" sz="1000" dirty="0">
                <a:solidFill>
                  <a:srgbClr val="1E293B"/>
                </a:solidFill>
              </a:rPr>
              <a:t>Red flag: memorised answers, no real examples</a:t>
            </a:r>
            <a:endParaRPr lang="en-US" sz="1000" dirty="0"/>
          </a:p>
        </p:txBody>
      </p:sp>
      <p:sp>
        <p:nvSpPr>
          <p:cNvPr id="38" name="Shape 36"/>
          <p:cNvSpPr/>
          <p:nvPr/>
        </p:nvSpPr>
        <p:spPr>
          <a:xfrm>
            <a:off x="3310128" y="2240280"/>
            <a:ext cx="237744" cy="237744"/>
          </a:xfrm>
          <a:prstGeom prst="ellipse">
            <a:avLst/>
          </a:prstGeom>
          <a:solidFill>
            <a:srgbClr val="3B82F6"/>
          </a:solidFill>
          <a:ln w="12700">
            <a:solidFill>
              <a:srgbClr val="3B82F6"/>
            </a:solidFill>
            <a:prstDash val="solid"/>
          </a:ln>
        </p:spPr>
      </p:sp>
      <p:sp>
        <p:nvSpPr>
          <p:cNvPr id="39" name="Shape 37"/>
          <p:cNvSpPr/>
          <p:nvPr/>
        </p:nvSpPr>
        <p:spPr>
          <a:xfrm>
            <a:off x="4617720" y="1005840"/>
            <a:ext cx="2103120" cy="3383280"/>
          </a:xfrm>
          <a:prstGeom prst="rect">
            <a:avLst/>
          </a:prstGeom>
          <a:solidFill>
            <a:srgbClr val="F5F3FF"/>
          </a:solidFill>
          <a:ln w="6350">
            <a:solidFill>
              <a:srgbClr val="E2E8F0"/>
            </a:solidFill>
            <a:prstDash val="solid"/>
          </a:ln>
          <a:effectLst>
            <a:outerShdw blurRad="76200" dist="25400" dir="8100000" algn="bl" rotWithShape="0">
              <a:srgbClr val="000000">
                <a:alpha val="6000"/>
              </a:srgbClr>
            </a:outerShdw>
          </a:effectLst>
        </p:spPr>
      </p:sp>
      <p:sp>
        <p:nvSpPr>
          <p:cNvPr id="40" name="Shape 38"/>
          <p:cNvSpPr/>
          <p:nvPr/>
        </p:nvSpPr>
        <p:spPr>
          <a:xfrm>
            <a:off x="4617720" y="1005840"/>
            <a:ext cx="2103120" cy="64008"/>
          </a:xfrm>
          <a:prstGeom prst="rect">
            <a:avLst/>
          </a:prstGeom>
          <a:solidFill>
            <a:srgbClr val="8B5CF6"/>
          </a:solidFill>
          <a:ln w="12700">
            <a:solidFill>
              <a:srgbClr val="8B5CF6"/>
            </a:solidFill>
            <a:prstDash val="solid"/>
          </a:ln>
        </p:spPr>
      </p:sp>
      <p:sp>
        <p:nvSpPr>
          <p:cNvPr id="41" name="Shape 39"/>
          <p:cNvSpPr/>
          <p:nvPr/>
        </p:nvSpPr>
        <p:spPr>
          <a:xfrm>
            <a:off x="4754880" y="1124712"/>
            <a:ext cx="1371600" cy="256032"/>
          </a:xfrm>
          <a:prstGeom prst="rect">
            <a:avLst/>
          </a:prstGeom>
          <a:solidFill>
            <a:srgbClr val="8B5CF6"/>
          </a:solidFill>
          <a:ln w="12700">
            <a:solidFill>
              <a:srgbClr val="8B5CF6"/>
            </a:solidFill>
            <a:prstDash val="solid"/>
          </a:ln>
        </p:spPr>
      </p:sp>
      <p:sp>
        <p:nvSpPr>
          <p:cNvPr id="42" name="Text 40"/>
          <p:cNvSpPr/>
          <p:nvPr/>
        </p:nvSpPr>
        <p:spPr>
          <a:xfrm>
            <a:off x="4754880" y="1124712"/>
            <a:ext cx="1371600" cy="256032"/>
          </a:xfrm>
          <a:prstGeom prst="rect">
            <a:avLst/>
          </a:prstGeom>
          <a:noFill/>
          <a:ln/>
        </p:spPr>
        <p:txBody>
          <a:bodyPr wrap="square" lIns="0" tIns="0" rIns="0" bIns="0" rtlCol="0" anchor="ctr"/>
          <a:lstStyle/>
          <a:p>
            <a:pPr marL="0" indent="0" algn="ctr">
              <a:buNone/>
            </a:pPr>
            <a:r>
              <a:rPr lang="en-US" sz="950" b="1" dirty="0">
                <a:solidFill>
                  <a:srgbClr val="0D1117"/>
                </a:solidFill>
              </a:rPr>
              <a:t>7–12 min</a:t>
            </a:r>
            <a:endParaRPr lang="en-US" sz="950" dirty="0"/>
          </a:p>
        </p:txBody>
      </p:sp>
      <p:sp>
        <p:nvSpPr>
          <p:cNvPr id="43" name="Text 41"/>
          <p:cNvSpPr/>
          <p:nvPr/>
        </p:nvSpPr>
        <p:spPr>
          <a:xfrm>
            <a:off x="4754880" y="1444752"/>
            <a:ext cx="1828800" cy="228600"/>
          </a:xfrm>
          <a:prstGeom prst="rect">
            <a:avLst/>
          </a:prstGeom>
          <a:noFill/>
          <a:ln/>
        </p:spPr>
        <p:txBody>
          <a:bodyPr wrap="square" rtlCol="0" anchor="ctr"/>
          <a:lstStyle/>
          <a:p>
            <a:pPr marL="0" indent="0">
              <a:buNone/>
            </a:pPr>
            <a:r>
              <a:rPr lang="en-US" sz="900" b="1" kern="0" spc="200" dirty="0">
                <a:solidFill>
                  <a:srgbClr val="8B5CF6"/>
                </a:solidFill>
              </a:rPr>
              <a:t>PHASE 3</a:t>
            </a:r>
            <a:endParaRPr lang="en-US" sz="900" dirty="0"/>
          </a:p>
        </p:txBody>
      </p:sp>
      <p:sp>
        <p:nvSpPr>
          <p:cNvPr id="44" name="Text 42"/>
          <p:cNvSpPr/>
          <p:nvPr/>
        </p:nvSpPr>
        <p:spPr>
          <a:xfrm>
            <a:off x="4754880" y="1645920"/>
            <a:ext cx="1828800" cy="475488"/>
          </a:xfrm>
          <a:prstGeom prst="rect">
            <a:avLst/>
          </a:prstGeom>
          <a:noFill/>
          <a:ln/>
        </p:spPr>
        <p:txBody>
          <a:bodyPr wrap="square" rtlCol="0" anchor="ctr"/>
          <a:lstStyle/>
          <a:p>
            <a:pPr marL="0" indent="0">
              <a:buNone/>
            </a:pPr>
            <a:r>
              <a:rPr lang="en-US" sz="1250" b="1" dirty="0">
                <a:solidFill>
                  <a:srgbClr val="1E293B"/>
                </a:solidFill>
                <a:latin typeface="Trebuchet MS" pitchFamily="34" charset="0"/>
                <a:ea typeface="Trebuchet MS" pitchFamily="34" charset="-122"/>
                <a:cs typeface="Trebuchet MS" pitchFamily="34" charset="-120"/>
              </a:rPr>
              <a:t>Scenario &amp; Problem-Solving</a:t>
            </a:r>
            <a:endParaRPr lang="en-US" sz="1250" dirty="0"/>
          </a:p>
        </p:txBody>
      </p:sp>
      <p:sp>
        <p:nvSpPr>
          <p:cNvPr id="45" name="Shape 43"/>
          <p:cNvSpPr/>
          <p:nvPr/>
        </p:nvSpPr>
        <p:spPr>
          <a:xfrm>
            <a:off x="4754880" y="2121408"/>
            <a:ext cx="1828800" cy="27432"/>
          </a:xfrm>
          <a:prstGeom prst="rect">
            <a:avLst/>
          </a:prstGeom>
          <a:solidFill>
            <a:srgbClr val="E2E8F0"/>
          </a:solidFill>
          <a:ln w="12700">
            <a:solidFill>
              <a:srgbClr val="E2E8F0"/>
            </a:solidFill>
            <a:prstDash val="solid"/>
          </a:ln>
        </p:spPr>
      </p:sp>
      <p:sp>
        <p:nvSpPr>
          <p:cNvPr id="46" name="Shape 44"/>
          <p:cNvSpPr/>
          <p:nvPr/>
        </p:nvSpPr>
        <p:spPr>
          <a:xfrm>
            <a:off x="4736592" y="2267712"/>
            <a:ext cx="100584" cy="100584"/>
          </a:xfrm>
          <a:prstGeom prst="ellipse">
            <a:avLst/>
          </a:prstGeom>
          <a:solidFill>
            <a:srgbClr val="8B5CF6"/>
          </a:solidFill>
          <a:ln w="12700">
            <a:solidFill>
              <a:srgbClr val="8B5CF6"/>
            </a:solidFill>
            <a:prstDash val="solid"/>
          </a:ln>
        </p:spPr>
      </p:sp>
      <p:sp>
        <p:nvSpPr>
          <p:cNvPr id="47" name="Text 45"/>
          <p:cNvSpPr/>
          <p:nvPr/>
        </p:nvSpPr>
        <p:spPr>
          <a:xfrm>
            <a:off x="4892040" y="2176272"/>
            <a:ext cx="1691640" cy="457200"/>
          </a:xfrm>
          <a:prstGeom prst="rect">
            <a:avLst/>
          </a:prstGeom>
          <a:noFill/>
          <a:ln/>
        </p:spPr>
        <p:txBody>
          <a:bodyPr wrap="square" rtlCol="0" anchor="ctr"/>
          <a:lstStyle/>
          <a:p>
            <a:pPr marL="0" indent="0">
              <a:buNone/>
            </a:pPr>
            <a:r>
              <a:rPr lang="en-US" sz="1000" dirty="0">
                <a:solidFill>
                  <a:srgbClr val="1E293B"/>
                </a:solidFill>
              </a:rPr>
              <a:t>Present a real-world scenario (see Slide 5)</a:t>
            </a:r>
            <a:endParaRPr lang="en-US" sz="1000" dirty="0"/>
          </a:p>
        </p:txBody>
      </p:sp>
      <p:sp>
        <p:nvSpPr>
          <p:cNvPr id="48" name="Shape 46"/>
          <p:cNvSpPr/>
          <p:nvPr/>
        </p:nvSpPr>
        <p:spPr>
          <a:xfrm>
            <a:off x="4736592" y="2770632"/>
            <a:ext cx="100584" cy="100584"/>
          </a:xfrm>
          <a:prstGeom prst="ellipse">
            <a:avLst/>
          </a:prstGeom>
          <a:solidFill>
            <a:srgbClr val="8B5CF6"/>
          </a:solidFill>
          <a:ln w="12700">
            <a:solidFill>
              <a:srgbClr val="8B5CF6"/>
            </a:solidFill>
            <a:prstDash val="solid"/>
          </a:ln>
        </p:spPr>
      </p:sp>
      <p:sp>
        <p:nvSpPr>
          <p:cNvPr id="49" name="Text 47"/>
          <p:cNvSpPr/>
          <p:nvPr/>
        </p:nvSpPr>
        <p:spPr>
          <a:xfrm>
            <a:off x="4892040" y="2679192"/>
            <a:ext cx="1691640" cy="457200"/>
          </a:xfrm>
          <a:prstGeom prst="rect">
            <a:avLst/>
          </a:prstGeom>
          <a:noFill/>
          <a:ln/>
        </p:spPr>
        <p:txBody>
          <a:bodyPr wrap="square" rtlCol="0" anchor="ctr"/>
          <a:lstStyle/>
          <a:p>
            <a:pPr marL="0" indent="0">
              <a:buNone/>
            </a:pPr>
            <a:r>
              <a:rPr lang="en-US" sz="1000" dirty="0">
                <a:solidFill>
                  <a:srgbClr val="1E293B"/>
                </a:solidFill>
              </a:rPr>
              <a:t>What would you do if [system broke]?</a:t>
            </a:r>
            <a:endParaRPr lang="en-US" sz="1000" dirty="0"/>
          </a:p>
        </p:txBody>
      </p:sp>
      <p:sp>
        <p:nvSpPr>
          <p:cNvPr id="50" name="Shape 48"/>
          <p:cNvSpPr/>
          <p:nvPr/>
        </p:nvSpPr>
        <p:spPr>
          <a:xfrm>
            <a:off x="4736592" y="3273552"/>
            <a:ext cx="100584" cy="100584"/>
          </a:xfrm>
          <a:prstGeom prst="ellipse">
            <a:avLst/>
          </a:prstGeom>
          <a:solidFill>
            <a:srgbClr val="8B5CF6"/>
          </a:solidFill>
          <a:ln w="12700">
            <a:solidFill>
              <a:srgbClr val="8B5CF6"/>
            </a:solidFill>
            <a:prstDash val="solid"/>
          </a:ln>
        </p:spPr>
      </p:sp>
      <p:sp>
        <p:nvSpPr>
          <p:cNvPr id="51" name="Text 49"/>
          <p:cNvSpPr/>
          <p:nvPr/>
        </p:nvSpPr>
        <p:spPr>
          <a:xfrm>
            <a:off x="4892040" y="3182112"/>
            <a:ext cx="1691640" cy="457200"/>
          </a:xfrm>
          <a:prstGeom prst="rect">
            <a:avLst/>
          </a:prstGeom>
          <a:noFill/>
          <a:ln/>
        </p:spPr>
        <p:txBody>
          <a:bodyPr wrap="square" rtlCol="0" anchor="ctr"/>
          <a:lstStyle/>
          <a:p>
            <a:pPr marL="0" indent="0">
              <a:buNone/>
            </a:pPr>
            <a:r>
              <a:rPr lang="en-US" sz="1000" dirty="0">
                <a:solidFill>
                  <a:srgbClr val="1E293B"/>
                </a:solidFill>
              </a:rPr>
              <a:t>Look for: structured thinking, calm under pressure</a:t>
            </a:r>
            <a:endParaRPr lang="en-US" sz="1000" dirty="0"/>
          </a:p>
        </p:txBody>
      </p:sp>
      <p:sp>
        <p:nvSpPr>
          <p:cNvPr id="52" name="Shape 50"/>
          <p:cNvSpPr/>
          <p:nvPr/>
        </p:nvSpPr>
        <p:spPr>
          <a:xfrm>
            <a:off x="4736592" y="3776472"/>
            <a:ext cx="100584" cy="100584"/>
          </a:xfrm>
          <a:prstGeom prst="ellipse">
            <a:avLst/>
          </a:prstGeom>
          <a:solidFill>
            <a:srgbClr val="8B5CF6"/>
          </a:solidFill>
          <a:ln w="12700">
            <a:solidFill>
              <a:srgbClr val="8B5CF6"/>
            </a:solidFill>
            <a:prstDash val="solid"/>
          </a:ln>
        </p:spPr>
      </p:sp>
      <p:sp>
        <p:nvSpPr>
          <p:cNvPr id="53" name="Text 51"/>
          <p:cNvSpPr/>
          <p:nvPr/>
        </p:nvSpPr>
        <p:spPr>
          <a:xfrm>
            <a:off x="4892040" y="3685032"/>
            <a:ext cx="1691640" cy="457200"/>
          </a:xfrm>
          <a:prstGeom prst="rect">
            <a:avLst/>
          </a:prstGeom>
          <a:noFill/>
          <a:ln/>
        </p:spPr>
        <p:txBody>
          <a:bodyPr wrap="square" rtlCol="0" anchor="ctr"/>
          <a:lstStyle/>
          <a:p>
            <a:pPr marL="0" indent="0">
              <a:buNone/>
            </a:pPr>
            <a:r>
              <a:rPr lang="en-US" sz="1000" dirty="0">
                <a:solidFill>
                  <a:srgbClr val="1E293B"/>
                </a:solidFill>
              </a:rPr>
              <a:t>Red flag: silence, blaming others, no process</a:t>
            </a:r>
            <a:endParaRPr lang="en-US" sz="1000" dirty="0"/>
          </a:p>
        </p:txBody>
      </p:sp>
      <p:sp>
        <p:nvSpPr>
          <p:cNvPr id="54" name="Shape 52"/>
          <p:cNvSpPr/>
          <p:nvPr/>
        </p:nvSpPr>
        <p:spPr>
          <a:xfrm>
            <a:off x="5504688" y="2240280"/>
            <a:ext cx="237744" cy="237744"/>
          </a:xfrm>
          <a:prstGeom prst="ellipse">
            <a:avLst/>
          </a:prstGeom>
          <a:solidFill>
            <a:srgbClr val="8B5CF6"/>
          </a:solidFill>
          <a:ln w="12700">
            <a:solidFill>
              <a:srgbClr val="8B5CF6"/>
            </a:solidFill>
            <a:prstDash val="solid"/>
          </a:ln>
        </p:spPr>
      </p:sp>
      <p:sp>
        <p:nvSpPr>
          <p:cNvPr id="55" name="Shape 53"/>
          <p:cNvSpPr/>
          <p:nvPr/>
        </p:nvSpPr>
        <p:spPr>
          <a:xfrm>
            <a:off x="6812280" y="1005840"/>
            <a:ext cx="2103120" cy="3383280"/>
          </a:xfrm>
          <a:prstGeom prst="rect">
            <a:avLst/>
          </a:prstGeom>
          <a:solidFill>
            <a:srgbClr val="ECFDF5"/>
          </a:solidFill>
          <a:ln w="6350">
            <a:solidFill>
              <a:srgbClr val="E2E8F0"/>
            </a:solidFill>
            <a:prstDash val="solid"/>
          </a:ln>
          <a:effectLst>
            <a:outerShdw blurRad="76200" dist="25400" dir="8100000" algn="bl" rotWithShape="0">
              <a:srgbClr val="000000">
                <a:alpha val="6000"/>
              </a:srgbClr>
            </a:outerShdw>
          </a:effectLst>
        </p:spPr>
      </p:sp>
      <p:sp>
        <p:nvSpPr>
          <p:cNvPr id="56" name="Shape 54"/>
          <p:cNvSpPr/>
          <p:nvPr/>
        </p:nvSpPr>
        <p:spPr>
          <a:xfrm>
            <a:off x="6812280" y="1005840"/>
            <a:ext cx="2103120" cy="64008"/>
          </a:xfrm>
          <a:prstGeom prst="rect">
            <a:avLst/>
          </a:prstGeom>
          <a:solidFill>
            <a:srgbClr val="10B981"/>
          </a:solidFill>
          <a:ln w="12700">
            <a:solidFill>
              <a:srgbClr val="10B981"/>
            </a:solidFill>
            <a:prstDash val="solid"/>
          </a:ln>
        </p:spPr>
      </p:sp>
      <p:sp>
        <p:nvSpPr>
          <p:cNvPr id="57" name="Shape 55"/>
          <p:cNvSpPr/>
          <p:nvPr/>
        </p:nvSpPr>
        <p:spPr>
          <a:xfrm>
            <a:off x="6949440" y="1124712"/>
            <a:ext cx="1371600" cy="256032"/>
          </a:xfrm>
          <a:prstGeom prst="rect">
            <a:avLst/>
          </a:prstGeom>
          <a:solidFill>
            <a:srgbClr val="10B981"/>
          </a:solidFill>
          <a:ln w="12700">
            <a:solidFill>
              <a:srgbClr val="10B981"/>
            </a:solidFill>
            <a:prstDash val="solid"/>
          </a:ln>
        </p:spPr>
      </p:sp>
      <p:sp>
        <p:nvSpPr>
          <p:cNvPr id="58" name="Text 56"/>
          <p:cNvSpPr/>
          <p:nvPr/>
        </p:nvSpPr>
        <p:spPr>
          <a:xfrm>
            <a:off x="6949440" y="1124712"/>
            <a:ext cx="1371600" cy="256032"/>
          </a:xfrm>
          <a:prstGeom prst="rect">
            <a:avLst/>
          </a:prstGeom>
          <a:noFill/>
          <a:ln/>
        </p:spPr>
        <p:txBody>
          <a:bodyPr wrap="square" lIns="0" tIns="0" rIns="0" bIns="0" rtlCol="0" anchor="ctr"/>
          <a:lstStyle/>
          <a:p>
            <a:pPr marL="0" indent="0" algn="ctr">
              <a:buNone/>
            </a:pPr>
            <a:r>
              <a:rPr lang="en-US" sz="950" b="1" dirty="0">
                <a:solidFill>
                  <a:srgbClr val="0D1117"/>
                </a:solidFill>
              </a:rPr>
              <a:t>12–15 min</a:t>
            </a:r>
            <a:endParaRPr lang="en-US" sz="950" dirty="0"/>
          </a:p>
        </p:txBody>
      </p:sp>
      <p:sp>
        <p:nvSpPr>
          <p:cNvPr id="59" name="Text 57"/>
          <p:cNvSpPr/>
          <p:nvPr/>
        </p:nvSpPr>
        <p:spPr>
          <a:xfrm>
            <a:off x="6949440" y="1444752"/>
            <a:ext cx="1828800" cy="228600"/>
          </a:xfrm>
          <a:prstGeom prst="rect">
            <a:avLst/>
          </a:prstGeom>
          <a:noFill/>
          <a:ln/>
        </p:spPr>
        <p:txBody>
          <a:bodyPr wrap="square" rtlCol="0" anchor="ctr"/>
          <a:lstStyle/>
          <a:p>
            <a:pPr marL="0" indent="0">
              <a:buNone/>
            </a:pPr>
            <a:r>
              <a:rPr lang="en-US" sz="900" b="1" kern="0" spc="200" dirty="0">
                <a:solidFill>
                  <a:srgbClr val="10B981"/>
                </a:solidFill>
              </a:rPr>
              <a:t>PHASE 4</a:t>
            </a:r>
            <a:endParaRPr lang="en-US" sz="900" dirty="0"/>
          </a:p>
        </p:txBody>
      </p:sp>
      <p:sp>
        <p:nvSpPr>
          <p:cNvPr id="60" name="Text 58"/>
          <p:cNvSpPr/>
          <p:nvPr/>
        </p:nvSpPr>
        <p:spPr>
          <a:xfrm>
            <a:off x="6949440" y="1645920"/>
            <a:ext cx="1828800" cy="475488"/>
          </a:xfrm>
          <a:prstGeom prst="rect">
            <a:avLst/>
          </a:prstGeom>
          <a:noFill/>
          <a:ln/>
        </p:spPr>
        <p:txBody>
          <a:bodyPr wrap="square" rtlCol="0" anchor="ctr"/>
          <a:lstStyle/>
          <a:p>
            <a:pPr marL="0" indent="0">
              <a:buNone/>
            </a:pPr>
            <a:r>
              <a:rPr lang="en-US" sz="1250" b="1" dirty="0">
                <a:solidFill>
                  <a:srgbClr val="1E293B"/>
                </a:solidFill>
                <a:latin typeface="Trebuchet MS" pitchFamily="34" charset="0"/>
                <a:ea typeface="Trebuchet MS" pitchFamily="34" charset="-122"/>
                <a:cs typeface="Trebuchet MS" pitchFamily="34" charset="-120"/>
              </a:rPr>
              <a:t>Vibe &amp; Culture Fit</a:t>
            </a:r>
            <a:endParaRPr lang="en-US" sz="1250" dirty="0"/>
          </a:p>
        </p:txBody>
      </p:sp>
      <p:sp>
        <p:nvSpPr>
          <p:cNvPr id="61" name="Shape 59"/>
          <p:cNvSpPr/>
          <p:nvPr/>
        </p:nvSpPr>
        <p:spPr>
          <a:xfrm>
            <a:off x="6949440" y="2121408"/>
            <a:ext cx="1828800" cy="27432"/>
          </a:xfrm>
          <a:prstGeom prst="rect">
            <a:avLst/>
          </a:prstGeom>
          <a:solidFill>
            <a:srgbClr val="E2E8F0"/>
          </a:solidFill>
          <a:ln w="12700">
            <a:solidFill>
              <a:srgbClr val="E2E8F0"/>
            </a:solidFill>
            <a:prstDash val="solid"/>
          </a:ln>
        </p:spPr>
      </p:sp>
      <p:sp>
        <p:nvSpPr>
          <p:cNvPr id="62" name="Shape 60"/>
          <p:cNvSpPr/>
          <p:nvPr/>
        </p:nvSpPr>
        <p:spPr>
          <a:xfrm>
            <a:off x="6931152" y="2267712"/>
            <a:ext cx="100584" cy="100584"/>
          </a:xfrm>
          <a:prstGeom prst="ellipse">
            <a:avLst/>
          </a:prstGeom>
          <a:solidFill>
            <a:srgbClr val="10B981"/>
          </a:solidFill>
          <a:ln w="12700">
            <a:solidFill>
              <a:srgbClr val="10B981"/>
            </a:solidFill>
            <a:prstDash val="solid"/>
          </a:ln>
        </p:spPr>
      </p:sp>
      <p:sp>
        <p:nvSpPr>
          <p:cNvPr id="63" name="Text 61"/>
          <p:cNvSpPr/>
          <p:nvPr/>
        </p:nvSpPr>
        <p:spPr>
          <a:xfrm>
            <a:off x="7086600" y="2176272"/>
            <a:ext cx="1691640" cy="457200"/>
          </a:xfrm>
          <a:prstGeom prst="rect">
            <a:avLst/>
          </a:prstGeom>
          <a:noFill/>
          <a:ln/>
        </p:spPr>
        <p:txBody>
          <a:bodyPr wrap="square" rtlCol="0" anchor="ctr"/>
          <a:lstStyle/>
          <a:p>
            <a:pPr marL="0" indent="0">
              <a:buNone/>
            </a:pPr>
            <a:r>
              <a:rPr lang="en-US" sz="1000" dirty="0">
                <a:solidFill>
                  <a:srgbClr val="1E293B"/>
                </a:solidFill>
              </a:rPr>
              <a:t>What kind of team dynamic do you thrive in?</a:t>
            </a:r>
            <a:endParaRPr lang="en-US" sz="1000" dirty="0"/>
          </a:p>
        </p:txBody>
      </p:sp>
      <p:sp>
        <p:nvSpPr>
          <p:cNvPr id="64" name="Shape 62"/>
          <p:cNvSpPr/>
          <p:nvPr/>
        </p:nvSpPr>
        <p:spPr>
          <a:xfrm>
            <a:off x="6931152" y="2770632"/>
            <a:ext cx="100584" cy="100584"/>
          </a:xfrm>
          <a:prstGeom prst="ellipse">
            <a:avLst/>
          </a:prstGeom>
          <a:solidFill>
            <a:srgbClr val="10B981"/>
          </a:solidFill>
          <a:ln w="12700">
            <a:solidFill>
              <a:srgbClr val="10B981"/>
            </a:solidFill>
            <a:prstDash val="solid"/>
          </a:ln>
        </p:spPr>
      </p:sp>
      <p:sp>
        <p:nvSpPr>
          <p:cNvPr id="65" name="Text 63"/>
          <p:cNvSpPr/>
          <p:nvPr/>
        </p:nvSpPr>
        <p:spPr>
          <a:xfrm>
            <a:off x="7086600" y="2679192"/>
            <a:ext cx="1691640" cy="457200"/>
          </a:xfrm>
          <a:prstGeom prst="rect">
            <a:avLst/>
          </a:prstGeom>
          <a:noFill/>
          <a:ln/>
        </p:spPr>
        <p:txBody>
          <a:bodyPr wrap="square" rtlCol="0" anchor="ctr"/>
          <a:lstStyle/>
          <a:p>
            <a:pPr marL="0" indent="0">
              <a:buNone/>
            </a:pPr>
            <a:r>
              <a:rPr lang="en-US" sz="1000" dirty="0">
                <a:solidFill>
                  <a:srgbClr val="1E293B"/>
                </a:solidFill>
              </a:rPr>
              <a:t>Tell me about a conflict and how you handled it</a:t>
            </a:r>
            <a:endParaRPr lang="en-US" sz="1000" dirty="0"/>
          </a:p>
        </p:txBody>
      </p:sp>
      <p:sp>
        <p:nvSpPr>
          <p:cNvPr id="66" name="Shape 64"/>
          <p:cNvSpPr/>
          <p:nvPr/>
        </p:nvSpPr>
        <p:spPr>
          <a:xfrm>
            <a:off x="6931152" y="3273552"/>
            <a:ext cx="100584" cy="100584"/>
          </a:xfrm>
          <a:prstGeom prst="ellipse">
            <a:avLst/>
          </a:prstGeom>
          <a:solidFill>
            <a:srgbClr val="10B981"/>
          </a:solidFill>
          <a:ln w="12700">
            <a:solidFill>
              <a:srgbClr val="10B981"/>
            </a:solidFill>
            <a:prstDash val="solid"/>
          </a:ln>
        </p:spPr>
      </p:sp>
      <p:sp>
        <p:nvSpPr>
          <p:cNvPr id="67" name="Text 65"/>
          <p:cNvSpPr/>
          <p:nvPr/>
        </p:nvSpPr>
        <p:spPr>
          <a:xfrm>
            <a:off x="7086600" y="3182112"/>
            <a:ext cx="1691640" cy="457200"/>
          </a:xfrm>
          <a:prstGeom prst="rect">
            <a:avLst/>
          </a:prstGeom>
          <a:noFill/>
          <a:ln/>
        </p:spPr>
        <p:txBody>
          <a:bodyPr wrap="square" rtlCol="0" anchor="ctr"/>
          <a:lstStyle/>
          <a:p>
            <a:pPr marL="0" indent="0">
              <a:buNone/>
            </a:pPr>
            <a:r>
              <a:rPr lang="en-US" sz="1000" dirty="0">
                <a:solidFill>
                  <a:srgbClr val="1E293B"/>
                </a:solidFill>
              </a:rPr>
              <a:t>Assess: communication, self-awareness, growth</a:t>
            </a:r>
            <a:endParaRPr lang="en-US" sz="1000" dirty="0"/>
          </a:p>
        </p:txBody>
      </p:sp>
      <p:sp>
        <p:nvSpPr>
          <p:cNvPr id="68" name="Shape 66"/>
          <p:cNvSpPr/>
          <p:nvPr/>
        </p:nvSpPr>
        <p:spPr>
          <a:xfrm>
            <a:off x="6931152" y="3776472"/>
            <a:ext cx="100584" cy="100584"/>
          </a:xfrm>
          <a:prstGeom prst="ellipse">
            <a:avLst/>
          </a:prstGeom>
          <a:solidFill>
            <a:srgbClr val="10B981"/>
          </a:solidFill>
          <a:ln w="12700">
            <a:solidFill>
              <a:srgbClr val="10B981"/>
            </a:solidFill>
            <a:prstDash val="solid"/>
          </a:ln>
        </p:spPr>
      </p:sp>
      <p:sp>
        <p:nvSpPr>
          <p:cNvPr id="69" name="Text 67"/>
          <p:cNvSpPr/>
          <p:nvPr/>
        </p:nvSpPr>
        <p:spPr>
          <a:xfrm>
            <a:off x="7086600" y="3685032"/>
            <a:ext cx="1691640" cy="457200"/>
          </a:xfrm>
          <a:prstGeom prst="rect">
            <a:avLst/>
          </a:prstGeom>
          <a:noFill/>
          <a:ln/>
        </p:spPr>
        <p:txBody>
          <a:bodyPr wrap="square" rtlCol="0" anchor="ctr"/>
          <a:lstStyle/>
          <a:p>
            <a:pPr marL="0" indent="0">
              <a:buNone/>
            </a:pPr>
            <a:r>
              <a:rPr lang="en-US" sz="1000" dirty="0">
                <a:solidFill>
                  <a:srgbClr val="1E293B"/>
                </a:solidFill>
              </a:rPr>
              <a:t>Red flag: arrogance, blame-shifting, evasiveness</a:t>
            </a:r>
            <a:endParaRPr lang="en-US" sz="1000" dirty="0"/>
          </a:p>
        </p:txBody>
      </p:sp>
      <p:sp>
        <p:nvSpPr>
          <p:cNvPr id="70" name="Shape 68"/>
          <p:cNvSpPr/>
          <p:nvPr/>
        </p:nvSpPr>
        <p:spPr>
          <a:xfrm>
            <a:off x="7699248" y="2240280"/>
            <a:ext cx="237744" cy="237744"/>
          </a:xfrm>
          <a:prstGeom prst="ellipse">
            <a:avLst/>
          </a:prstGeom>
          <a:solidFill>
            <a:srgbClr val="10B981"/>
          </a:solidFill>
          <a:ln w="12700">
            <a:solidFill>
              <a:srgbClr val="10B981"/>
            </a:solidFill>
            <a:prstDash val="solid"/>
          </a:ln>
        </p:spPr>
      </p:sp>
      <p:sp>
        <p:nvSpPr>
          <p:cNvPr id="71" name="Shape 69"/>
          <p:cNvSpPr/>
          <p:nvPr/>
        </p:nvSpPr>
        <p:spPr>
          <a:xfrm>
            <a:off x="0" y="4663440"/>
            <a:ext cx="9144000" cy="480060"/>
          </a:xfrm>
          <a:prstGeom prst="rect">
            <a:avLst/>
          </a:prstGeom>
          <a:solidFill>
            <a:srgbClr val="1E2D40"/>
          </a:solidFill>
          <a:ln w="12700">
            <a:solidFill>
              <a:srgbClr val="1E2D40"/>
            </a:solidFill>
            <a:prstDash val="solid"/>
          </a:ln>
        </p:spPr>
      </p:sp>
      <p:sp>
        <p:nvSpPr>
          <p:cNvPr id="72" name="Text 70"/>
          <p:cNvSpPr/>
          <p:nvPr/>
        </p:nvSpPr>
        <p:spPr>
          <a:xfrm>
            <a:off x="274320" y="4663440"/>
            <a:ext cx="8686800" cy="480060"/>
          </a:xfrm>
          <a:prstGeom prst="rect">
            <a:avLst/>
          </a:prstGeom>
          <a:noFill/>
          <a:ln/>
        </p:spPr>
        <p:txBody>
          <a:bodyPr wrap="square" rtlCol="0" anchor="ctr"/>
          <a:lstStyle/>
          <a:p>
            <a:pPr marL="0" indent="0">
              <a:buNone/>
            </a:pPr>
            <a:r>
              <a:rPr lang="en-US" sz="1150" i="1" dirty="0">
                <a:solidFill>
                  <a:srgbClr val="FFFFFF"/>
                </a:solidFill>
              </a:rPr>
              <a:t>💡  PRO TIP: Always record notes using a structured scorecard during the call — compare ALL candidates on the same rubric, never from memory.</a:t>
            </a:r>
            <a:endParaRPr lang="en-US" sz="11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EF4444"/>
          </a:solidFill>
          <a:ln w="12700">
            <a:solidFill>
              <a:srgbClr val="EF4444"/>
            </a:solidFill>
            <a:prstDash val="solid"/>
          </a:ln>
        </p:spPr>
      </p:sp>
      <p:sp>
        <p:nvSpPr>
          <p:cNvPr id="3" name="Shape 1"/>
          <p:cNvSpPr/>
          <p:nvPr/>
        </p:nvSpPr>
        <p:spPr>
          <a:xfrm>
            <a:off x="201168" y="0"/>
            <a:ext cx="8942832" cy="960120"/>
          </a:xfrm>
          <a:prstGeom prst="rect">
            <a:avLst/>
          </a:prstGeom>
          <a:solidFill>
            <a:srgbClr val="1C2333"/>
          </a:solidFill>
          <a:ln w="12700">
            <a:solidFill>
              <a:srgbClr val="1C2333"/>
            </a:solidFill>
            <a:prstDash val="solid"/>
          </a:ln>
        </p:spPr>
      </p:sp>
      <p:sp>
        <p:nvSpPr>
          <p:cNvPr id="4" name="Text 2"/>
          <p:cNvSpPr/>
          <p:nvPr/>
        </p:nvSpPr>
        <p:spPr>
          <a:xfrm>
            <a:off x="365760" y="0"/>
            <a:ext cx="6400800" cy="960120"/>
          </a:xfrm>
          <a:prstGeom prst="rect">
            <a:avLst/>
          </a:prstGeom>
          <a:noFill/>
          <a:ln/>
        </p:spPr>
        <p:txBody>
          <a:bodyPr wrap="square" rtlCol="0" anchor="ctr"/>
          <a:lstStyle/>
          <a:p>
            <a:pPr marL="0" indent="0">
              <a:buNone/>
            </a:pPr>
            <a:r>
              <a:rPr lang="en-US" sz="2400" b="1" dirty="0">
                <a:solidFill>
                  <a:srgbClr val="FFFFFF"/>
                </a:solidFill>
                <a:latin typeface="Trebuchet MS" pitchFamily="34" charset="0"/>
                <a:ea typeface="Trebuchet MS" pitchFamily="34" charset="-122"/>
                <a:cs typeface="Trebuchet MS" pitchFamily="34" charset="-120"/>
              </a:rPr>
              <a:t>SPOT FAKE RESUMES — INSTANTLY</a:t>
            </a:r>
            <a:endParaRPr lang="en-US" sz="2400" dirty="0"/>
          </a:p>
        </p:txBody>
      </p:sp>
      <p:sp>
        <p:nvSpPr>
          <p:cNvPr id="5" name="Text 3"/>
          <p:cNvSpPr/>
          <p:nvPr/>
        </p:nvSpPr>
        <p:spPr>
          <a:xfrm>
            <a:off x="0" y="0"/>
            <a:ext cx="8869680" cy="960120"/>
          </a:xfrm>
          <a:prstGeom prst="rect">
            <a:avLst/>
          </a:prstGeom>
          <a:noFill/>
          <a:ln/>
        </p:spPr>
        <p:txBody>
          <a:bodyPr wrap="square" rtlCol="0" anchor="ctr"/>
          <a:lstStyle/>
          <a:p>
            <a:pPr marL="0" indent="0" algn="r">
              <a:buNone/>
            </a:pPr>
            <a:r>
              <a:rPr lang="en-US" sz="1100" i="1" dirty="0">
                <a:solidFill>
                  <a:srgbClr val="EF4444"/>
                </a:solidFill>
              </a:rPr>
              <a:t>Before you even dial — detect the signals</a:t>
            </a:r>
            <a:endParaRPr lang="en-US" sz="1100" dirty="0"/>
          </a:p>
        </p:txBody>
      </p:sp>
      <p:sp>
        <p:nvSpPr>
          <p:cNvPr id="6" name="Shape 4"/>
          <p:cNvSpPr/>
          <p:nvPr/>
        </p:nvSpPr>
        <p:spPr>
          <a:xfrm>
            <a:off x="274320" y="1051560"/>
            <a:ext cx="4114800" cy="384048"/>
          </a:xfrm>
          <a:prstGeom prst="rect">
            <a:avLst/>
          </a:prstGeom>
          <a:solidFill>
            <a:srgbClr val="EF4444"/>
          </a:solidFill>
          <a:ln w="12700">
            <a:solidFill>
              <a:srgbClr val="EF4444"/>
            </a:solidFill>
            <a:prstDash val="solid"/>
          </a:ln>
        </p:spPr>
      </p:sp>
      <p:sp>
        <p:nvSpPr>
          <p:cNvPr id="7" name="Text 5"/>
          <p:cNvSpPr/>
          <p:nvPr/>
        </p:nvSpPr>
        <p:spPr>
          <a:xfrm>
            <a:off x="274320" y="1051560"/>
            <a:ext cx="4114800" cy="384048"/>
          </a:xfrm>
          <a:prstGeom prst="rect">
            <a:avLst/>
          </a:prstGeom>
          <a:noFill/>
          <a:ln/>
        </p:spPr>
        <p:txBody>
          <a:bodyPr wrap="square" lIns="0" tIns="0" rIns="0" bIns="0" rtlCol="0" anchor="ctr"/>
          <a:lstStyle/>
          <a:p>
            <a:pPr marL="0" indent="0" algn="ctr">
              <a:buNone/>
            </a:pPr>
            <a:r>
              <a:rPr lang="en-US" sz="1200" b="1" kern="0" spc="100" dirty="0">
                <a:solidFill>
                  <a:srgbClr val="FFFFFF"/>
                </a:solidFill>
              </a:rPr>
              <a:t>🚩  RESUME RED FLAGS</a:t>
            </a:r>
            <a:endParaRPr lang="en-US" sz="1200" dirty="0"/>
          </a:p>
        </p:txBody>
      </p:sp>
      <p:sp>
        <p:nvSpPr>
          <p:cNvPr id="8" name="Shape 6"/>
          <p:cNvSpPr/>
          <p:nvPr/>
        </p:nvSpPr>
        <p:spPr>
          <a:xfrm>
            <a:off x="274320" y="1536192"/>
            <a:ext cx="4114800" cy="594360"/>
          </a:xfrm>
          <a:prstGeom prst="rect">
            <a:avLst/>
          </a:prstGeom>
          <a:solidFill>
            <a:srgbClr val="1C2333"/>
          </a:solidFill>
          <a:ln w="6350">
            <a:solidFill>
              <a:srgbClr val="2E3A4A"/>
            </a:solidFill>
            <a:prstDash val="solid"/>
          </a:ln>
        </p:spPr>
      </p:sp>
      <p:sp>
        <p:nvSpPr>
          <p:cNvPr id="9" name="Shape 7"/>
          <p:cNvSpPr/>
          <p:nvPr/>
        </p:nvSpPr>
        <p:spPr>
          <a:xfrm>
            <a:off x="274320" y="1536192"/>
            <a:ext cx="64008" cy="594360"/>
          </a:xfrm>
          <a:prstGeom prst="rect">
            <a:avLst/>
          </a:prstGeom>
          <a:solidFill>
            <a:srgbClr val="EF4444"/>
          </a:solidFill>
          <a:ln w="12700">
            <a:solidFill>
              <a:srgbClr val="EF4444"/>
            </a:solidFill>
            <a:prstDash val="solid"/>
          </a:ln>
        </p:spPr>
      </p:sp>
      <p:sp>
        <p:nvSpPr>
          <p:cNvPr id="10" name="Text 8"/>
          <p:cNvSpPr/>
          <p:nvPr/>
        </p:nvSpPr>
        <p:spPr>
          <a:xfrm>
            <a:off x="411480" y="1572768"/>
            <a:ext cx="3840480" cy="256032"/>
          </a:xfrm>
          <a:prstGeom prst="rect">
            <a:avLst/>
          </a:prstGeom>
          <a:noFill/>
          <a:ln/>
        </p:spPr>
        <p:txBody>
          <a:bodyPr wrap="square" rtlCol="0" anchor="ctr"/>
          <a:lstStyle/>
          <a:p>
            <a:pPr marL="0" indent="0">
              <a:buNone/>
            </a:pPr>
            <a:r>
              <a:rPr lang="en-US" sz="1150" b="1" dirty="0">
                <a:solidFill>
                  <a:srgbClr val="FFFFFF"/>
                </a:solidFill>
              </a:rPr>
              <a:t>Skills don't match experience years</a:t>
            </a:r>
            <a:endParaRPr lang="en-US" sz="1150" dirty="0"/>
          </a:p>
        </p:txBody>
      </p:sp>
      <p:sp>
        <p:nvSpPr>
          <p:cNvPr id="11" name="Text 9"/>
          <p:cNvSpPr/>
          <p:nvPr/>
        </p:nvSpPr>
        <p:spPr>
          <a:xfrm>
            <a:off x="411480" y="1828800"/>
            <a:ext cx="3840480" cy="274320"/>
          </a:xfrm>
          <a:prstGeom prst="rect">
            <a:avLst/>
          </a:prstGeom>
          <a:noFill/>
          <a:ln/>
        </p:spPr>
        <p:txBody>
          <a:bodyPr wrap="square" rtlCol="0" anchor="ctr"/>
          <a:lstStyle/>
          <a:p>
            <a:pPr marL="0" indent="0">
              <a:buNone/>
            </a:pPr>
            <a:r>
              <a:rPr lang="en-US" sz="950" i="1" dirty="0">
                <a:solidFill>
                  <a:srgbClr val="94A3B8"/>
                </a:solidFill>
              </a:rPr>
              <a:t>Claims 5 yrs React but joined late adoption wave — numbers won't add up</a:t>
            </a:r>
            <a:endParaRPr lang="en-US" sz="950" dirty="0"/>
          </a:p>
        </p:txBody>
      </p:sp>
      <p:sp>
        <p:nvSpPr>
          <p:cNvPr id="12" name="Shape 10"/>
          <p:cNvSpPr/>
          <p:nvPr/>
        </p:nvSpPr>
        <p:spPr>
          <a:xfrm>
            <a:off x="274320" y="2194560"/>
            <a:ext cx="4114800" cy="594360"/>
          </a:xfrm>
          <a:prstGeom prst="rect">
            <a:avLst/>
          </a:prstGeom>
          <a:solidFill>
            <a:srgbClr val="1C2333"/>
          </a:solidFill>
          <a:ln w="6350">
            <a:solidFill>
              <a:srgbClr val="2E3A4A"/>
            </a:solidFill>
            <a:prstDash val="solid"/>
          </a:ln>
        </p:spPr>
      </p:sp>
      <p:sp>
        <p:nvSpPr>
          <p:cNvPr id="13" name="Shape 11"/>
          <p:cNvSpPr/>
          <p:nvPr/>
        </p:nvSpPr>
        <p:spPr>
          <a:xfrm>
            <a:off x="274320" y="2194560"/>
            <a:ext cx="64008" cy="594360"/>
          </a:xfrm>
          <a:prstGeom prst="rect">
            <a:avLst/>
          </a:prstGeom>
          <a:solidFill>
            <a:srgbClr val="EF4444"/>
          </a:solidFill>
          <a:ln w="12700">
            <a:solidFill>
              <a:srgbClr val="EF4444"/>
            </a:solidFill>
            <a:prstDash val="solid"/>
          </a:ln>
        </p:spPr>
      </p:sp>
      <p:sp>
        <p:nvSpPr>
          <p:cNvPr id="14" name="Text 12"/>
          <p:cNvSpPr/>
          <p:nvPr/>
        </p:nvSpPr>
        <p:spPr>
          <a:xfrm>
            <a:off x="411480" y="2231136"/>
            <a:ext cx="3840480" cy="256032"/>
          </a:xfrm>
          <a:prstGeom prst="rect">
            <a:avLst/>
          </a:prstGeom>
          <a:noFill/>
          <a:ln/>
        </p:spPr>
        <p:txBody>
          <a:bodyPr wrap="square" rtlCol="0" anchor="ctr"/>
          <a:lstStyle/>
          <a:p>
            <a:pPr marL="0" indent="0">
              <a:buNone/>
            </a:pPr>
            <a:r>
              <a:rPr lang="en-US" sz="1150" b="1" dirty="0">
                <a:solidFill>
                  <a:srgbClr val="FFFFFF"/>
                </a:solidFill>
              </a:rPr>
              <a:t>Buzzword overload, zero specifics</a:t>
            </a:r>
            <a:endParaRPr lang="en-US" sz="1150" dirty="0"/>
          </a:p>
        </p:txBody>
      </p:sp>
      <p:sp>
        <p:nvSpPr>
          <p:cNvPr id="15" name="Text 13"/>
          <p:cNvSpPr/>
          <p:nvPr/>
        </p:nvSpPr>
        <p:spPr>
          <a:xfrm>
            <a:off x="411480" y="2487168"/>
            <a:ext cx="3840480" cy="274320"/>
          </a:xfrm>
          <a:prstGeom prst="rect">
            <a:avLst/>
          </a:prstGeom>
          <a:noFill/>
          <a:ln/>
        </p:spPr>
        <p:txBody>
          <a:bodyPr wrap="square" rtlCol="0" anchor="ctr"/>
          <a:lstStyle/>
          <a:p>
            <a:pPr marL="0" indent="0">
              <a:buNone/>
            </a:pPr>
            <a:r>
              <a:rPr lang="en-US" sz="950" i="1" dirty="0">
                <a:solidFill>
                  <a:srgbClr val="94A3B8"/>
                </a:solidFill>
              </a:rPr>
              <a:t>"Led digital transformation" with no team size, budget or outcome mentioned</a:t>
            </a:r>
            <a:endParaRPr lang="en-US" sz="950" dirty="0"/>
          </a:p>
        </p:txBody>
      </p:sp>
      <p:sp>
        <p:nvSpPr>
          <p:cNvPr id="16" name="Shape 14"/>
          <p:cNvSpPr/>
          <p:nvPr/>
        </p:nvSpPr>
        <p:spPr>
          <a:xfrm>
            <a:off x="274320" y="2852928"/>
            <a:ext cx="4114800" cy="594360"/>
          </a:xfrm>
          <a:prstGeom prst="rect">
            <a:avLst/>
          </a:prstGeom>
          <a:solidFill>
            <a:srgbClr val="1C2333"/>
          </a:solidFill>
          <a:ln w="6350">
            <a:solidFill>
              <a:srgbClr val="2E3A4A"/>
            </a:solidFill>
            <a:prstDash val="solid"/>
          </a:ln>
        </p:spPr>
      </p:sp>
      <p:sp>
        <p:nvSpPr>
          <p:cNvPr id="17" name="Shape 15"/>
          <p:cNvSpPr/>
          <p:nvPr/>
        </p:nvSpPr>
        <p:spPr>
          <a:xfrm>
            <a:off x="274320" y="2852928"/>
            <a:ext cx="64008" cy="594360"/>
          </a:xfrm>
          <a:prstGeom prst="rect">
            <a:avLst/>
          </a:prstGeom>
          <a:solidFill>
            <a:srgbClr val="EF4444"/>
          </a:solidFill>
          <a:ln w="12700">
            <a:solidFill>
              <a:srgbClr val="EF4444"/>
            </a:solidFill>
            <a:prstDash val="solid"/>
          </a:ln>
        </p:spPr>
      </p:sp>
      <p:sp>
        <p:nvSpPr>
          <p:cNvPr id="18" name="Text 16"/>
          <p:cNvSpPr/>
          <p:nvPr/>
        </p:nvSpPr>
        <p:spPr>
          <a:xfrm>
            <a:off x="411480" y="2889504"/>
            <a:ext cx="3840480" cy="256032"/>
          </a:xfrm>
          <a:prstGeom prst="rect">
            <a:avLst/>
          </a:prstGeom>
          <a:noFill/>
          <a:ln/>
        </p:spPr>
        <p:txBody>
          <a:bodyPr wrap="square" rtlCol="0" anchor="ctr"/>
          <a:lstStyle/>
          <a:p>
            <a:pPr marL="0" indent="0">
              <a:buNone/>
            </a:pPr>
            <a:r>
              <a:rPr lang="en-US" sz="1150" b="1" dirty="0">
                <a:solidFill>
                  <a:srgbClr val="FFFFFF"/>
                </a:solidFill>
              </a:rPr>
              <a:t>Identical project descriptions</a:t>
            </a:r>
            <a:endParaRPr lang="en-US" sz="1150" dirty="0"/>
          </a:p>
        </p:txBody>
      </p:sp>
      <p:sp>
        <p:nvSpPr>
          <p:cNvPr id="19" name="Text 17"/>
          <p:cNvSpPr/>
          <p:nvPr/>
        </p:nvSpPr>
        <p:spPr>
          <a:xfrm>
            <a:off x="411480" y="3145536"/>
            <a:ext cx="3840480" cy="274320"/>
          </a:xfrm>
          <a:prstGeom prst="rect">
            <a:avLst/>
          </a:prstGeom>
          <a:noFill/>
          <a:ln/>
        </p:spPr>
        <p:txBody>
          <a:bodyPr wrap="square" rtlCol="0" anchor="ctr"/>
          <a:lstStyle/>
          <a:p>
            <a:pPr marL="0" indent="0">
              <a:buNone/>
            </a:pPr>
            <a:r>
              <a:rPr lang="en-US" sz="950" i="1" dirty="0">
                <a:solidFill>
                  <a:srgbClr val="94A3B8"/>
                </a:solidFill>
              </a:rPr>
              <a:t>Same bullet copied across 3 different companies — template resume</a:t>
            </a:r>
            <a:endParaRPr lang="en-US" sz="950" dirty="0"/>
          </a:p>
        </p:txBody>
      </p:sp>
      <p:sp>
        <p:nvSpPr>
          <p:cNvPr id="20" name="Shape 18"/>
          <p:cNvSpPr/>
          <p:nvPr/>
        </p:nvSpPr>
        <p:spPr>
          <a:xfrm>
            <a:off x="274320" y="3511296"/>
            <a:ext cx="4114800" cy="594360"/>
          </a:xfrm>
          <a:prstGeom prst="rect">
            <a:avLst/>
          </a:prstGeom>
          <a:solidFill>
            <a:srgbClr val="1C2333"/>
          </a:solidFill>
          <a:ln w="6350">
            <a:solidFill>
              <a:srgbClr val="2E3A4A"/>
            </a:solidFill>
            <a:prstDash val="solid"/>
          </a:ln>
        </p:spPr>
      </p:sp>
      <p:sp>
        <p:nvSpPr>
          <p:cNvPr id="21" name="Shape 19"/>
          <p:cNvSpPr/>
          <p:nvPr/>
        </p:nvSpPr>
        <p:spPr>
          <a:xfrm>
            <a:off x="274320" y="3511296"/>
            <a:ext cx="64008" cy="594360"/>
          </a:xfrm>
          <a:prstGeom prst="rect">
            <a:avLst/>
          </a:prstGeom>
          <a:solidFill>
            <a:srgbClr val="EF4444"/>
          </a:solidFill>
          <a:ln w="12700">
            <a:solidFill>
              <a:srgbClr val="EF4444"/>
            </a:solidFill>
            <a:prstDash val="solid"/>
          </a:ln>
        </p:spPr>
      </p:sp>
      <p:sp>
        <p:nvSpPr>
          <p:cNvPr id="22" name="Text 20"/>
          <p:cNvSpPr/>
          <p:nvPr/>
        </p:nvSpPr>
        <p:spPr>
          <a:xfrm>
            <a:off x="411480" y="3547872"/>
            <a:ext cx="3840480" cy="256032"/>
          </a:xfrm>
          <a:prstGeom prst="rect">
            <a:avLst/>
          </a:prstGeom>
          <a:noFill/>
          <a:ln/>
        </p:spPr>
        <p:txBody>
          <a:bodyPr wrap="square" rtlCol="0" anchor="ctr"/>
          <a:lstStyle/>
          <a:p>
            <a:pPr marL="0" indent="0">
              <a:buNone/>
            </a:pPr>
            <a:r>
              <a:rPr lang="en-US" sz="1150" b="1" dirty="0">
                <a:solidFill>
                  <a:srgbClr val="FFFFFF"/>
                </a:solidFill>
              </a:rPr>
              <a:t>Employment gaps with vague labels</a:t>
            </a:r>
            <a:endParaRPr lang="en-US" sz="1150" dirty="0"/>
          </a:p>
        </p:txBody>
      </p:sp>
      <p:sp>
        <p:nvSpPr>
          <p:cNvPr id="23" name="Text 21"/>
          <p:cNvSpPr/>
          <p:nvPr/>
        </p:nvSpPr>
        <p:spPr>
          <a:xfrm>
            <a:off x="411480" y="3803904"/>
            <a:ext cx="3840480" cy="274320"/>
          </a:xfrm>
          <a:prstGeom prst="rect">
            <a:avLst/>
          </a:prstGeom>
          <a:noFill/>
          <a:ln/>
        </p:spPr>
        <p:txBody>
          <a:bodyPr wrap="square" rtlCol="0" anchor="ctr"/>
          <a:lstStyle/>
          <a:p>
            <a:pPr marL="0" indent="0">
              <a:buNone/>
            </a:pPr>
            <a:r>
              <a:rPr lang="en-US" sz="950" i="1" dirty="0">
                <a:solidFill>
                  <a:srgbClr val="94A3B8"/>
                </a:solidFill>
              </a:rPr>
              <a:t>"Freelance consultant" with no clients, deliverables or portfolio</a:t>
            </a:r>
            <a:endParaRPr lang="en-US" sz="950" dirty="0"/>
          </a:p>
        </p:txBody>
      </p:sp>
      <p:sp>
        <p:nvSpPr>
          <p:cNvPr id="24" name="Shape 22"/>
          <p:cNvSpPr/>
          <p:nvPr/>
        </p:nvSpPr>
        <p:spPr>
          <a:xfrm>
            <a:off x="274320" y="4169664"/>
            <a:ext cx="4114800" cy="594360"/>
          </a:xfrm>
          <a:prstGeom prst="rect">
            <a:avLst/>
          </a:prstGeom>
          <a:solidFill>
            <a:srgbClr val="1C2333"/>
          </a:solidFill>
          <a:ln w="6350">
            <a:solidFill>
              <a:srgbClr val="2E3A4A"/>
            </a:solidFill>
            <a:prstDash val="solid"/>
          </a:ln>
        </p:spPr>
      </p:sp>
      <p:sp>
        <p:nvSpPr>
          <p:cNvPr id="25" name="Shape 23"/>
          <p:cNvSpPr/>
          <p:nvPr/>
        </p:nvSpPr>
        <p:spPr>
          <a:xfrm>
            <a:off x="274320" y="4169664"/>
            <a:ext cx="64008" cy="594360"/>
          </a:xfrm>
          <a:prstGeom prst="rect">
            <a:avLst/>
          </a:prstGeom>
          <a:solidFill>
            <a:srgbClr val="EF4444"/>
          </a:solidFill>
          <a:ln w="12700">
            <a:solidFill>
              <a:srgbClr val="EF4444"/>
            </a:solidFill>
            <a:prstDash val="solid"/>
          </a:ln>
        </p:spPr>
      </p:sp>
      <p:sp>
        <p:nvSpPr>
          <p:cNvPr id="26" name="Text 24"/>
          <p:cNvSpPr/>
          <p:nvPr/>
        </p:nvSpPr>
        <p:spPr>
          <a:xfrm>
            <a:off x="411480" y="4206240"/>
            <a:ext cx="3840480" cy="256032"/>
          </a:xfrm>
          <a:prstGeom prst="rect">
            <a:avLst/>
          </a:prstGeom>
          <a:noFill/>
          <a:ln/>
        </p:spPr>
        <p:txBody>
          <a:bodyPr wrap="square" rtlCol="0" anchor="ctr"/>
          <a:lstStyle/>
          <a:p>
            <a:pPr marL="0" indent="0">
              <a:buNone/>
            </a:pPr>
            <a:r>
              <a:rPr lang="en-US" sz="1150" b="1" dirty="0">
                <a:solidFill>
                  <a:srgbClr val="FFFFFF"/>
                </a:solidFill>
              </a:rPr>
              <a:t>No career progression logic</a:t>
            </a:r>
            <a:endParaRPr lang="en-US" sz="1150" dirty="0"/>
          </a:p>
        </p:txBody>
      </p:sp>
      <p:sp>
        <p:nvSpPr>
          <p:cNvPr id="27" name="Text 25"/>
          <p:cNvSpPr/>
          <p:nvPr/>
        </p:nvSpPr>
        <p:spPr>
          <a:xfrm>
            <a:off x="411480" y="4462272"/>
            <a:ext cx="3840480" cy="274320"/>
          </a:xfrm>
          <a:prstGeom prst="rect">
            <a:avLst/>
          </a:prstGeom>
          <a:noFill/>
          <a:ln/>
        </p:spPr>
        <p:txBody>
          <a:bodyPr wrap="square" rtlCol="0" anchor="ctr"/>
          <a:lstStyle/>
          <a:p>
            <a:pPr marL="0" indent="0">
              <a:buNone/>
            </a:pPr>
            <a:r>
              <a:rPr lang="en-US" sz="950" i="1" dirty="0">
                <a:solidFill>
                  <a:srgbClr val="94A3B8"/>
                </a:solidFill>
              </a:rPr>
              <a:t>Senior → Junior → Lead → Intern — random title jumps without explanation</a:t>
            </a:r>
            <a:endParaRPr lang="en-US" sz="950" dirty="0"/>
          </a:p>
        </p:txBody>
      </p:sp>
      <p:sp>
        <p:nvSpPr>
          <p:cNvPr id="28" name="Shape 26"/>
          <p:cNvSpPr/>
          <p:nvPr/>
        </p:nvSpPr>
        <p:spPr>
          <a:xfrm>
            <a:off x="4617720" y="1051560"/>
            <a:ext cx="4206240" cy="384048"/>
          </a:xfrm>
          <a:prstGeom prst="rect">
            <a:avLst/>
          </a:prstGeom>
          <a:solidFill>
            <a:srgbClr val="F59E0B"/>
          </a:solidFill>
          <a:ln w="12700">
            <a:solidFill>
              <a:srgbClr val="F59E0B"/>
            </a:solidFill>
            <a:prstDash val="solid"/>
          </a:ln>
        </p:spPr>
      </p:sp>
      <p:sp>
        <p:nvSpPr>
          <p:cNvPr id="29" name="Text 27"/>
          <p:cNvSpPr/>
          <p:nvPr/>
        </p:nvSpPr>
        <p:spPr>
          <a:xfrm>
            <a:off x="4617720" y="1051560"/>
            <a:ext cx="4206240" cy="384048"/>
          </a:xfrm>
          <a:prstGeom prst="rect">
            <a:avLst/>
          </a:prstGeom>
          <a:noFill/>
          <a:ln/>
        </p:spPr>
        <p:txBody>
          <a:bodyPr wrap="square" lIns="0" tIns="0" rIns="0" bIns="0" rtlCol="0" anchor="ctr"/>
          <a:lstStyle/>
          <a:p>
            <a:pPr marL="0" indent="0" algn="ctr">
              <a:buNone/>
            </a:pPr>
            <a:r>
              <a:rPr lang="en-US" sz="1200" b="1" kern="0" spc="100" dirty="0">
                <a:solidFill>
                  <a:srgbClr val="0D1117"/>
                </a:solidFill>
              </a:rPr>
              <a:t>🔍  ON-CALL VERIFICATION TACTICS</a:t>
            </a:r>
            <a:endParaRPr lang="en-US" sz="1200" dirty="0"/>
          </a:p>
        </p:txBody>
      </p:sp>
      <p:sp>
        <p:nvSpPr>
          <p:cNvPr id="30" name="Shape 28"/>
          <p:cNvSpPr/>
          <p:nvPr/>
        </p:nvSpPr>
        <p:spPr>
          <a:xfrm>
            <a:off x="4617720" y="1536192"/>
            <a:ext cx="4206240" cy="594360"/>
          </a:xfrm>
          <a:prstGeom prst="rect">
            <a:avLst/>
          </a:prstGeom>
          <a:solidFill>
            <a:srgbClr val="1C2333"/>
          </a:solidFill>
          <a:ln w="6350">
            <a:solidFill>
              <a:srgbClr val="2E3A4A"/>
            </a:solidFill>
            <a:prstDash val="solid"/>
          </a:ln>
        </p:spPr>
      </p:sp>
      <p:sp>
        <p:nvSpPr>
          <p:cNvPr id="31" name="Shape 29"/>
          <p:cNvSpPr/>
          <p:nvPr/>
        </p:nvSpPr>
        <p:spPr>
          <a:xfrm>
            <a:off x="4617720" y="1536192"/>
            <a:ext cx="64008" cy="594360"/>
          </a:xfrm>
          <a:prstGeom prst="rect">
            <a:avLst/>
          </a:prstGeom>
          <a:solidFill>
            <a:srgbClr val="F59E0B"/>
          </a:solidFill>
          <a:ln w="12700">
            <a:solidFill>
              <a:srgbClr val="F59E0B"/>
            </a:solidFill>
            <a:prstDash val="solid"/>
          </a:ln>
        </p:spPr>
      </p:sp>
      <p:sp>
        <p:nvSpPr>
          <p:cNvPr id="32" name="Text 30"/>
          <p:cNvSpPr/>
          <p:nvPr/>
        </p:nvSpPr>
        <p:spPr>
          <a:xfrm>
            <a:off x="4754880" y="1572768"/>
            <a:ext cx="3977640" cy="256032"/>
          </a:xfrm>
          <a:prstGeom prst="rect">
            <a:avLst/>
          </a:prstGeom>
          <a:noFill/>
          <a:ln/>
        </p:spPr>
        <p:txBody>
          <a:bodyPr wrap="square" rtlCol="0" anchor="ctr"/>
          <a:lstStyle/>
          <a:p>
            <a:pPr marL="0" indent="0">
              <a:buNone/>
            </a:pPr>
            <a:r>
              <a:rPr lang="en-US" sz="1150" b="1" dirty="0">
                <a:solidFill>
                  <a:srgbClr val="FFFFFF"/>
                </a:solidFill>
              </a:rPr>
              <a:t>Ask for the "boring" version</a:t>
            </a:r>
            <a:endParaRPr lang="en-US" sz="1150" dirty="0"/>
          </a:p>
        </p:txBody>
      </p:sp>
      <p:sp>
        <p:nvSpPr>
          <p:cNvPr id="33" name="Text 31"/>
          <p:cNvSpPr/>
          <p:nvPr/>
        </p:nvSpPr>
        <p:spPr>
          <a:xfrm>
            <a:off x="4754880" y="1828800"/>
            <a:ext cx="3977640" cy="274320"/>
          </a:xfrm>
          <a:prstGeom prst="rect">
            <a:avLst/>
          </a:prstGeom>
          <a:noFill/>
          <a:ln/>
        </p:spPr>
        <p:txBody>
          <a:bodyPr wrap="square" rtlCol="0" anchor="ctr"/>
          <a:lstStyle/>
          <a:p>
            <a:pPr marL="0" indent="0">
              <a:buNone/>
            </a:pPr>
            <a:r>
              <a:rPr lang="en-US" sz="950" i="1" dirty="0">
                <a:solidFill>
                  <a:srgbClr val="94A3B8"/>
                </a:solidFill>
              </a:rPr>
              <a:t>"Forget the highlights — what was the most tedious task on that project?" Fakers can't answer this.</a:t>
            </a:r>
            <a:endParaRPr lang="en-US" sz="950" dirty="0"/>
          </a:p>
        </p:txBody>
      </p:sp>
      <p:sp>
        <p:nvSpPr>
          <p:cNvPr id="34" name="Shape 32"/>
          <p:cNvSpPr/>
          <p:nvPr/>
        </p:nvSpPr>
        <p:spPr>
          <a:xfrm>
            <a:off x="4617720" y="2194560"/>
            <a:ext cx="4206240" cy="594360"/>
          </a:xfrm>
          <a:prstGeom prst="rect">
            <a:avLst/>
          </a:prstGeom>
          <a:solidFill>
            <a:srgbClr val="1C2333"/>
          </a:solidFill>
          <a:ln w="6350">
            <a:solidFill>
              <a:srgbClr val="2E3A4A"/>
            </a:solidFill>
            <a:prstDash val="solid"/>
          </a:ln>
        </p:spPr>
      </p:sp>
      <p:sp>
        <p:nvSpPr>
          <p:cNvPr id="35" name="Shape 33"/>
          <p:cNvSpPr/>
          <p:nvPr/>
        </p:nvSpPr>
        <p:spPr>
          <a:xfrm>
            <a:off x="4617720" y="2194560"/>
            <a:ext cx="64008" cy="594360"/>
          </a:xfrm>
          <a:prstGeom prst="rect">
            <a:avLst/>
          </a:prstGeom>
          <a:solidFill>
            <a:srgbClr val="F59E0B"/>
          </a:solidFill>
          <a:ln w="12700">
            <a:solidFill>
              <a:srgbClr val="F59E0B"/>
            </a:solidFill>
            <a:prstDash val="solid"/>
          </a:ln>
        </p:spPr>
      </p:sp>
      <p:sp>
        <p:nvSpPr>
          <p:cNvPr id="36" name="Text 34"/>
          <p:cNvSpPr/>
          <p:nvPr/>
        </p:nvSpPr>
        <p:spPr>
          <a:xfrm>
            <a:off x="4754880" y="2231136"/>
            <a:ext cx="3977640" cy="256032"/>
          </a:xfrm>
          <a:prstGeom prst="rect">
            <a:avLst/>
          </a:prstGeom>
          <a:noFill/>
          <a:ln/>
        </p:spPr>
        <p:txBody>
          <a:bodyPr wrap="square" rtlCol="0" anchor="ctr"/>
          <a:lstStyle/>
          <a:p>
            <a:pPr marL="0" indent="0">
              <a:buNone/>
            </a:pPr>
            <a:r>
              <a:rPr lang="en-US" sz="1150" b="1" dirty="0">
                <a:solidFill>
                  <a:srgbClr val="FFFFFF"/>
                </a:solidFill>
              </a:rPr>
              <a:t>Deep-dive one line item</a:t>
            </a:r>
            <a:endParaRPr lang="en-US" sz="1150" dirty="0"/>
          </a:p>
        </p:txBody>
      </p:sp>
      <p:sp>
        <p:nvSpPr>
          <p:cNvPr id="37" name="Text 35"/>
          <p:cNvSpPr/>
          <p:nvPr/>
        </p:nvSpPr>
        <p:spPr>
          <a:xfrm>
            <a:off x="4754880" y="2487168"/>
            <a:ext cx="3977640" cy="274320"/>
          </a:xfrm>
          <a:prstGeom prst="rect">
            <a:avLst/>
          </a:prstGeom>
          <a:noFill/>
          <a:ln/>
        </p:spPr>
        <p:txBody>
          <a:bodyPr wrap="square" rtlCol="0" anchor="ctr"/>
          <a:lstStyle/>
          <a:p>
            <a:pPr marL="0" indent="0">
              <a:buNone/>
            </a:pPr>
            <a:r>
              <a:rPr lang="en-US" sz="950" i="1" dirty="0">
                <a:solidFill>
                  <a:srgbClr val="94A3B8"/>
                </a:solidFill>
              </a:rPr>
              <a:t>Pick one bullet and ask: team size, timeline, your specific contribution, and what failed. Fabricators fall apart.</a:t>
            </a:r>
            <a:endParaRPr lang="en-US" sz="950" dirty="0"/>
          </a:p>
        </p:txBody>
      </p:sp>
      <p:sp>
        <p:nvSpPr>
          <p:cNvPr id="38" name="Shape 36"/>
          <p:cNvSpPr/>
          <p:nvPr/>
        </p:nvSpPr>
        <p:spPr>
          <a:xfrm>
            <a:off x="4617720" y="2852928"/>
            <a:ext cx="4206240" cy="594360"/>
          </a:xfrm>
          <a:prstGeom prst="rect">
            <a:avLst/>
          </a:prstGeom>
          <a:solidFill>
            <a:srgbClr val="1C2333"/>
          </a:solidFill>
          <a:ln w="6350">
            <a:solidFill>
              <a:srgbClr val="2E3A4A"/>
            </a:solidFill>
            <a:prstDash val="solid"/>
          </a:ln>
        </p:spPr>
      </p:sp>
      <p:sp>
        <p:nvSpPr>
          <p:cNvPr id="39" name="Shape 37"/>
          <p:cNvSpPr/>
          <p:nvPr/>
        </p:nvSpPr>
        <p:spPr>
          <a:xfrm>
            <a:off x="4617720" y="2852928"/>
            <a:ext cx="64008" cy="594360"/>
          </a:xfrm>
          <a:prstGeom prst="rect">
            <a:avLst/>
          </a:prstGeom>
          <a:solidFill>
            <a:srgbClr val="F59E0B"/>
          </a:solidFill>
          <a:ln w="12700">
            <a:solidFill>
              <a:srgbClr val="F59E0B"/>
            </a:solidFill>
            <a:prstDash val="solid"/>
          </a:ln>
        </p:spPr>
      </p:sp>
      <p:sp>
        <p:nvSpPr>
          <p:cNvPr id="40" name="Text 38"/>
          <p:cNvSpPr/>
          <p:nvPr/>
        </p:nvSpPr>
        <p:spPr>
          <a:xfrm>
            <a:off x="4754880" y="2889504"/>
            <a:ext cx="3977640" cy="256032"/>
          </a:xfrm>
          <a:prstGeom prst="rect">
            <a:avLst/>
          </a:prstGeom>
          <a:noFill/>
          <a:ln/>
        </p:spPr>
        <p:txBody>
          <a:bodyPr wrap="square" rtlCol="0" anchor="ctr"/>
          <a:lstStyle/>
          <a:p>
            <a:pPr marL="0" indent="0">
              <a:buNone/>
            </a:pPr>
            <a:r>
              <a:rPr lang="en-US" sz="1150" b="1" dirty="0">
                <a:solidFill>
                  <a:srgbClr val="FFFFFF"/>
                </a:solidFill>
              </a:rPr>
              <a:t>The tool version question</a:t>
            </a:r>
            <a:endParaRPr lang="en-US" sz="1150" dirty="0"/>
          </a:p>
        </p:txBody>
      </p:sp>
      <p:sp>
        <p:nvSpPr>
          <p:cNvPr id="41" name="Text 39"/>
          <p:cNvSpPr/>
          <p:nvPr/>
        </p:nvSpPr>
        <p:spPr>
          <a:xfrm>
            <a:off x="4754880" y="3145536"/>
            <a:ext cx="3977640" cy="274320"/>
          </a:xfrm>
          <a:prstGeom prst="rect">
            <a:avLst/>
          </a:prstGeom>
          <a:noFill/>
          <a:ln/>
        </p:spPr>
        <p:txBody>
          <a:bodyPr wrap="square" rtlCol="0" anchor="ctr"/>
          <a:lstStyle/>
          <a:p>
            <a:pPr marL="0" indent="0">
              <a:buNone/>
            </a:pPr>
            <a:r>
              <a:rPr lang="en-US" sz="950" i="1" dirty="0">
                <a:solidFill>
                  <a:srgbClr val="94A3B8"/>
                </a:solidFill>
              </a:rPr>
              <a:t>"Which version of [tool/framework] were you using? What changed from the version before?" Experts know.</a:t>
            </a:r>
            <a:endParaRPr lang="en-US" sz="950" dirty="0"/>
          </a:p>
        </p:txBody>
      </p:sp>
      <p:sp>
        <p:nvSpPr>
          <p:cNvPr id="42" name="Shape 40"/>
          <p:cNvSpPr/>
          <p:nvPr/>
        </p:nvSpPr>
        <p:spPr>
          <a:xfrm>
            <a:off x="4617720" y="3511296"/>
            <a:ext cx="4206240" cy="594360"/>
          </a:xfrm>
          <a:prstGeom prst="rect">
            <a:avLst/>
          </a:prstGeom>
          <a:solidFill>
            <a:srgbClr val="1C2333"/>
          </a:solidFill>
          <a:ln w="6350">
            <a:solidFill>
              <a:srgbClr val="2E3A4A"/>
            </a:solidFill>
            <a:prstDash val="solid"/>
          </a:ln>
        </p:spPr>
      </p:sp>
      <p:sp>
        <p:nvSpPr>
          <p:cNvPr id="43" name="Shape 41"/>
          <p:cNvSpPr/>
          <p:nvPr/>
        </p:nvSpPr>
        <p:spPr>
          <a:xfrm>
            <a:off x="4617720" y="3511296"/>
            <a:ext cx="64008" cy="594360"/>
          </a:xfrm>
          <a:prstGeom prst="rect">
            <a:avLst/>
          </a:prstGeom>
          <a:solidFill>
            <a:srgbClr val="F59E0B"/>
          </a:solidFill>
          <a:ln w="12700">
            <a:solidFill>
              <a:srgbClr val="F59E0B"/>
            </a:solidFill>
            <a:prstDash val="solid"/>
          </a:ln>
        </p:spPr>
      </p:sp>
      <p:sp>
        <p:nvSpPr>
          <p:cNvPr id="44" name="Text 42"/>
          <p:cNvSpPr/>
          <p:nvPr/>
        </p:nvSpPr>
        <p:spPr>
          <a:xfrm>
            <a:off x="4754880" y="3547872"/>
            <a:ext cx="3977640" cy="256032"/>
          </a:xfrm>
          <a:prstGeom prst="rect">
            <a:avLst/>
          </a:prstGeom>
          <a:noFill/>
          <a:ln/>
        </p:spPr>
        <p:txBody>
          <a:bodyPr wrap="square" rtlCol="0" anchor="ctr"/>
          <a:lstStyle/>
          <a:p>
            <a:pPr marL="0" indent="0">
              <a:buNone/>
            </a:pPr>
            <a:r>
              <a:rPr lang="en-US" sz="1150" b="1" dirty="0">
                <a:solidFill>
                  <a:srgbClr val="FFFFFF"/>
                </a:solidFill>
              </a:rPr>
              <a:t>Ask about the mistake</a:t>
            </a:r>
            <a:endParaRPr lang="en-US" sz="1150" dirty="0"/>
          </a:p>
        </p:txBody>
      </p:sp>
      <p:sp>
        <p:nvSpPr>
          <p:cNvPr id="45" name="Text 43"/>
          <p:cNvSpPr/>
          <p:nvPr/>
        </p:nvSpPr>
        <p:spPr>
          <a:xfrm>
            <a:off x="4754880" y="3803904"/>
            <a:ext cx="3977640" cy="274320"/>
          </a:xfrm>
          <a:prstGeom prst="rect">
            <a:avLst/>
          </a:prstGeom>
          <a:noFill/>
          <a:ln/>
        </p:spPr>
        <p:txBody>
          <a:bodyPr wrap="square" rtlCol="0" anchor="ctr"/>
          <a:lstStyle/>
          <a:p>
            <a:pPr marL="0" indent="0">
              <a:buNone/>
            </a:pPr>
            <a:r>
              <a:rPr lang="en-US" sz="950" i="1" dirty="0">
                <a:solidFill>
                  <a:srgbClr val="94A3B8"/>
                </a:solidFill>
              </a:rPr>
              <a:t>"Tell me about something that went wrong and what you did." Legit candidates have a real story immediately.</a:t>
            </a:r>
            <a:endParaRPr lang="en-US" sz="950" dirty="0"/>
          </a:p>
        </p:txBody>
      </p:sp>
      <p:sp>
        <p:nvSpPr>
          <p:cNvPr id="46" name="Shape 44"/>
          <p:cNvSpPr/>
          <p:nvPr/>
        </p:nvSpPr>
        <p:spPr>
          <a:xfrm>
            <a:off x="4617720" y="4169664"/>
            <a:ext cx="4206240" cy="594360"/>
          </a:xfrm>
          <a:prstGeom prst="rect">
            <a:avLst/>
          </a:prstGeom>
          <a:solidFill>
            <a:srgbClr val="1C2333"/>
          </a:solidFill>
          <a:ln w="6350">
            <a:solidFill>
              <a:srgbClr val="2E3A4A"/>
            </a:solidFill>
            <a:prstDash val="solid"/>
          </a:ln>
        </p:spPr>
      </p:sp>
      <p:sp>
        <p:nvSpPr>
          <p:cNvPr id="47" name="Shape 45"/>
          <p:cNvSpPr/>
          <p:nvPr/>
        </p:nvSpPr>
        <p:spPr>
          <a:xfrm>
            <a:off x="4617720" y="4169664"/>
            <a:ext cx="64008" cy="594360"/>
          </a:xfrm>
          <a:prstGeom prst="rect">
            <a:avLst/>
          </a:prstGeom>
          <a:solidFill>
            <a:srgbClr val="F59E0B"/>
          </a:solidFill>
          <a:ln w="12700">
            <a:solidFill>
              <a:srgbClr val="F59E0B"/>
            </a:solidFill>
            <a:prstDash val="solid"/>
          </a:ln>
        </p:spPr>
      </p:sp>
      <p:sp>
        <p:nvSpPr>
          <p:cNvPr id="48" name="Text 46"/>
          <p:cNvSpPr/>
          <p:nvPr/>
        </p:nvSpPr>
        <p:spPr>
          <a:xfrm>
            <a:off x="4754880" y="4206240"/>
            <a:ext cx="3977640" cy="256032"/>
          </a:xfrm>
          <a:prstGeom prst="rect">
            <a:avLst/>
          </a:prstGeom>
          <a:noFill/>
          <a:ln/>
        </p:spPr>
        <p:txBody>
          <a:bodyPr wrap="square" rtlCol="0" anchor="ctr"/>
          <a:lstStyle/>
          <a:p>
            <a:pPr marL="0" indent="0">
              <a:buNone/>
            </a:pPr>
            <a:r>
              <a:rPr lang="en-US" sz="1150" b="1" dirty="0">
                <a:solidFill>
                  <a:srgbClr val="FFFFFF"/>
                </a:solidFill>
              </a:rPr>
              <a:t>GitHub / Portfolio check live</a:t>
            </a:r>
            <a:endParaRPr lang="en-US" sz="1150" dirty="0"/>
          </a:p>
        </p:txBody>
      </p:sp>
      <p:sp>
        <p:nvSpPr>
          <p:cNvPr id="49" name="Text 47"/>
          <p:cNvSpPr/>
          <p:nvPr/>
        </p:nvSpPr>
        <p:spPr>
          <a:xfrm>
            <a:off x="4754880" y="4462272"/>
            <a:ext cx="3977640" cy="274320"/>
          </a:xfrm>
          <a:prstGeom prst="rect">
            <a:avLst/>
          </a:prstGeom>
          <a:noFill/>
          <a:ln/>
        </p:spPr>
        <p:txBody>
          <a:bodyPr wrap="square" rtlCol="0" anchor="ctr"/>
          <a:lstStyle/>
          <a:p>
            <a:pPr marL="0" indent="0">
              <a:buNone/>
            </a:pPr>
            <a:r>
              <a:rPr lang="en-US" sz="950" i="1" dirty="0">
                <a:solidFill>
                  <a:srgbClr val="94A3B8"/>
                </a:solidFill>
              </a:rPr>
              <a:t>Pull up their repo or portfolio during the call. Ask them to walk you through one specific commit or design choice.</a:t>
            </a:r>
            <a:endParaRPr lang="en-US" sz="9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E293B"/>
          </a:solidFill>
          <a:ln w="12700">
            <a:solidFill>
              <a:srgbClr val="1E293B"/>
            </a:solidFill>
            <a:prstDash val="solid"/>
          </a:ln>
        </p:spPr>
      </p:sp>
      <p:sp>
        <p:nvSpPr>
          <p:cNvPr id="3" name="Shape 1"/>
          <p:cNvSpPr/>
          <p:nvPr/>
        </p:nvSpPr>
        <p:spPr>
          <a:xfrm>
            <a:off x="0" y="0"/>
            <a:ext cx="274320" cy="960120"/>
          </a:xfrm>
          <a:prstGeom prst="rect">
            <a:avLst/>
          </a:prstGeom>
          <a:solidFill>
            <a:srgbClr val="8B5CF6"/>
          </a:solidFill>
          <a:ln w="12700">
            <a:solidFill>
              <a:srgbClr val="8B5CF6"/>
            </a:solidFill>
            <a:prstDash val="solid"/>
          </a:ln>
        </p:spPr>
      </p:sp>
      <p:sp>
        <p:nvSpPr>
          <p:cNvPr id="4" name="Text 2"/>
          <p:cNvSpPr/>
          <p:nvPr/>
        </p:nvSpPr>
        <p:spPr>
          <a:xfrm>
            <a:off x="457200" y="0"/>
            <a:ext cx="7315200" cy="960120"/>
          </a:xfrm>
          <a:prstGeom prst="rect">
            <a:avLst/>
          </a:prstGeom>
          <a:noFill/>
          <a:ln/>
        </p:spPr>
        <p:txBody>
          <a:bodyPr wrap="square" rtlCol="0" anchor="ctr"/>
          <a:lstStyle/>
          <a:p>
            <a:pPr marL="0" indent="0">
              <a:buNone/>
            </a:pPr>
            <a:r>
              <a:rPr lang="en-US" sz="2000" b="1" dirty="0">
                <a:solidFill>
                  <a:srgbClr val="FFFFFF"/>
                </a:solidFill>
                <a:latin typeface="Trebuchet MS" pitchFamily="34" charset="0"/>
                <a:ea typeface="Trebuchet MS" pitchFamily="34" charset="-122"/>
                <a:cs typeface="Trebuchet MS" pitchFamily="34" charset="-120"/>
              </a:rPr>
              <a:t>SMART RED-FLAG CHECKLIST &amp; LIVE SCORING SYSTEM</a:t>
            </a:r>
            <a:endParaRPr lang="en-US" sz="2000" dirty="0"/>
          </a:p>
        </p:txBody>
      </p:sp>
      <p:sp>
        <p:nvSpPr>
          <p:cNvPr id="5" name="Text 3"/>
          <p:cNvSpPr/>
          <p:nvPr/>
        </p:nvSpPr>
        <p:spPr>
          <a:xfrm>
            <a:off x="0" y="0"/>
            <a:ext cx="8869680" cy="960120"/>
          </a:xfrm>
          <a:prstGeom prst="rect">
            <a:avLst/>
          </a:prstGeom>
          <a:noFill/>
          <a:ln/>
        </p:spPr>
        <p:txBody>
          <a:bodyPr wrap="square" rtlCol="0" anchor="ctr"/>
          <a:lstStyle/>
          <a:p>
            <a:pPr marL="0" indent="0" algn="r">
              <a:buNone/>
            </a:pPr>
            <a:r>
              <a:rPr lang="en-US" sz="1100" i="1" dirty="0">
                <a:solidFill>
                  <a:srgbClr val="8B5CF6"/>
                </a:solidFill>
              </a:rPr>
              <a:t>Use this during every screen</a:t>
            </a:r>
            <a:endParaRPr lang="en-US" sz="1100" dirty="0"/>
          </a:p>
        </p:txBody>
      </p:sp>
      <p:sp>
        <p:nvSpPr>
          <p:cNvPr id="6" name="Shape 4"/>
          <p:cNvSpPr/>
          <p:nvPr/>
        </p:nvSpPr>
        <p:spPr>
          <a:xfrm>
            <a:off x="182880" y="1024128"/>
            <a:ext cx="2788920" cy="3977640"/>
          </a:xfrm>
          <a:prstGeom prst="rect">
            <a:avLst/>
          </a:prstGeom>
          <a:solidFill>
            <a:srgbClr val="EFF6FF"/>
          </a:solidFill>
          <a:ln w="6350">
            <a:solidFill>
              <a:srgbClr val="E2E8F0"/>
            </a:solidFill>
            <a:prstDash val="solid"/>
          </a:ln>
          <a:effectLst>
            <a:outerShdw blurRad="63500" dist="25400" dir="8100000" algn="bl" rotWithShape="0">
              <a:srgbClr val="000000">
                <a:alpha val="6000"/>
              </a:srgbClr>
            </a:outerShdw>
          </a:effectLst>
        </p:spPr>
      </p:sp>
      <p:sp>
        <p:nvSpPr>
          <p:cNvPr id="7" name="Shape 5"/>
          <p:cNvSpPr/>
          <p:nvPr/>
        </p:nvSpPr>
        <p:spPr>
          <a:xfrm>
            <a:off x="182880" y="1024128"/>
            <a:ext cx="2788920" cy="384048"/>
          </a:xfrm>
          <a:prstGeom prst="rect">
            <a:avLst/>
          </a:prstGeom>
          <a:solidFill>
            <a:srgbClr val="3B82F6"/>
          </a:solidFill>
          <a:ln w="12700">
            <a:solidFill>
              <a:srgbClr val="3B82F6"/>
            </a:solidFill>
            <a:prstDash val="solid"/>
          </a:ln>
        </p:spPr>
      </p:sp>
      <p:sp>
        <p:nvSpPr>
          <p:cNvPr id="8" name="Text 6"/>
          <p:cNvSpPr/>
          <p:nvPr/>
        </p:nvSpPr>
        <p:spPr>
          <a:xfrm>
            <a:off x="320040" y="1024128"/>
            <a:ext cx="2514600" cy="384048"/>
          </a:xfrm>
          <a:prstGeom prst="rect">
            <a:avLst/>
          </a:prstGeom>
          <a:noFill/>
          <a:ln/>
        </p:spPr>
        <p:txBody>
          <a:bodyPr wrap="square" rtlCol="0" anchor="ctr"/>
          <a:lstStyle/>
          <a:p>
            <a:pPr marL="0" indent="0">
              <a:buNone/>
            </a:pPr>
            <a:r>
              <a:rPr lang="en-US" sz="1100" b="1" kern="0" spc="150" dirty="0">
                <a:solidFill>
                  <a:srgbClr val="FFFFFF"/>
                </a:solidFill>
              </a:rPr>
              <a:t>TECHNICAL FLAGS</a:t>
            </a:r>
            <a:endParaRPr lang="en-US" sz="1100" dirty="0"/>
          </a:p>
        </p:txBody>
      </p:sp>
      <p:sp>
        <p:nvSpPr>
          <p:cNvPr id="9" name="Shape 7"/>
          <p:cNvSpPr/>
          <p:nvPr/>
        </p:nvSpPr>
        <p:spPr>
          <a:xfrm>
            <a:off x="2441448" y="1572768"/>
            <a:ext cx="384048" cy="274320"/>
          </a:xfrm>
          <a:prstGeom prst="rect">
            <a:avLst/>
          </a:prstGeom>
          <a:solidFill>
            <a:srgbClr val="EF4444"/>
          </a:solidFill>
          <a:ln w="12700">
            <a:solidFill>
              <a:srgbClr val="EF4444"/>
            </a:solidFill>
            <a:prstDash val="solid"/>
          </a:ln>
        </p:spPr>
      </p:sp>
      <p:sp>
        <p:nvSpPr>
          <p:cNvPr id="10" name="Text 8"/>
          <p:cNvSpPr/>
          <p:nvPr/>
        </p:nvSpPr>
        <p:spPr>
          <a:xfrm>
            <a:off x="2441448" y="1572768"/>
            <a:ext cx="384048" cy="274320"/>
          </a:xfrm>
          <a:prstGeom prst="rect">
            <a:avLst/>
          </a:prstGeom>
          <a:noFill/>
          <a:ln/>
        </p:spPr>
        <p:txBody>
          <a:bodyPr wrap="square" lIns="0" tIns="0" rIns="0" bIns="0" rtlCol="0" anchor="ctr"/>
          <a:lstStyle/>
          <a:p>
            <a:pPr marL="0" indent="0" algn="ctr">
              <a:buNone/>
            </a:pPr>
            <a:r>
              <a:rPr lang="en-US" sz="1100" b="1" dirty="0">
                <a:solidFill>
                  <a:srgbClr val="FFFFFF"/>
                </a:solidFill>
              </a:rPr>
              <a:t>−2</a:t>
            </a:r>
            <a:endParaRPr lang="en-US" sz="1100" dirty="0"/>
          </a:p>
        </p:txBody>
      </p:sp>
      <p:sp>
        <p:nvSpPr>
          <p:cNvPr id="11" name="Text 9"/>
          <p:cNvSpPr/>
          <p:nvPr/>
        </p:nvSpPr>
        <p:spPr>
          <a:xfrm>
            <a:off x="320040" y="1499616"/>
            <a:ext cx="2011680" cy="502920"/>
          </a:xfrm>
          <a:prstGeom prst="rect">
            <a:avLst/>
          </a:prstGeom>
          <a:noFill/>
          <a:ln/>
        </p:spPr>
        <p:txBody>
          <a:bodyPr wrap="square" rtlCol="0" anchor="ctr"/>
          <a:lstStyle/>
          <a:p>
            <a:pPr marL="0" indent="0">
              <a:buNone/>
            </a:pPr>
            <a:r>
              <a:rPr lang="en-US" sz="1050" dirty="0">
                <a:solidFill>
                  <a:srgbClr val="1E293B"/>
                </a:solidFill>
              </a:rPr>
              <a:t>Can't explain their own code decisions</a:t>
            </a:r>
            <a:endParaRPr lang="en-US" sz="1050" dirty="0"/>
          </a:p>
        </p:txBody>
      </p:sp>
      <p:sp>
        <p:nvSpPr>
          <p:cNvPr id="12" name="Shape 10"/>
          <p:cNvSpPr/>
          <p:nvPr/>
        </p:nvSpPr>
        <p:spPr>
          <a:xfrm>
            <a:off x="292608" y="2029968"/>
            <a:ext cx="2569464" cy="18288"/>
          </a:xfrm>
          <a:prstGeom prst="rect">
            <a:avLst/>
          </a:prstGeom>
          <a:solidFill>
            <a:srgbClr val="E2E8F0"/>
          </a:solidFill>
          <a:ln w="12700">
            <a:solidFill>
              <a:srgbClr val="E2E8F0"/>
            </a:solidFill>
            <a:prstDash val="solid"/>
          </a:ln>
        </p:spPr>
      </p:sp>
      <p:sp>
        <p:nvSpPr>
          <p:cNvPr id="13" name="Shape 11"/>
          <p:cNvSpPr/>
          <p:nvPr/>
        </p:nvSpPr>
        <p:spPr>
          <a:xfrm>
            <a:off x="2441448" y="2148840"/>
            <a:ext cx="384048" cy="274320"/>
          </a:xfrm>
          <a:prstGeom prst="rect">
            <a:avLst/>
          </a:prstGeom>
          <a:solidFill>
            <a:srgbClr val="EF4444"/>
          </a:solidFill>
          <a:ln w="12700">
            <a:solidFill>
              <a:srgbClr val="EF4444"/>
            </a:solidFill>
            <a:prstDash val="solid"/>
          </a:ln>
        </p:spPr>
      </p:sp>
      <p:sp>
        <p:nvSpPr>
          <p:cNvPr id="14" name="Text 12"/>
          <p:cNvSpPr/>
          <p:nvPr/>
        </p:nvSpPr>
        <p:spPr>
          <a:xfrm>
            <a:off x="2441448" y="2148840"/>
            <a:ext cx="384048" cy="274320"/>
          </a:xfrm>
          <a:prstGeom prst="rect">
            <a:avLst/>
          </a:prstGeom>
          <a:noFill/>
          <a:ln/>
        </p:spPr>
        <p:txBody>
          <a:bodyPr wrap="square" lIns="0" tIns="0" rIns="0" bIns="0" rtlCol="0" anchor="ctr"/>
          <a:lstStyle/>
          <a:p>
            <a:pPr marL="0" indent="0" algn="ctr">
              <a:buNone/>
            </a:pPr>
            <a:r>
              <a:rPr lang="en-US" sz="1100" b="1" dirty="0">
                <a:solidFill>
                  <a:srgbClr val="FFFFFF"/>
                </a:solidFill>
              </a:rPr>
              <a:t>−2</a:t>
            </a:r>
            <a:endParaRPr lang="en-US" sz="1100" dirty="0"/>
          </a:p>
        </p:txBody>
      </p:sp>
      <p:sp>
        <p:nvSpPr>
          <p:cNvPr id="15" name="Text 13"/>
          <p:cNvSpPr/>
          <p:nvPr/>
        </p:nvSpPr>
        <p:spPr>
          <a:xfrm>
            <a:off x="320040" y="2075688"/>
            <a:ext cx="2011680" cy="502920"/>
          </a:xfrm>
          <a:prstGeom prst="rect">
            <a:avLst/>
          </a:prstGeom>
          <a:noFill/>
          <a:ln/>
        </p:spPr>
        <p:txBody>
          <a:bodyPr wrap="square" rtlCol="0" anchor="ctr"/>
          <a:lstStyle/>
          <a:p>
            <a:pPr marL="0" indent="0">
              <a:buNone/>
            </a:pPr>
            <a:r>
              <a:rPr lang="en-US" sz="1050" dirty="0">
                <a:solidFill>
                  <a:srgbClr val="1E293B"/>
                </a:solidFill>
              </a:rPr>
              <a:t>Uses jargon without substance behind it</a:t>
            </a:r>
            <a:endParaRPr lang="en-US" sz="1050" dirty="0"/>
          </a:p>
        </p:txBody>
      </p:sp>
      <p:sp>
        <p:nvSpPr>
          <p:cNvPr id="16" name="Shape 14"/>
          <p:cNvSpPr/>
          <p:nvPr/>
        </p:nvSpPr>
        <p:spPr>
          <a:xfrm>
            <a:off x="292608" y="2606040"/>
            <a:ext cx="2569464" cy="18288"/>
          </a:xfrm>
          <a:prstGeom prst="rect">
            <a:avLst/>
          </a:prstGeom>
          <a:solidFill>
            <a:srgbClr val="E2E8F0"/>
          </a:solidFill>
          <a:ln w="12700">
            <a:solidFill>
              <a:srgbClr val="E2E8F0"/>
            </a:solidFill>
            <a:prstDash val="solid"/>
          </a:ln>
        </p:spPr>
      </p:sp>
      <p:sp>
        <p:nvSpPr>
          <p:cNvPr id="17" name="Shape 15"/>
          <p:cNvSpPr/>
          <p:nvPr/>
        </p:nvSpPr>
        <p:spPr>
          <a:xfrm>
            <a:off x="2441448" y="2724912"/>
            <a:ext cx="384048" cy="274320"/>
          </a:xfrm>
          <a:prstGeom prst="rect">
            <a:avLst/>
          </a:prstGeom>
          <a:solidFill>
            <a:srgbClr val="EF4444"/>
          </a:solidFill>
          <a:ln w="12700">
            <a:solidFill>
              <a:srgbClr val="EF4444"/>
            </a:solidFill>
            <a:prstDash val="solid"/>
          </a:ln>
        </p:spPr>
      </p:sp>
      <p:sp>
        <p:nvSpPr>
          <p:cNvPr id="18" name="Text 16"/>
          <p:cNvSpPr/>
          <p:nvPr/>
        </p:nvSpPr>
        <p:spPr>
          <a:xfrm>
            <a:off x="2441448" y="2724912"/>
            <a:ext cx="384048" cy="274320"/>
          </a:xfrm>
          <a:prstGeom prst="rect">
            <a:avLst/>
          </a:prstGeom>
          <a:noFill/>
          <a:ln/>
        </p:spPr>
        <p:txBody>
          <a:bodyPr wrap="square" lIns="0" tIns="0" rIns="0" bIns="0" rtlCol="0" anchor="ctr"/>
          <a:lstStyle/>
          <a:p>
            <a:pPr marL="0" indent="0" algn="ctr">
              <a:buNone/>
            </a:pPr>
            <a:r>
              <a:rPr lang="en-US" sz="1100" b="1" dirty="0">
                <a:solidFill>
                  <a:srgbClr val="FFFFFF"/>
                </a:solidFill>
              </a:rPr>
              <a:t>−1</a:t>
            </a:r>
            <a:endParaRPr lang="en-US" sz="1100" dirty="0"/>
          </a:p>
        </p:txBody>
      </p:sp>
      <p:sp>
        <p:nvSpPr>
          <p:cNvPr id="19" name="Text 17"/>
          <p:cNvSpPr/>
          <p:nvPr/>
        </p:nvSpPr>
        <p:spPr>
          <a:xfrm>
            <a:off x="320040" y="2651760"/>
            <a:ext cx="2011680" cy="502920"/>
          </a:xfrm>
          <a:prstGeom prst="rect">
            <a:avLst/>
          </a:prstGeom>
          <a:noFill/>
          <a:ln/>
        </p:spPr>
        <p:txBody>
          <a:bodyPr wrap="square" rtlCol="0" anchor="ctr"/>
          <a:lstStyle/>
          <a:p>
            <a:pPr marL="0" indent="0">
              <a:buNone/>
            </a:pPr>
            <a:r>
              <a:rPr lang="en-US" sz="1050" dirty="0">
                <a:solidFill>
                  <a:srgbClr val="1E293B"/>
                </a:solidFill>
              </a:rPr>
              <a:t>Has never shipped anything to production</a:t>
            </a:r>
            <a:endParaRPr lang="en-US" sz="1050" dirty="0"/>
          </a:p>
        </p:txBody>
      </p:sp>
      <p:sp>
        <p:nvSpPr>
          <p:cNvPr id="20" name="Shape 18"/>
          <p:cNvSpPr/>
          <p:nvPr/>
        </p:nvSpPr>
        <p:spPr>
          <a:xfrm>
            <a:off x="292608" y="3182112"/>
            <a:ext cx="2569464" cy="18288"/>
          </a:xfrm>
          <a:prstGeom prst="rect">
            <a:avLst/>
          </a:prstGeom>
          <a:solidFill>
            <a:srgbClr val="E2E8F0"/>
          </a:solidFill>
          <a:ln w="12700">
            <a:solidFill>
              <a:srgbClr val="E2E8F0"/>
            </a:solidFill>
            <a:prstDash val="solid"/>
          </a:ln>
        </p:spPr>
      </p:sp>
      <p:sp>
        <p:nvSpPr>
          <p:cNvPr id="21" name="Shape 19"/>
          <p:cNvSpPr/>
          <p:nvPr/>
        </p:nvSpPr>
        <p:spPr>
          <a:xfrm>
            <a:off x="2441448" y="3300984"/>
            <a:ext cx="384048" cy="274320"/>
          </a:xfrm>
          <a:prstGeom prst="rect">
            <a:avLst/>
          </a:prstGeom>
          <a:solidFill>
            <a:srgbClr val="EF4444"/>
          </a:solidFill>
          <a:ln w="12700">
            <a:solidFill>
              <a:srgbClr val="EF4444"/>
            </a:solidFill>
            <a:prstDash val="solid"/>
          </a:ln>
        </p:spPr>
      </p:sp>
      <p:sp>
        <p:nvSpPr>
          <p:cNvPr id="22" name="Text 20"/>
          <p:cNvSpPr/>
          <p:nvPr/>
        </p:nvSpPr>
        <p:spPr>
          <a:xfrm>
            <a:off x="2441448" y="3300984"/>
            <a:ext cx="384048" cy="274320"/>
          </a:xfrm>
          <a:prstGeom prst="rect">
            <a:avLst/>
          </a:prstGeom>
          <a:noFill/>
          <a:ln/>
        </p:spPr>
        <p:txBody>
          <a:bodyPr wrap="square" lIns="0" tIns="0" rIns="0" bIns="0" rtlCol="0" anchor="ctr"/>
          <a:lstStyle/>
          <a:p>
            <a:pPr marL="0" indent="0" algn="ctr">
              <a:buNone/>
            </a:pPr>
            <a:r>
              <a:rPr lang="en-US" sz="1100" b="1" dirty="0">
                <a:solidFill>
                  <a:srgbClr val="FFFFFF"/>
                </a:solidFill>
              </a:rPr>
              <a:t>−2</a:t>
            </a:r>
            <a:endParaRPr lang="en-US" sz="1100" dirty="0"/>
          </a:p>
        </p:txBody>
      </p:sp>
      <p:sp>
        <p:nvSpPr>
          <p:cNvPr id="23" name="Text 21"/>
          <p:cNvSpPr/>
          <p:nvPr/>
        </p:nvSpPr>
        <p:spPr>
          <a:xfrm>
            <a:off x="320040" y="3227832"/>
            <a:ext cx="2011680" cy="502920"/>
          </a:xfrm>
          <a:prstGeom prst="rect">
            <a:avLst/>
          </a:prstGeom>
          <a:noFill/>
          <a:ln/>
        </p:spPr>
        <p:txBody>
          <a:bodyPr wrap="square" rtlCol="0" anchor="ctr"/>
          <a:lstStyle/>
          <a:p>
            <a:pPr marL="0" indent="0">
              <a:buNone/>
            </a:pPr>
            <a:r>
              <a:rPr lang="en-US" sz="1050" dirty="0">
                <a:solidFill>
                  <a:srgbClr val="1E293B"/>
                </a:solidFill>
              </a:rPr>
              <a:t>Can't name a tool they use daily</a:t>
            </a:r>
            <a:endParaRPr lang="en-US" sz="1050" dirty="0"/>
          </a:p>
        </p:txBody>
      </p:sp>
      <p:sp>
        <p:nvSpPr>
          <p:cNvPr id="24" name="Shape 22"/>
          <p:cNvSpPr/>
          <p:nvPr/>
        </p:nvSpPr>
        <p:spPr>
          <a:xfrm>
            <a:off x="292608" y="3758184"/>
            <a:ext cx="2569464" cy="18288"/>
          </a:xfrm>
          <a:prstGeom prst="rect">
            <a:avLst/>
          </a:prstGeom>
          <a:solidFill>
            <a:srgbClr val="E2E8F0"/>
          </a:solidFill>
          <a:ln w="12700">
            <a:solidFill>
              <a:srgbClr val="E2E8F0"/>
            </a:solidFill>
            <a:prstDash val="solid"/>
          </a:ln>
        </p:spPr>
      </p:sp>
      <p:sp>
        <p:nvSpPr>
          <p:cNvPr id="25" name="Shape 23"/>
          <p:cNvSpPr/>
          <p:nvPr/>
        </p:nvSpPr>
        <p:spPr>
          <a:xfrm>
            <a:off x="2441448" y="3877056"/>
            <a:ext cx="384048" cy="274320"/>
          </a:xfrm>
          <a:prstGeom prst="rect">
            <a:avLst/>
          </a:prstGeom>
          <a:solidFill>
            <a:srgbClr val="EF4444"/>
          </a:solidFill>
          <a:ln w="12700">
            <a:solidFill>
              <a:srgbClr val="EF4444"/>
            </a:solidFill>
            <a:prstDash val="solid"/>
          </a:ln>
        </p:spPr>
      </p:sp>
      <p:sp>
        <p:nvSpPr>
          <p:cNvPr id="26" name="Text 24"/>
          <p:cNvSpPr/>
          <p:nvPr/>
        </p:nvSpPr>
        <p:spPr>
          <a:xfrm>
            <a:off x="2441448" y="3877056"/>
            <a:ext cx="384048" cy="274320"/>
          </a:xfrm>
          <a:prstGeom prst="rect">
            <a:avLst/>
          </a:prstGeom>
          <a:noFill/>
          <a:ln/>
        </p:spPr>
        <p:txBody>
          <a:bodyPr wrap="square" lIns="0" tIns="0" rIns="0" bIns="0" rtlCol="0" anchor="ctr"/>
          <a:lstStyle/>
          <a:p>
            <a:pPr marL="0" indent="0" algn="ctr">
              <a:buNone/>
            </a:pPr>
            <a:r>
              <a:rPr lang="en-US" sz="1100" b="1" dirty="0">
                <a:solidFill>
                  <a:srgbClr val="FFFFFF"/>
                </a:solidFill>
              </a:rPr>
              <a:t>−1</a:t>
            </a:r>
            <a:endParaRPr lang="en-US" sz="1100" dirty="0"/>
          </a:p>
        </p:txBody>
      </p:sp>
      <p:sp>
        <p:nvSpPr>
          <p:cNvPr id="27" name="Text 25"/>
          <p:cNvSpPr/>
          <p:nvPr/>
        </p:nvSpPr>
        <p:spPr>
          <a:xfrm>
            <a:off x="320040" y="3803904"/>
            <a:ext cx="2011680" cy="502920"/>
          </a:xfrm>
          <a:prstGeom prst="rect">
            <a:avLst/>
          </a:prstGeom>
          <a:noFill/>
          <a:ln/>
        </p:spPr>
        <p:txBody>
          <a:bodyPr wrap="square" rtlCol="0" anchor="ctr"/>
          <a:lstStyle/>
          <a:p>
            <a:pPr marL="0" indent="0">
              <a:buNone/>
            </a:pPr>
            <a:r>
              <a:rPr lang="en-US" sz="1050" dirty="0">
                <a:solidFill>
                  <a:srgbClr val="1E293B"/>
                </a:solidFill>
              </a:rPr>
              <a:t>No awareness of performance/scale issues</a:t>
            </a:r>
            <a:endParaRPr lang="en-US" sz="1050" dirty="0"/>
          </a:p>
        </p:txBody>
      </p:sp>
      <p:sp>
        <p:nvSpPr>
          <p:cNvPr id="28" name="Shape 26"/>
          <p:cNvSpPr/>
          <p:nvPr/>
        </p:nvSpPr>
        <p:spPr>
          <a:xfrm>
            <a:off x="292608" y="4334256"/>
            <a:ext cx="2569464" cy="18288"/>
          </a:xfrm>
          <a:prstGeom prst="rect">
            <a:avLst/>
          </a:prstGeom>
          <a:solidFill>
            <a:srgbClr val="E2E8F0"/>
          </a:solidFill>
          <a:ln w="12700">
            <a:solidFill>
              <a:srgbClr val="E2E8F0"/>
            </a:solidFill>
            <a:prstDash val="solid"/>
          </a:ln>
        </p:spPr>
      </p:sp>
      <p:sp>
        <p:nvSpPr>
          <p:cNvPr id="29" name="Shape 27"/>
          <p:cNvSpPr/>
          <p:nvPr/>
        </p:nvSpPr>
        <p:spPr>
          <a:xfrm>
            <a:off x="2441448" y="4453128"/>
            <a:ext cx="384048" cy="274320"/>
          </a:xfrm>
          <a:prstGeom prst="rect">
            <a:avLst/>
          </a:prstGeom>
          <a:solidFill>
            <a:srgbClr val="EF4444"/>
          </a:solidFill>
          <a:ln w="12700">
            <a:solidFill>
              <a:srgbClr val="EF4444"/>
            </a:solidFill>
            <a:prstDash val="solid"/>
          </a:ln>
        </p:spPr>
      </p:sp>
      <p:sp>
        <p:nvSpPr>
          <p:cNvPr id="30" name="Text 28"/>
          <p:cNvSpPr/>
          <p:nvPr/>
        </p:nvSpPr>
        <p:spPr>
          <a:xfrm>
            <a:off x="2441448" y="4453128"/>
            <a:ext cx="384048" cy="274320"/>
          </a:xfrm>
          <a:prstGeom prst="rect">
            <a:avLst/>
          </a:prstGeom>
          <a:noFill/>
          <a:ln/>
        </p:spPr>
        <p:txBody>
          <a:bodyPr wrap="square" lIns="0" tIns="0" rIns="0" bIns="0" rtlCol="0" anchor="ctr"/>
          <a:lstStyle/>
          <a:p>
            <a:pPr marL="0" indent="0" algn="ctr">
              <a:buNone/>
            </a:pPr>
            <a:r>
              <a:rPr lang="en-US" sz="1100" b="1" dirty="0">
                <a:solidFill>
                  <a:srgbClr val="FFFFFF"/>
                </a:solidFill>
              </a:rPr>
              <a:t>−1</a:t>
            </a:r>
            <a:endParaRPr lang="en-US" sz="1100" dirty="0"/>
          </a:p>
        </p:txBody>
      </p:sp>
      <p:sp>
        <p:nvSpPr>
          <p:cNvPr id="31" name="Text 29"/>
          <p:cNvSpPr/>
          <p:nvPr/>
        </p:nvSpPr>
        <p:spPr>
          <a:xfrm>
            <a:off x="320040" y="4379976"/>
            <a:ext cx="2011680" cy="502920"/>
          </a:xfrm>
          <a:prstGeom prst="rect">
            <a:avLst/>
          </a:prstGeom>
          <a:noFill/>
          <a:ln/>
        </p:spPr>
        <p:txBody>
          <a:bodyPr wrap="square" rtlCol="0" anchor="ctr"/>
          <a:lstStyle/>
          <a:p>
            <a:pPr marL="0" indent="0">
              <a:buNone/>
            </a:pPr>
            <a:r>
              <a:rPr lang="en-US" sz="1050" dirty="0">
                <a:solidFill>
                  <a:srgbClr val="1E293B"/>
                </a:solidFill>
              </a:rPr>
              <a:t>Claims full-stack but weak on both ends</a:t>
            </a:r>
            <a:endParaRPr lang="en-US" sz="1050" dirty="0"/>
          </a:p>
        </p:txBody>
      </p:sp>
      <p:sp>
        <p:nvSpPr>
          <p:cNvPr id="32" name="Shape 30"/>
          <p:cNvSpPr/>
          <p:nvPr/>
        </p:nvSpPr>
        <p:spPr>
          <a:xfrm>
            <a:off x="3246120" y="1024128"/>
            <a:ext cx="2788920" cy="3977640"/>
          </a:xfrm>
          <a:prstGeom prst="rect">
            <a:avLst/>
          </a:prstGeom>
          <a:solidFill>
            <a:srgbClr val="F5F3FF"/>
          </a:solidFill>
          <a:ln w="6350">
            <a:solidFill>
              <a:srgbClr val="E2E8F0"/>
            </a:solidFill>
            <a:prstDash val="solid"/>
          </a:ln>
          <a:effectLst>
            <a:outerShdw blurRad="63500" dist="25400" dir="8100000" algn="bl" rotWithShape="0">
              <a:srgbClr val="000000">
                <a:alpha val="6000"/>
              </a:srgbClr>
            </a:outerShdw>
          </a:effectLst>
        </p:spPr>
      </p:sp>
      <p:sp>
        <p:nvSpPr>
          <p:cNvPr id="33" name="Shape 31"/>
          <p:cNvSpPr/>
          <p:nvPr/>
        </p:nvSpPr>
        <p:spPr>
          <a:xfrm>
            <a:off x="3246120" y="1024128"/>
            <a:ext cx="2788920" cy="384048"/>
          </a:xfrm>
          <a:prstGeom prst="rect">
            <a:avLst/>
          </a:prstGeom>
          <a:solidFill>
            <a:srgbClr val="8B5CF6"/>
          </a:solidFill>
          <a:ln w="12700">
            <a:solidFill>
              <a:srgbClr val="8B5CF6"/>
            </a:solidFill>
            <a:prstDash val="solid"/>
          </a:ln>
        </p:spPr>
      </p:sp>
      <p:sp>
        <p:nvSpPr>
          <p:cNvPr id="34" name="Text 32"/>
          <p:cNvSpPr/>
          <p:nvPr/>
        </p:nvSpPr>
        <p:spPr>
          <a:xfrm>
            <a:off x="3383280" y="1024128"/>
            <a:ext cx="2514600" cy="384048"/>
          </a:xfrm>
          <a:prstGeom prst="rect">
            <a:avLst/>
          </a:prstGeom>
          <a:noFill/>
          <a:ln/>
        </p:spPr>
        <p:txBody>
          <a:bodyPr wrap="square" rtlCol="0" anchor="ctr"/>
          <a:lstStyle/>
          <a:p>
            <a:pPr marL="0" indent="0">
              <a:buNone/>
            </a:pPr>
            <a:r>
              <a:rPr lang="en-US" sz="1100" b="1" kern="0" spc="150" dirty="0">
                <a:solidFill>
                  <a:srgbClr val="FFFFFF"/>
                </a:solidFill>
              </a:rPr>
              <a:t>BEHAVIOURAL FLAGS</a:t>
            </a:r>
            <a:endParaRPr lang="en-US" sz="1100" dirty="0"/>
          </a:p>
        </p:txBody>
      </p:sp>
      <p:sp>
        <p:nvSpPr>
          <p:cNvPr id="35" name="Shape 33"/>
          <p:cNvSpPr/>
          <p:nvPr/>
        </p:nvSpPr>
        <p:spPr>
          <a:xfrm>
            <a:off x="5504688" y="1572768"/>
            <a:ext cx="384048" cy="274320"/>
          </a:xfrm>
          <a:prstGeom prst="rect">
            <a:avLst/>
          </a:prstGeom>
          <a:solidFill>
            <a:srgbClr val="EF4444"/>
          </a:solidFill>
          <a:ln w="12700">
            <a:solidFill>
              <a:srgbClr val="EF4444"/>
            </a:solidFill>
            <a:prstDash val="solid"/>
          </a:ln>
        </p:spPr>
      </p:sp>
      <p:sp>
        <p:nvSpPr>
          <p:cNvPr id="36" name="Text 34"/>
          <p:cNvSpPr/>
          <p:nvPr/>
        </p:nvSpPr>
        <p:spPr>
          <a:xfrm>
            <a:off x="5504688" y="1572768"/>
            <a:ext cx="384048" cy="274320"/>
          </a:xfrm>
          <a:prstGeom prst="rect">
            <a:avLst/>
          </a:prstGeom>
          <a:noFill/>
          <a:ln/>
        </p:spPr>
        <p:txBody>
          <a:bodyPr wrap="square" lIns="0" tIns="0" rIns="0" bIns="0" rtlCol="0" anchor="ctr"/>
          <a:lstStyle/>
          <a:p>
            <a:pPr marL="0" indent="0" algn="ctr">
              <a:buNone/>
            </a:pPr>
            <a:r>
              <a:rPr lang="en-US" sz="1100" b="1" dirty="0">
                <a:solidFill>
                  <a:srgbClr val="FFFFFF"/>
                </a:solidFill>
              </a:rPr>
              <a:t>−2</a:t>
            </a:r>
            <a:endParaRPr lang="en-US" sz="1100" dirty="0"/>
          </a:p>
        </p:txBody>
      </p:sp>
      <p:sp>
        <p:nvSpPr>
          <p:cNvPr id="37" name="Text 35"/>
          <p:cNvSpPr/>
          <p:nvPr/>
        </p:nvSpPr>
        <p:spPr>
          <a:xfrm>
            <a:off x="3383280" y="1499616"/>
            <a:ext cx="2011680" cy="502920"/>
          </a:xfrm>
          <a:prstGeom prst="rect">
            <a:avLst/>
          </a:prstGeom>
          <a:noFill/>
          <a:ln/>
        </p:spPr>
        <p:txBody>
          <a:bodyPr wrap="square" rtlCol="0" anchor="ctr"/>
          <a:lstStyle/>
          <a:p>
            <a:pPr marL="0" indent="0">
              <a:buNone/>
            </a:pPr>
            <a:r>
              <a:rPr lang="en-US" sz="1050" dirty="0">
                <a:solidFill>
                  <a:srgbClr val="1E293B"/>
                </a:solidFill>
              </a:rPr>
              <a:t>Blames team / manager for every failure</a:t>
            </a:r>
            <a:endParaRPr lang="en-US" sz="1050" dirty="0"/>
          </a:p>
        </p:txBody>
      </p:sp>
      <p:sp>
        <p:nvSpPr>
          <p:cNvPr id="38" name="Shape 36"/>
          <p:cNvSpPr/>
          <p:nvPr/>
        </p:nvSpPr>
        <p:spPr>
          <a:xfrm>
            <a:off x="3355848" y="2029968"/>
            <a:ext cx="2569464" cy="18288"/>
          </a:xfrm>
          <a:prstGeom prst="rect">
            <a:avLst/>
          </a:prstGeom>
          <a:solidFill>
            <a:srgbClr val="E2E8F0"/>
          </a:solidFill>
          <a:ln w="12700">
            <a:solidFill>
              <a:srgbClr val="E2E8F0"/>
            </a:solidFill>
            <a:prstDash val="solid"/>
          </a:ln>
        </p:spPr>
      </p:sp>
      <p:sp>
        <p:nvSpPr>
          <p:cNvPr id="39" name="Shape 37"/>
          <p:cNvSpPr/>
          <p:nvPr/>
        </p:nvSpPr>
        <p:spPr>
          <a:xfrm>
            <a:off x="5504688" y="2148840"/>
            <a:ext cx="384048" cy="274320"/>
          </a:xfrm>
          <a:prstGeom prst="rect">
            <a:avLst/>
          </a:prstGeom>
          <a:solidFill>
            <a:srgbClr val="EF4444"/>
          </a:solidFill>
          <a:ln w="12700">
            <a:solidFill>
              <a:srgbClr val="EF4444"/>
            </a:solidFill>
            <a:prstDash val="solid"/>
          </a:ln>
        </p:spPr>
      </p:sp>
      <p:sp>
        <p:nvSpPr>
          <p:cNvPr id="40" name="Text 38"/>
          <p:cNvSpPr/>
          <p:nvPr/>
        </p:nvSpPr>
        <p:spPr>
          <a:xfrm>
            <a:off x="5504688" y="2148840"/>
            <a:ext cx="384048" cy="274320"/>
          </a:xfrm>
          <a:prstGeom prst="rect">
            <a:avLst/>
          </a:prstGeom>
          <a:noFill/>
          <a:ln/>
        </p:spPr>
        <p:txBody>
          <a:bodyPr wrap="square" lIns="0" tIns="0" rIns="0" bIns="0" rtlCol="0" anchor="ctr"/>
          <a:lstStyle/>
          <a:p>
            <a:pPr marL="0" indent="0" algn="ctr">
              <a:buNone/>
            </a:pPr>
            <a:r>
              <a:rPr lang="en-US" sz="1100" b="1" dirty="0">
                <a:solidFill>
                  <a:srgbClr val="FFFFFF"/>
                </a:solidFill>
              </a:rPr>
              <a:t>−2</a:t>
            </a:r>
            <a:endParaRPr lang="en-US" sz="1100" dirty="0"/>
          </a:p>
        </p:txBody>
      </p:sp>
      <p:sp>
        <p:nvSpPr>
          <p:cNvPr id="41" name="Text 39"/>
          <p:cNvSpPr/>
          <p:nvPr/>
        </p:nvSpPr>
        <p:spPr>
          <a:xfrm>
            <a:off x="3383280" y="2075688"/>
            <a:ext cx="2011680" cy="502920"/>
          </a:xfrm>
          <a:prstGeom prst="rect">
            <a:avLst/>
          </a:prstGeom>
          <a:noFill/>
          <a:ln/>
        </p:spPr>
        <p:txBody>
          <a:bodyPr wrap="square" rtlCol="0" anchor="ctr"/>
          <a:lstStyle/>
          <a:p>
            <a:pPr marL="0" indent="0">
              <a:buNone/>
            </a:pPr>
            <a:r>
              <a:rPr lang="en-US" sz="1050" dirty="0">
                <a:solidFill>
                  <a:srgbClr val="1E293B"/>
                </a:solidFill>
              </a:rPr>
              <a:t>Evasive when asked about mistakes</a:t>
            </a:r>
            <a:endParaRPr lang="en-US" sz="1050" dirty="0"/>
          </a:p>
        </p:txBody>
      </p:sp>
      <p:sp>
        <p:nvSpPr>
          <p:cNvPr id="42" name="Shape 40"/>
          <p:cNvSpPr/>
          <p:nvPr/>
        </p:nvSpPr>
        <p:spPr>
          <a:xfrm>
            <a:off x="3355848" y="2606040"/>
            <a:ext cx="2569464" cy="18288"/>
          </a:xfrm>
          <a:prstGeom prst="rect">
            <a:avLst/>
          </a:prstGeom>
          <a:solidFill>
            <a:srgbClr val="E2E8F0"/>
          </a:solidFill>
          <a:ln w="12700">
            <a:solidFill>
              <a:srgbClr val="E2E8F0"/>
            </a:solidFill>
            <a:prstDash val="solid"/>
          </a:ln>
        </p:spPr>
      </p:sp>
      <p:sp>
        <p:nvSpPr>
          <p:cNvPr id="43" name="Shape 41"/>
          <p:cNvSpPr/>
          <p:nvPr/>
        </p:nvSpPr>
        <p:spPr>
          <a:xfrm>
            <a:off x="5504688" y="2724912"/>
            <a:ext cx="384048" cy="274320"/>
          </a:xfrm>
          <a:prstGeom prst="rect">
            <a:avLst/>
          </a:prstGeom>
          <a:solidFill>
            <a:srgbClr val="EF4444"/>
          </a:solidFill>
          <a:ln w="12700">
            <a:solidFill>
              <a:srgbClr val="EF4444"/>
            </a:solidFill>
            <a:prstDash val="solid"/>
          </a:ln>
        </p:spPr>
      </p:sp>
      <p:sp>
        <p:nvSpPr>
          <p:cNvPr id="44" name="Text 42"/>
          <p:cNvSpPr/>
          <p:nvPr/>
        </p:nvSpPr>
        <p:spPr>
          <a:xfrm>
            <a:off x="5504688" y="2724912"/>
            <a:ext cx="384048" cy="274320"/>
          </a:xfrm>
          <a:prstGeom prst="rect">
            <a:avLst/>
          </a:prstGeom>
          <a:noFill/>
          <a:ln/>
        </p:spPr>
        <p:txBody>
          <a:bodyPr wrap="square" lIns="0" tIns="0" rIns="0" bIns="0" rtlCol="0" anchor="ctr"/>
          <a:lstStyle/>
          <a:p>
            <a:pPr marL="0" indent="0" algn="ctr">
              <a:buNone/>
            </a:pPr>
            <a:r>
              <a:rPr lang="en-US" sz="1100" b="1" dirty="0">
                <a:solidFill>
                  <a:srgbClr val="FFFFFF"/>
                </a:solidFill>
              </a:rPr>
              <a:t>−1</a:t>
            </a:r>
            <a:endParaRPr lang="en-US" sz="1100" dirty="0"/>
          </a:p>
        </p:txBody>
      </p:sp>
      <p:sp>
        <p:nvSpPr>
          <p:cNvPr id="45" name="Text 43"/>
          <p:cNvSpPr/>
          <p:nvPr/>
        </p:nvSpPr>
        <p:spPr>
          <a:xfrm>
            <a:off x="3383280" y="2651760"/>
            <a:ext cx="2011680" cy="502920"/>
          </a:xfrm>
          <a:prstGeom prst="rect">
            <a:avLst/>
          </a:prstGeom>
          <a:noFill/>
          <a:ln/>
        </p:spPr>
        <p:txBody>
          <a:bodyPr wrap="square" rtlCol="0" anchor="ctr"/>
          <a:lstStyle/>
          <a:p>
            <a:pPr marL="0" indent="0">
              <a:buNone/>
            </a:pPr>
            <a:r>
              <a:rPr lang="en-US" sz="1050" dirty="0">
                <a:solidFill>
                  <a:srgbClr val="1E293B"/>
                </a:solidFill>
              </a:rPr>
              <a:t>Can't describe their own decision-making</a:t>
            </a:r>
            <a:endParaRPr lang="en-US" sz="1050" dirty="0"/>
          </a:p>
        </p:txBody>
      </p:sp>
      <p:sp>
        <p:nvSpPr>
          <p:cNvPr id="46" name="Shape 44"/>
          <p:cNvSpPr/>
          <p:nvPr/>
        </p:nvSpPr>
        <p:spPr>
          <a:xfrm>
            <a:off x="3355848" y="3182112"/>
            <a:ext cx="2569464" cy="18288"/>
          </a:xfrm>
          <a:prstGeom prst="rect">
            <a:avLst/>
          </a:prstGeom>
          <a:solidFill>
            <a:srgbClr val="E2E8F0"/>
          </a:solidFill>
          <a:ln w="12700">
            <a:solidFill>
              <a:srgbClr val="E2E8F0"/>
            </a:solidFill>
            <a:prstDash val="solid"/>
          </a:ln>
        </p:spPr>
      </p:sp>
      <p:sp>
        <p:nvSpPr>
          <p:cNvPr id="47" name="Shape 45"/>
          <p:cNvSpPr/>
          <p:nvPr/>
        </p:nvSpPr>
        <p:spPr>
          <a:xfrm>
            <a:off x="5504688" y="3300984"/>
            <a:ext cx="384048" cy="274320"/>
          </a:xfrm>
          <a:prstGeom prst="rect">
            <a:avLst/>
          </a:prstGeom>
          <a:solidFill>
            <a:srgbClr val="EF4444"/>
          </a:solidFill>
          <a:ln w="12700">
            <a:solidFill>
              <a:srgbClr val="EF4444"/>
            </a:solidFill>
            <a:prstDash val="solid"/>
          </a:ln>
        </p:spPr>
      </p:sp>
      <p:sp>
        <p:nvSpPr>
          <p:cNvPr id="48" name="Text 46"/>
          <p:cNvSpPr/>
          <p:nvPr/>
        </p:nvSpPr>
        <p:spPr>
          <a:xfrm>
            <a:off x="5504688" y="3300984"/>
            <a:ext cx="384048" cy="274320"/>
          </a:xfrm>
          <a:prstGeom prst="rect">
            <a:avLst/>
          </a:prstGeom>
          <a:noFill/>
          <a:ln/>
        </p:spPr>
        <p:txBody>
          <a:bodyPr wrap="square" lIns="0" tIns="0" rIns="0" bIns="0" rtlCol="0" anchor="ctr"/>
          <a:lstStyle/>
          <a:p>
            <a:pPr marL="0" indent="0" algn="ctr">
              <a:buNone/>
            </a:pPr>
            <a:r>
              <a:rPr lang="en-US" sz="1100" b="1" dirty="0">
                <a:solidFill>
                  <a:srgbClr val="FFFFFF"/>
                </a:solidFill>
              </a:rPr>
              <a:t>−1</a:t>
            </a:r>
            <a:endParaRPr lang="en-US" sz="1100" dirty="0"/>
          </a:p>
        </p:txBody>
      </p:sp>
      <p:sp>
        <p:nvSpPr>
          <p:cNvPr id="49" name="Text 47"/>
          <p:cNvSpPr/>
          <p:nvPr/>
        </p:nvSpPr>
        <p:spPr>
          <a:xfrm>
            <a:off x="3383280" y="3227832"/>
            <a:ext cx="2011680" cy="502920"/>
          </a:xfrm>
          <a:prstGeom prst="rect">
            <a:avLst/>
          </a:prstGeom>
          <a:noFill/>
          <a:ln/>
        </p:spPr>
        <p:txBody>
          <a:bodyPr wrap="square" rtlCol="0" anchor="ctr"/>
          <a:lstStyle/>
          <a:p>
            <a:pPr marL="0" indent="0">
              <a:buNone/>
            </a:pPr>
            <a:r>
              <a:rPr lang="en-US" sz="1050" dirty="0">
                <a:solidFill>
                  <a:srgbClr val="1E293B"/>
                </a:solidFill>
              </a:rPr>
              <a:t>No curiosity — never asks a question back</a:t>
            </a:r>
            <a:endParaRPr lang="en-US" sz="1050" dirty="0"/>
          </a:p>
        </p:txBody>
      </p:sp>
      <p:sp>
        <p:nvSpPr>
          <p:cNvPr id="50" name="Shape 48"/>
          <p:cNvSpPr/>
          <p:nvPr/>
        </p:nvSpPr>
        <p:spPr>
          <a:xfrm>
            <a:off x="3355848" y="3758184"/>
            <a:ext cx="2569464" cy="18288"/>
          </a:xfrm>
          <a:prstGeom prst="rect">
            <a:avLst/>
          </a:prstGeom>
          <a:solidFill>
            <a:srgbClr val="E2E8F0"/>
          </a:solidFill>
          <a:ln w="12700">
            <a:solidFill>
              <a:srgbClr val="E2E8F0"/>
            </a:solidFill>
            <a:prstDash val="solid"/>
          </a:ln>
        </p:spPr>
      </p:sp>
      <p:sp>
        <p:nvSpPr>
          <p:cNvPr id="51" name="Shape 49"/>
          <p:cNvSpPr/>
          <p:nvPr/>
        </p:nvSpPr>
        <p:spPr>
          <a:xfrm>
            <a:off x="5504688" y="3877056"/>
            <a:ext cx="384048" cy="274320"/>
          </a:xfrm>
          <a:prstGeom prst="rect">
            <a:avLst/>
          </a:prstGeom>
          <a:solidFill>
            <a:srgbClr val="EF4444"/>
          </a:solidFill>
          <a:ln w="12700">
            <a:solidFill>
              <a:srgbClr val="EF4444"/>
            </a:solidFill>
            <a:prstDash val="solid"/>
          </a:ln>
        </p:spPr>
      </p:sp>
      <p:sp>
        <p:nvSpPr>
          <p:cNvPr id="52" name="Text 50"/>
          <p:cNvSpPr/>
          <p:nvPr/>
        </p:nvSpPr>
        <p:spPr>
          <a:xfrm>
            <a:off x="5504688" y="3877056"/>
            <a:ext cx="384048" cy="274320"/>
          </a:xfrm>
          <a:prstGeom prst="rect">
            <a:avLst/>
          </a:prstGeom>
          <a:noFill/>
          <a:ln/>
        </p:spPr>
        <p:txBody>
          <a:bodyPr wrap="square" lIns="0" tIns="0" rIns="0" bIns="0" rtlCol="0" anchor="ctr"/>
          <a:lstStyle/>
          <a:p>
            <a:pPr marL="0" indent="0" algn="ctr">
              <a:buNone/>
            </a:pPr>
            <a:r>
              <a:rPr lang="en-US" sz="1100" b="1" dirty="0">
                <a:solidFill>
                  <a:srgbClr val="FFFFFF"/>
                </a:solidFill>
              </a:rPr>
              <a:t>−2</a:t>
            </a:r>
            <a:endParaRPr lang="en-US" sz="1100" dirty="0"/>
          </a:p>
        </p:txBody>
      </p:sp>
      <p:sp>
        <p:nvSpPr>
          <p:cNvPr id="53" name="Text 51"/>
          <p:cNvSpPr/>
          <p:nvPr/>
        </p:nvSpPr>
        <p:spPr>
          <a:xfrm>
            <a:off x="3383280" y="3803904"/>
            <a:ext cx="2011680" cy="502920"/>
          </a:xfrm>
          <a:prstGeom prst="rect">
            <a:avLst/>
          </a:prstGeom>
          <a:noFill/>
          <a:ln/>
        </p:spPr>
        <p:txBody>
          <a:bodyPr wrap="square" rtlCol="0" anchor="ctr"/>
          <a:lstStyle/>
          <a:p>
            <a:pPr marL="0" indent="0">
              <a:buNone/>
            </a:pPr>
            <a:r>
              <a:rPr lang="en-US" sz="1050" dirty="0">
                <a:solidFill>
                  <a:srgbClr val="1E293B"/>
                </a:solidFill>
              </a:rPr>
              <a:t>Contradicts themselves across answers</a:t>
            </a:r>
            <a:endParaRPr lang="en-US" sz="1050" dirty="0"/>
          </a:p>
        </p:txBody>
      </p:sp>
      <p:sp>
        <p:nvSpPr>
          <p:cNvPr id="54" name="Shape 52"/>
          <p:cNvSpPr/>
          <p:nvPr/>
        </p:nvSpPr>
        <p:spPr>
          <a:xfrm>
            <a:off x="3355848" y="4334256"/>
            <a:ext cx="2569464" cy="18288"/>
          </a:xfrm>
          <a:prstGeom prst="rect">
            <a:avLst/>
          </a:prstGeom>
          <a:solidFill>
            <a:srgbClr val="E2E8F0"/>
          </a:solidFill>
          <a:ln w="12700">
            <a:solidFill>
              <a:srgbClr val="E2E8F0"/>
            </a:solidFill>
            <a:prstDash val="solid"/>
          </a:ln>
        </p:spPr>
      </p:sp>
      <p:sp>
        <p:nvSpPr>
          <p:cNvPr id="55" name="Shape 53"/>
          <p:cNvSpPr/>
          <p:nvPr/>
        </p:nvSpPr>
        <p:spPr>
          <a:xfrm>
            <a:off x="5504688" y="4453128"/>
            <a:ext cx="384048" cy="274320"/>
          </a:xfrm>
          <a:prstGeom prst="rect">
            <a:avLst/>
          </a:prstGeom>
          <a:solidFill>
            <a:srgbClr val="EF4444"/>
          </a:solidFill>
          <a:ln w="12700">
            <a:solidFill>
              <a:srgbClr val="EF4444"/>
            </a:solidFill>
            <a:prstDash val="solid"/>
          </a:ln>
        </p:spPr>
      </p:sp>
      <p:sp>
        <p:nvSpPr>
          <p:cNvPr id="56" name="Text 54"/>
          <p:cNvSpPr/>
          <p:nvPr/>
        </p:nvSpPr>
        <p:spPr>
          <a:xfrm>
            <a:off x="5504688" y="4453128"/>
            <a:ext cx="384048" cy="274320"/>
          </a:xfrm>
          <a:prstGeom prst="rect">
            <a:avLst/>
          </a:prstGeom>
          <a:noFill/>
          <a:ln/>
        </p:spPr>
        <p:txBody>
          <a:bodyPr wrap="square" lIns="0" tIns="0" rIns="0" bIns="0" rtlCol="0" anchor="ctr"/>
          <a:lstStyle/>
          <a:p>
            <a:pPr marL="0" indent="0" algn="ctr">
              <a:buNone/>
            </a:pPr>
            <a:r>
              <a:rPr lang="en-US" sz="1100" b="1" dirty="0">
                <a:solidFill>
                  <a:srgbClr val="FFFFFF"/>
                </a:solidFill>
              </a:rPr>
              <a:t>−1</a:t>
            </a:r>
            <a:endParaRPr lang="en-US" sz="1100" dirty="0"/>
          </a:p>
        </p:txBody>
      </p:sp>
      <p:sp>
        <p:nvSpPr>
          <p:cNvPr id="57" name="Text 55"/>
          <p:cNvSpPr/>
          <p:nvPr/>
        </p:nvSpPr>
        <p:spPr>
          <a:xfrm>
            <a:off x="3383280" y="4379976"/>
            <a:ext cx="2011680" cy="502920"/>
          </a:xfrm>
          <a:prstGeom prst="rect">
            <a:avLst/>
          </a:prstGeom>
          <a:noFill/>
          <a:ln/>
        </p:spPr>
        <p:txBody>
          <a:bodyPr wrap="square" rtlCol="0" anchor="ctr"/>
          <a:lstStyle/>
          <a:p>
            <a:pPr marL="0" indent="0">
              <a:buNone/>
            </a:pPr>
            <a:r>
              <a:rPr lang="en-US" sz="1050" dirty="0">
                <a:solidFill>
                  <a:srgbClr val="1E293B"/>
                </a:solidFill>
              </a:rPr>
              <a:t>Gives rehearsed, robotic non-answers</a:t>
            </a:r>
            <a:endParaRPr lang="en-US" sz="1050" dirty="0"/>
          </a:p>
        </p:txBody>
      </p:sp>
      <p:sp>
        <p:nvSpPr>
          <p:cNvPr id="58" name="Shape 56"/>
          <p:cNvSpPr/>
          <p:nvPr/>
        </p:nvSpPr>
        <p:spPr>
          <a:xfrm>
            <a:off x="6309360" y="1024128"/>
            <a:ext cx="2788920" cy="3977640"/>
          </a:xfrm>
          <a:prstGeom prst="rect">
            <a:avLst/>
          </a:prstGeom>
          <a:solidFill>
            <a:srgbClr val="ECFDF5"/>
          </a:solidFill>
          <a:ln w="6350">
            <a:solidFill>
              <a:srgbClr val="E2E8F0"/>
            </a:solidFill>
            <a:prstDash val="solid"/>
          </a:ln>
          <a:effectLst>
            <a:outerShdw blurRad="63500" dist="25400" dir="8100000" algn="bl" rotWithShape="0">
              <a:srgbClr val="000000">
                <a:alpha val="6000"/>
              </a:srgbClr>
            </a:outerShdw>
          </a:effectLst>
        </p:spPr>
      </p:sp>
      <p:sp>
        <p:nvSpPr>
          <p:cNvPr id="59" name="Shape 57"/>
          <p:cNvSpPr/>
          <p:nvPr/>
        </p:nvSpPr>
        <p:spPr>
          <a:xfrm>
            <a:off x="6309360" y="1024128"/>
            <a:ext cx="2788920" cy="384048"/>
          </a:xfrm>
          <a:prstGeom prst="rect">
            <a:avLst/>
          </a:prstGeom>
          <a:solidFill>
            <a:srgbClr val="10B981"/>
          </a:solidFill>
          <a:ln w="12700">
            <a:solidFill>
              <a:srgbClr val="10B981"/>
            </a:solidFill>
            <a:prstDash val="solid"/>
          </a:ln>
        </p:spPr>
      </p:sp>
      <p:sp>
        <p:nvSpPr>
          <p:cNvPr id="60" name="Text 58"/>
          <p:cNvSpPr/>
          <p:nvPr/>
        </p:nvSpPr>
        <p:spPr>
          <a:xfrm>
            <a:off x="6446520" y="1024128"/>
            <a:ext cx="2514600" cy="384048"/>
          </a:xfrm>
          <a:prstGeom prst="rect">
            <a:avLst/>
          </a:prstGeom>
          <a:noFill/>
          <a:ln/>
        </p:spPr>
        <p:txBody>
          <a:bodyPr wrap="square" rtlCol="0" anchor="ctr"/>
          <a:lstStyle/>
          <a:p>
            <a:pPr marL="0" indent="0">
              <a:buNone/>
            </a:pPr>
            <a:r>
              <a:rPr lang="en-US" sz="1100" b="1" kern="0" spc="150" dirty="0">
                <a:solidFill>
                  <a:srgbClr val="FFFFFF"/>
                </a:solidFill>
              </a:rPr>
              <a:t>GREEN SIGNALS</a:t>
            </a:r>
            <a:endParaRPr lang="en-US" sz="1100" dirty="0"/>
          </a:p>
        </p:txBody>
      </p:sp>
      <p:sp>
        <p:nvSpPr>
          <p:cNvPr id="61" name="Shape 59"/>
          <p:cNvSpPr/>
          <p:nvPr/>
        </p:nvSpPr>
        <p:spPr>
          <a:xfrm>
            <a:off x="8567928" y="1572768"/>
            <a:ext cx="384048" cy="274320"/>
          </a:xfrm>
          <a:prstGeom prst="rect">
            <a:avLst/>
          </a:prstGeom>
          <a:solidFill>
            <a:srgbClr val="10B981"/>
          </a:solidFill>
          <a:ln w="12700">
            <a:solidFill>
              <a:srgbClr val="10B981"/>
            </a:solidFill>
            <a:prstDash val="solid"/>
          </a:ln>
        </p:spPr>
      </p:sp>
      <p:sp>
        <p:nvSpPr>
          <p:cNvPr id="62" name="Text 60"/>
          <p:cNvSpPr/>
          <p:nvPr/>
        </p:nvSpPr>
        <p:spPr>
          <a:xfrm>
            <a:off x="8567928" y="1572768"/>
            <a:ext cx="384048" cy="274320"/>
          </a:xfrm>
          <a:prstGeom prst="rect">
            <a:avLst/>
          </a:prstGeom>
          <a:noFill/>
          <a:ln/>
        </p:spPr>
        <p:txBody>
          <a:bodyPr wrap="square" lIns="0" tIns="0" rIns="0" bIns="0" rtlCol="0" anchor="ctr"/>
          <a:lstStyle/>
          <a:p>
            <a:pPr marL="0" indent="0" algn="ctr">
              <a:buNone/>
            </a:pPr>
            <a:r>
              <a:rPr lang="en-US" sz="1100" b="1" dirty="0">
                <a:solidFill>
                  <a:srgbClr val="FFFFFF"/>
                </a:solidFill>
              </a:rPr>
              <a:t>+2</a:t>
            </a:r>
            <a:endParaRPr lang="en-US" sz="1100" dirty="0"/>
          </a:p>
        </p:txBody>
      </p:sp>
      <p:sp>
        <p:nvSpPr>
          <p:cNvPr id="63" name="Text 61"/>
          <p:cNvSpPr/>
          <p:nvPr/>
        </p:nvSpPr>
        <p:spPr>
          <a:xfrm>
            <a:off x="6446520" y="1499616"/>
            <a:ext cx="2011680" cy="502920"/>
          </a:xfrm>
          <a:prstGeom prst="rect">
            <a:avLst/>
          </a:prstGeom>
          <a:noFill/>
          <a:ln/>
        </p:spPr>
        <p:txBody>
          <a:bodyPr wrap="square" rtlCol="0" anchor="ctr"/>
          <a:lstStyle/>
          <a:p>
            <a:pPr marL="0" indent="0">
              <a:buNone/>
            </a:pPr>
            <a:r>
              <a:rPr lang="en-US" sz="1050" dirty="0">
                <a:solidFill>
                  <a:srgbClr val="1E293B"/>
                </a:solidFill>
              </a:rPr>
              <a:t>Mentions specific failure + what they learned</a:t>
            </a:r>
            <a:endParaRPr lang="en-US" sz="1050" dirty="0"/>
          </a:p>
        </p:txBody>
      </p:sp>
      <p:sp>
        <p:nvSpPr>
          <p:cNvPr id="64" name="Shape 62"/>
          <p:cNvSpPr/>
          <p:nvPr/>
        </p:nvSpPr>
        <p:spPr>
          <a:xfrm>
            <a:off x="6419088" y="2029968"/>
            <a:ext cx="2569464" cy="18288"/>
          </a:xfrm>
          <a:prstGeom prst="rect">
            <a:avLst/>
          </a:prstGeom>
          <a:solidFill>
            <a:srgbClr val="E2E8F0"/>
          </a:solidFill>
          <a:ln w="12700">
            <a:solidFill>
              <a:srgbClr val="E2E8F0"/>
            </a:solidFill>
            <a:prstDash val="solid"/>
          </a:ln>
        </p:spPr>
      </p:sp>
      <p:sp>
        <p:nvSpPr>
          <p:cNvPr id="65" name="Shape 63"/>
          <p:cNvSpPr/>
          <p:nvPr/>
        </p:nvSpPr>
        <p:spPr>
          <a:xfrm>
            <a:off x="8567928" y="2148840"/>
            <a:ext cx="384048" cy="274320"/>
          </a:xfrm>
          <a:prstGeom prst="rect">
            <a:avLst/>
          </a:prstGeom>
          <a:solidFill>
            <a:srgbClr val="10B981"/>
          </a:solidFill>
          <a:ln w="12700">
            <a:solidFill>
              <a:srgbClr val="10B981"/>
            </a:solidFill>
            <a:prstDash val="solid"/>
          </a:ln>
        </p:spPr>
      </p:sp>
      <p:sp>
        <p:nvSpPr>
          <p:cNvPr id="66" name="Text 64"/>
          <p:cNvSpPr/>
          <p:nvPr/>
        </p:nvSpPr>
        <p:spPr>
          <a:xfrm>
            <a:off x="8567928" y="2148840"/>
            <a:ext cx="384048" cy="274320"/>
          </a:xfrm>
          <a:prstGeom prst="rect">
            <a:avLst/>
          </a:prstGeom>
          <a:noFill/>
          <a:ln/>
        </p:spPr>
        <p:txBody>
          <a:bodyPr wrap="square" lIns="0" tIns="0" rIns="0" bIns="0" rtlCol="0" anchor="ctr"/>
          <a:lstStyle/>
          <a:p>
            <a:pPr marL="0" indent="0" algn="ctr">
              <a:buNone/>
            </a:pPr>
            <a:r>
              <a:rPr lang="en-US" sz="1100" b="1" dirty="0">
                <a:solidFill>
                  <a:srgbClr val="FFFFFF"/>
                </a:solidFill>
              </a:rPr>
              <a:t>+2</a:t>
            </a:r>
            <a:endParaRPr lang="en-US" sz="1100" dirty="0"/>
          </a:p>
        </p:txBody>
      </p:sp>
      <p:sp>
        <p:nvSpPr>
          <p:cNvPr id="67" name="Text 65"/>
          <p:cNvSpPr/>
          <p:nvPr/>
        </p:nvSpPr>
        <p:spPr>
          <a:xfrm>
            <a:off x="6446520" y="2075688"/>
            <a:ext cx="2011680" cy="502920"/>
          </a:xfrm>
          <a:prstGeom prst="rect">
            <a:avLst/>
          </a:prstGeom>
          <a:noFill/>
          <a:ln/>
        </p:spPr>
        <p:txBody>
          <a:bodyPr wrap="square" rtlCol="0" anchor="ctr"/>
          <a:lstStyle/>
          <a:p>
            <a:pPr marL="0" indent="0">
              <a:buNone/>
            </a:pPr>
            <a:r>
              <a:rPr lang="en-US" sz="1050" dirty="0">
                <a:solidFill>
                  <a:srgbClr val="1E293B"/>
                </a:solidFill>
              </a:rPr>
              <a:t>Asks smart questions about team or stack</a:t>
            </a:r>
            <a:endParaRPr lang="en-US" sz="1050" dirty="0"/>
          </a:p>
        </p:txBody>
      </p:sp>
      <p:sp>
        <p:nvSpPr>
          <p:cNvPr id="68" name="Shape 66"/>
          <p:cNvSpPr/>
          <p:nvPr/>
        </p:nvSpPr>
        <p:spPr>
          <a:xfrm>
            <a:off x="6419088" y="2606040"/>
            <a:ext cx="2569464" cy="18288"/>
          </a:xfrm>
          <a:prstGeom prst="rect">
            <a:avLst/>
          </a:prstGeom>
          <a:solidFill>
            <a:srgbClr val="E2E8F0"/>
          </a:solidFill>
          <a:ln w="12700">
            <a:solidFill>
              <a:srgbClr val="E2E8F0"/>
            </a:solidFill>
            <a:prstDash val="solid"/>
          </a:ln>
        </p:spPr>
      </p:sp>
      <p:sp>
        <p:nvSpPr>
          <p:cNvPr id="69" name="Shape 67"/>
          <p:cNvSpPr/>
          <p:nvPr/>
        </p:nvSpPr>
        <p:spPr>
          <a:xfrm>
            <a:off x="8567928" y="2724912"/>
            <a:ext cx="384048" cy="274320"/>
          </a:xfrm>
          <a:prstGeom prst="rect">
            <a:avLst/>
          </a:prstGeom>
          <a:solidFill>
            <a:srgbClr val="10B981"/>
          </a:solidFill>
          <a:ln w="12700">
            <a:solidFill>
              <a:srgbClr val="10B981"/>
            </a:solidFill>
            <a:prstDash val="solid"/>
          </a:ln>
        </p:spPr>
      </p:sp>
      <p:sp>
        <p:nvSpPr>
          <p:cNvPr id="70" name="Text 68"/>
          <p:cNvSpPr/>
          <p:nvPr/>
        </p:nvSpPr>
        <p:spPr>
          <a:xfrm>
            <a:off x="8567928" y="2724912"/>
            <a:ext cx="384048" cy="274320"/>
          </a:xfrm>
          <a:prstGeom prst="rect">
            <a:avLst/>
          </a:prstGeom>
          <a:noFill/>
          <a:ln/>
        </p:spPr>
        <p:txBody>
          <a:bodyPr wrap="square" lIns="0" tIns="0" rIns="0" bIns="0" rtlCol="0" anchor="ctr"/>
          <a:lstStyle/>
          <a:p>
            <a:pPr marL="0" indent="0" algn="ctr">
              <a:buNone/>
            </a:pPr>
            <a:r>
              <a:rPr lang="en-US" sz="1100" b="1" dirty="0">
                <a:solidFill>
                  <a:srgbClr val="FFFFFF"/>
                </a:solidFill>
              </a:rPr>
              <a:t>+1</a:t>
            </a:r>
            <a:endParaRPr lang="en-US" sz="1100" dirty="0"/>
          </a:p>
        </p:txBody>
      </p:sp>
      <p:sp>
        <p:nvSpPr>
          <p:cNvPr id="71" name="Text 69"/>
          <p:cNvSpPr/>
          <p:nvPr/>
        </p:nvSpPr>
        <p:spPr>
          <a:xfrm>
            <a:off x="6446520" y="2651760"/>
            <a:ext cx="2011680" cy="502920"/>
          </a:xfrm>
          <a:prstGeom prst="rect">
            <a:avLst/>
          </a:prstGeom>
          <a:noFill/>
          <a:ln/>
        </p:spPr>
        <p:txBody>
          <a:bodyPr wrap="square" rtlCol="0" anchor="ctr"/>
          <a:lstStyle/>
          <a:p>
            <a:pPr marL="0" indent="0">
              <a:buNone/>
            </a:pPr>
            <a:r>
              <a:rPr lang="en-US" sz="1050" dirty="0">
                <a:solidFill>
                  <a:srgbClr val="1E293B"/>
                </a:solidFill>
              </a:rPr>
              <a:t>Self-corrects mid-answer</a:t>
            </a:r>
            <a:endParaRPr lang="en-US" sz="1050" dirty="0"/>
          </a:p>
        </p:txBody>
      </p:sp>
      <p:sp>
        <p:nvSpPr>
          <p:cNvPr id="72" name="Shape 70"/>
          <p:cNvSpPr/>
          <p:nvPr/>
        </p:nvSpPr>
        <p:spPr>
          <a:xfrm>
            <a:off x="6419088" y="3182112"/>
            <a:ext cx="2569464" cy="18288"/>
          </a:xfrm>
          <a:prstGeom prst="rect">
            <a:avLst/>
          </a:prstGeom>
          <a:solidFill>
            <a:srgbClr val="E2E8F0"/>
          </a:solidFill>
          <a:ln w="12700">
            <a:solidFill>
              <a:srgbClr val="E2E8F0"/>
            </a:solidFill>
            <a:prstDash val="solid"/>
          </a:ln>
        </p:spPr>
      </p:sp>
      <p:sp>
        <p:nvSpPr>
          <p:cNvPr id="73" name="Shape 71"/>
          <p:cNvSpPr/>
          <p:nvPr/>
        </p:nvSpPr>
        <p:spPr>
          <a:xfrm>
            <a:off x="8567928" y="3300984"/>
            <a:ext cx="384048" cy="274320"/>
          </a:xfrm>
          <a:prstGeom prst="rect">
            <a:avLst/>
          </a:prstGeom>
          <a:solidFill>
            <a:srgbClr val="10B981"/>
          </a:solidFill>
          <a:ln w="12700">
            <a:solidFill>
              <a:srgbClr val="10B981"/>
            </a:solidFill>
            <a:prstDash val="solid"/>
          </a:ln>
        </p:spPr>
      </p:sp>
      <p:sp>
        <p:nvSpPr>
          <p:cNvPr id="74" name="Text 72"/>
          <p:cNvSpPr/>
          <p:nvPr/>
        </p:nvSpPr>
        <p:spPr>
          <a:xfrm>
            <a:off x="8567928" y="3300984"/>
            <a:ext cx="384048" cy="274320"/>
          </a:xfrm>
          <a:prstGeom prst="rect">
            <a:avLst/>
          </a:prstGeom>
          <a:noFill/>
          <a:ln/>
        </p:spPr>
        <p:txBody>
          <a:bodyPr wrap="square" lIns="0" tIns="0" rIns="0" bIns="0" rtlCol="0" anchor="ctr"/>
          <a:lstStyle/>
          <a:p>
            <a:pPr marL="0" indent="0" algn="ctr">
              <a:buNone/>
            </a:pPr>
            <a:r>
              <a:rPr lang="en-US" sz="1100" b="1" dirty="0">
                <a:solidFill>
                  <a:srgbClr val="FFFFFF"/>
                </a:solidFill>
              </a:rPr>
              <a:t>+1</a:t>
            </a:r>
            <a:endParaRPr lang="en-US" sz="1100" dirty="0"/>
          </a:p>
        </p:txBody>
      </p:sp>
      <p:sp>
        <p:nvSpPr>
          <p:cNvPr id="75" name="Text 73"/>
          <p:cNvSpPr/>
          <p:nvPr/>
        </p:nvSpPr>
        <p:spPr>
          <a:xfrm>
            <a:off x="6446520" y="3227832"/>
            <a:ext cx="2011680" cy="502920"/>
          </a:xfrm>
          <a:prstGeom prst="rect">
            <a:avLst/>
          </a:prstGeom>
          <a:noFill/>
          <a:ln/>
        </p:spPr>
        <p:txBody>
          <a:bodyPr wrap="square" rtlCol="0" anchor="ctr"/>
          <a:lstStyle/>
          <a:p>
            <a:pPr marL="0" indent="0">
              <a:buNone/>
            </a:pPr>
            <a:r>
              <a:rPr lang="en-US" sz="1050" dirty="0">
                <a:solidFill>
                  <a:srgbClr val="1E293B"/>
                </a:solidFill>
              </a:rPr>
              <a:t>Talks about side projects or contributions</a:t>
            </a:r>
            <a:endParaRPr lang="en-US" sz="1050" dirty="0"/>
          </a:p>
        </p:txBody>
      </p:sp>
      <p:sp>
        <p:nvSpPr>
          <p:cNvPr id="76" name="Shape 74"/>
          <p:cNvSpPr/>
          <p:nvPr/>
        </p:nvSpPr>
        <p:spPr>
          <a:xfrm>
            <a:off x="6419088" y="3758184"/>
            <a:ext cx="2569464" cy="18288"/>
          </a:xfrm>
          <a:prstGeom prst="rect">
            <a:avLst/>
          </a:prstGeom>
          <a:solidFill>
            <a:srgbClr val="E2E8F0"/>
          </a:solidFill>
          <a:ln w="12700">
            <a:solidFill>
              <a:srgbClr val="E2E8F0"/>
            </a:solidFill>
            <a:prstDash val="solid"/>
          </a:ln>
        </p:spPr>
      </p:sp>
      <p:sp>
        <p:nvSpPr>
          <p:cNvPr id="77" name="Shape 75"/>
          <p:cNvSpPr/>
          <p:nvPr/>
        </p:nvSpPr>
        <p:spPr>
          <a:xfrm>
            <a:off x="8567928" y="3877056"/>
            <a:ext cx="384048" cy="274320"/>
          </a:xfrm>
          <a:prstGeom prst="rect">
            <a:avLst/>
          </a:prstGeom>
          <a:solidFill>
            <a:srgbClr val="10B981"/>
          </a:solidFill>
          <a:ln w="12700">
            <a:solidFill>
              <a:srgbClr val="10B981"/>
            </a:solidFill>
            <a:prstDash val="solid"/>
          </a:ln>
        </p:spPr>
      </p:sp>
      <p:sp>
        <p:nvSpPr>
          <p:cNvPr id="78" name="Text 76"/>
          <p:cNvSpPr/>
          <p:nvPr/>
        </p:nvSpPr>
        <p:spPr>
          <a:xfrm>
            <a:off x="8567928" y="3877056"/>
            <a:ext cx="384048" cy="274320"/>
          </a:xfrm>
          <a:prstGeom prst="rect">
            <a:avLst/>
          </a:prstGeom>
          <a:noFill/>
          <a:ln/>
        </p:spPr>
        <p:txBody>
          <a:bodyPr wrap="square" lIns="0" tIns="0" rIns="0" bIns="0" rtlCol="0" anchor="ctr"/>
          <a:lstStyle/>
          <a:p>
            <a:pPr marL="0" indent="0" algn="ctr">
              <a:buNone/>
            </a:pPr>
            <a:r>
              <a:rPr lang="en-US" sz="1100" b="1" dirty="0">
                <a:solidFill>
                  <a:srgbClr val="FFFFFF"/>
                </a:solidFill>
              </a:rPr>
              <a:t>+2</a:t>
            </a:r>
            <a:endParaRPr lang="en-US" sz="1100" dirty="0"/>
          </a:p>
        </p:txBody>
      </p:sp>
      <p:sp>
        <p:nvSpPr>
          <p:cNvPr id="79" name="Text 77"/>
          <p:cNvSpPr/>
          <p:nvPr/>
        </p:nvSpPr>
        <p:spPr>
          <a:xfrm>
            <a:off x="6446520" y="3803904"/>
            <a:ext cx="2011680" cy="502920"/>
          </a:xfrm>
          <a:prstGeom prst="rect">
            <a:avLst/>
          </a:prstGeom>
          <a:noFill/>
          <a:ln/>
        </p:spPr>
        <p:txBody>
          <a:bodyPr wrap="square" rtlCol="0" anchor="ctr"/>
          <a:lstStyle/>
          <a:p>
            <a:pPr marL="0" indent="0">
              <a:buNone/>
            </a:pPr>
            <a:r>
              <a:rPr lang="en-US" sz="1050" dirty="0">
                <a:solidFill>
                  <a:srgbClr val="1E293B"/>
                </a:solidFill>
              </a:rPr>
              <a:t>Clear career narrative — knows why they move</a:t>
            </a:r>
            <a:endParaRPr lang="en-US" sz="1050" dirty="0"/>
          </a:p>
        </p:txBody>
      </p:sp>
      <p:sp>
        <p:nvSpPr>
          <p:cNvPr id="80" name="Shape 78"/>
          <p:cNvSpPr/>
          <p:nvPr/>
        </p:nvSpPr>
        <p:spPr>
          <a:xfrm>
            <a:off x="6419088" y="4334256"/>
            <a:ext cx="2569464" cy="18288"/>
          </a:xfrm>
          <a:prstGeom prst="rect">
            <a:avLst/>
          </a:prstGeom>
          <a:solidFill>
            <a:srgbClr val="E2E8F0"/>
          </a:solidFill>
          <a:ln w="12700">
            <a:solidFill>
              <a:srgbClr val="E2E8F0"/>
            </a:solidFill>
            <a:prstDash val="solid"/>
          </a:ln>
        </p:spPr>
      </p:sp>
      <p:sp>
        <p:nvSpPr>
          <p:cNvPr id="81" name="Shape 79"/>
          <p:cNvSpPr/>
          <p:nvPr/>
        </p:nvSpPr>
        <p:spPr>
          <a:xfrm>
            <a:off x="8567928" y="4453128"/>
            <a:ext cx="384048" cy="274320"/>
          </a:xfrm>
          <a:prstGeom prst="rect">
            <a:avLst/>
          </a:prstGeom>
          <a:solidFill>
            <a:srgbClr val="10B981"/>
          </a:solidFill>
          <a:ln w="12700">
            <a:solidFill>
              <a:srgbClr val="10B981"/>
            </a:solidFill>
            <a:prstDash val="solid"/>
          </a:ln>
        </p:spPr>
      </p:sp>
      <p:sp>
        <p:nvSpPr>
          <p:cNvPr id="82" name="Text 80"/>
          <p:cNvSpPr/>
          <p:nvPr/>
        </p:nvSpPr>
        <p:spPr>
          <a:xfrm>
            <a:off x="8567928" y="4453128"/>
            <a:ext cx="384048" cy="274320"/>
          </a:xfrm>
          <a:prstGeom prst="rect">
            <a:avLst/>
          </a:prstGeom>
          <a:noFill/>
          <a:ln/>
        </p:spPr>
        <p:txBody>
          <a:bodyPr wrap="square" lIns="0" tIns="0" rIns="0" bIns="0" rtlCol="0" anchor="ctr"/>
          <a:lstStyle/>
          <a:p>
            <a:pPr marL="0" indent="0" algn="ctr">
              <a:buNone/>
            </a:pPr>
            <a:r>
              <a:rPr lang="en-US" sz="1100" b="1" dirty="0">
                <a:solidFill>
                  <a:srgbClr val="FFFFFF"/>
                </a:solidFill>
              </a:rPr>
              <a:t>+1</a:t>
            </a:r>
            <a:endParaRPr lang="en-US" sz="1100" dirty="0"/>
          </a:p>
        </p:txBody>
      </p:sp>
      <p:sp>
        <p:nvSpPr>
          <p:cNvPr id="83" name="Text 81"/>
          <p:cNvSpPr/>
          <p:nvPr/>
        </p:nvSpPr>
        <p:spPr>
          <a:xfrm>
            <a:off x="6446520" y="4379976"/>
            <a:ext cx="2011680" cy="502920"/>
          </a:xfrm>
          <a:prstGeom prst="rect">
            <a:avLst/>
          </a:prstGeom>
          <a:noFill/>
          <a:ln/>
        </p:spPr>
        <p:txBody>
          <a:bodyPr wrap="square" rtlCol="0" anchor="ctr"/>
          <a:lstStyle/>
          <a:p>
            <a:pPr marL="0" indent="0">
              <a:buNone/>
            </a:pPr>
            <a:r>
              <a:rPr lang="en-US" sz="1050" dirty="0">
                <a:solidFill>
                  <a:srgbClr val="1E293B"/>
                </a:solidFill>
              </a:rPr>
              <a:t>Recalls exact metrics from past role</a:t>
            </a:r>
            <a:endParaRPr lang="en-US" sz="1050" dirty="0"/>
          </a:p>
        </p:txBody>
      </p:sp>
      <p:sp>
        <p:nvSpPr>
          <p:cNvPr id="84" name="Shape 82"/>
          <p:cNvSpPr/>
          <p:nvPr/>
        </p:nvSpPr>
        <p:spPr>
          <a:xfrm>
            <a:off x="0" y="4681728"/>
            <a:ext cx="9144000" cy="461772"/>
          </a:xfrm>
          <a:prstGeom prst="rect">
            <a:avLst/>
          </a:prstGeom>
          <a:solidFill>
            <a:srgbClr val="1E293B"/>
          </a:solidFill>
          <a:ln w="12700">
            <a:solidFill>
              <a:srgbClr val="1E293B"/>
            </a:solidFill>
            <a:prstDash val="solid"/>
          </a:ln>
        </p:spPr>
      </p:sp>
      <p:sp>
        <p:nvSpPr>
          <p:cNvPr id="85" name="Shape 83"/>
          <p:cNvSpPr/>
          <p:nvPr/>
        </p:nvSpPr>
        <p:spPr>
          <a:xfrm>
            <a:off x="365760" y="4773168"/>
            <a:ext cx="256032" cy="256032"/>
          </a:xfrm>
          <a:prstGeom prst="rect">
            <a:avLst/>
          </a:prstGeom>
          <a:solidFill>
            <a:srgbClr val="10B981"/>
          </a:solidFill>
          <a:ln w="12700">
            <a:solidFill>
              <a:srgbClr val="10B981"/>
            </a:solidFill>
            <a:prstDash val="solid"/>
          </a:ln>
        </p:spPr>
      </p:sp>
      <p:sp>
        <p:nvSpPr>
          <p:cNvPr id="86" name="Text 84"/>
          <p:cNvSpPr/>
          <p:nvPr/>
        </p:nvSpPr>
        <p:spPr>
          <a:xfrm>
            <a:off x="685800" y="4736592"/>
            <a:ext cx="1737360" cy="347472"/>
          </a:xfrm>
          <a:prstGeom prst="rect">
            <a:avLst/>
          </a:prstGeom>
          <a:noFill/>
          <a:ln/>
        </p:spPr>
        <p:txBody>
          <a:bodyPr wrap="square" rtlCol="0" anchor="ctr"/>
          <a:lstStyle/>
          <a:p>
            <a:pPr marL="0" indent="0">
              <a:buNone/>
            </a:pPr>
            <a:r>
              <a:rPr lang="en-US" sz="1050" b="1" dirty="0">
                <a:solidFill>
                  <a:srgbClr val="FFFFFF"/>
                </a:solidFill>
              </a:rPr>
              <a:t>PASS:  +4 or above</a:t>
            </a:r>
            <a:endParaRPr lang="en-US" sz="1050" dirty="0"/>
          </a:p>
        </p:txBody>
      </p:sp>
      <p:sp>
        <p:nvSpPr>
          <p:cNvPr id="87" name="Shape 85"/>
          <p:cNvSpPr/>
          <p:nvPr/>
        </p:nvSpPr>
        <p:spPr>
          <a:xfrm>
            <a:off x="2514600" y="4773168"/>
            <a:ext cx="256032" cy="256032"/>
          </a:xfrm>
          <a:prstGeom prst="rect">
            <a:avLst/>
          </a:prstGeom>
          <a:solidFill>
            <a:srgbClr val="F59E0B"/>
          </a:solidFill>
          <a:ln w="12700">
            <a:solidFill>
              <a:srgbClr val="F59E0B"/>
            </a:solidFill>
            <a:prstDash val="solid"/>
          </a:ln>
        </p:spPr>
      </p:sp>
      <p:sp>
        <p:nvSpPr>
          <p:cNvPr id="88" name="Text 86"/>
          <p:cNvSpPr/>
          <p:nvPr/>
        </p:nvSpPr>
        <p:spPr>
          <a:xfrm>
            <a:off x="2834640" y="4736592"/>
            <a:ext cx="1737360" cy="347472"/>
          </a:xfrm>
          <a:prstGeom prst="rect">
            <a:avLst/>
          </a:prstGeom>
          <a:noFill/>
          <a:ln/>
        </p:spPr>
        <p:txBody>
          <a:bodyPr wrap="square" rtlCol="0" anchor="ctr"/>
          <a:lstStyle/>
          <a:p>
            <a:pPr marL="0" indent="0">
              <a:buNone/>
            </a:pPr>
            <a:r>
              <a:rPr lang="en-US" sz="1050" b="1" dirty="0">
                <a:solidFill>
                  <a:srgbClr val="FFFFFF"/>
                </a:solidFill>
              </a:rPr>
              <a:t>CONSIDER:  +1 to +3</a:t>
            </a:r>
            <a:endParaRPr lang="en-US" sz="1050" dirty="0"/>
          </a:p>
        </p:txBody>
      </p:sp>
      <p:sp>
        <p:nvSpPr>
          <p:cNvPr id="89" name="Shape 87"/>
          <p:cNvSpPr/>
          <p:nvPr/>
        </p:nvSpPr>
        <p:spPr>
          <a:xfrm>
            <a:off x="4663440" y="4773168"/>
            <a:ext cx="256032" cy="256032"/>
          </a:xfrm>
          <a:prstGeom prst="rect">
            <a:avLst/>
          </a:prstGeom>
          <a:solidFill>
            <a:srgbClr val="EF4444"/>
          </a:solidFill>
          <a:ln w="12700">
            <a:solidFill>
              <a:srgbClr val="EF4444"/>
            </a:solidFill>
            <a:prstDash val="solid"/>
          </a:ln>
        </p:spPr>
      </p:sp>
      <p:sp>
        <p:nvSpPr>
          <p:cNvPr id="90" name="Text 88"/>
          <p:cNvSpPr/>
          <p:nvPr/>
        </p:nvSpPr>
        <p:spPr>
          <a:xfrm>
            <a:off x="4983480" y="4736592"/>
            <a:ext cx="1737360" cy="347472"/>
          </a:xfrm>
          <a:prstGeom prst="rect">
            <a:avLst/>
          </a:prstGeom>
          <a:noFill/>
          <a:ln/>
        </p:spPr>
        <p:txBody>
          <a:bodyPr wrap="square" rtlCol="0" anchor="ctr"/>
          <a:lstStyle/>
          <a:p>
            <a:pPr marL="0" indent="0">
              <a:buNone/>
            </a:pPr>
            <a:r>
              <a:rPr lang="en-US" sz="1050" b="1" dirty="0">
                <a:solidFill>
                  <a:srgbClr val="FFFFFF"/>
                </a:solidFill>
              </a:rPr>
              <a:t>REJECT:  0 or below</a:t>
            </a:r>
            <a:endParaRPr lang="en-US" sz="1050" dirty="0"/>
          </a:p>
        </p:txBody>
      </p:sp>
      <p:sp>
        <p:nvSpPr>
          <p:cNvPr id="91" name="Shape 89"/>
          <p:cNvSpPr/>
          <p:nvPr/>
        </p:nvSpPr>
        <p:spPr>
          <a:xfrm>
            <a:off x="6812280" y="4773168"/>
            <a:ext cx="256032" cy="256032"/>
          </a:xfrm>
          <a:prstGeom prst="rect">
            <a:avLst/>
          </a:prstGeom>
          <a:solidFill>
            <a:srgbClr val="EF4444"/>
          </a:solidFill>
          <a:ln w="12700">
            <a:solidFill>
              <a:srgbClr val="EF4444"/>
            </a:solidFill>
            <a:prstDash val="solid"/>
          </a:ln>
        </p:spPr>
      </p:sp>
      <p:sp>
        <p:nvSpPr>
          <p:cNvPr id="92" name="Text 90"/>
          <p:cNvSpPr/>
          <p:nvPr/>
        </p:nvSpPr>
        <p:spPr>
          <a:xfrm>
            <a:off x="7132320" y="4736592"/>
            <a:ext cx="1737360" cy="347472"/>
          </a:xfrm>
          <a:prstGeom prst="rect">
            <a:avLst/>
          </a:prstGeom>
          <a:noFill/>
          <a:ln/>
        </p:spPr>
        <p:txBody>
          <a:bodyPr wrap="square" rtlCol="0" anchor="ctr"/>
          <a:lstStyle/>
          <a:p>
            <a:pPr marL="0" indent="0">
              <a:buNone/>
            </a:pPr>
            <a:r>
              <a:rPr lang="en-US" sz="1050" b="1" dirty="0">
                <a:solidFill>
                  <a:srgbClr val="FFFFFF"/>
                </a:solidFill>
              </a:rPr>
              <a:t>AUTO-REJECT:  −4 or below</a:t>
            </a:r>
            <a:endParaRPr lang="en-US" sz="10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C2333"/>
        </a:solidFill>
        <a:effectLst/>
      </p:bgPr>
    </p:bg>
    <p:spTree>
      <p:nvGrpSpPr>
        <p:cNvPr id="1" name=""/>
        <p:cNvGrpSpPr/>
        <p:nvPr/>
      </p:nvGrpSpPr>
      <p:grpSpPr>
        <a:xfrm>
          <a:off x="0" y="0"/>
          <a:ext cx="0" cy="0"/>
          <a:chOff x="0" y="0"/>
          <a:chExt cx="0" cy="0"/>
        </a:xfrm>
      </p:grpSpPr>
      <p:sp>
        <p:nvSpPr>
          <p:cNvPr id="2" name="Shape 0"/>
          <p:cNvSpPr/>
          <p:nvPr/>
        </p:nvSpPr>
        <p:spPr>
          <a:xfrm>
            <a:off x="0" y="0"/>
            <a:ext cx="9144000" cy="128016"/>
          </a:xfrm>
          <a:prstGeom prst="rect">
            <a:avLst/>
          </a:prstGeom>
          <a:solidFill>
            <a:srgbClr val="10B981"/>
          </a:solidFill>
          <a:ln w="12700">
            <a:solidFill>
              <a:srgbClr val="10B981"/>
            </a:solidFill>
            <a:prstDash val="solid"/>
          </a:ln>
        </p:spPr>
      </p:sp>
      <p:sp>
        <p:nvSpPr>
          <p:cNvPr id="3" name="Shape 1"/>
          <p:cNvSpPr/>
          <p:nvPr/>
        </p:nvSpPr>
        <p:spPr>
          <a:xfrm>
            <a:off x="0" y="128016"/>
            <a:ext cx="9144000" cy="832104"/>
          </a:xfrm>
          <a:prstGeom prst="rect">
            <a:avLst/>
          </a:prstGeom>
          <a:solidFill>
            <a:srgbClr val="1E2D40"/>
          </a:solidFill>
          <a:ln w="12700">
            <a:solidFill>
              <a:srgbClr val="1E2D40"/>
            </a:solidFill>
            <a:prstDash val="solid"/>
          </a:ln>
        </p:spPr>
      </p:sp>
      <p:sp>
        <p:nvSpPr>
          <p:cNvPr id="4" name="Text 2"/>
          <p:cNvSpPr/>
          <p:nvPr/>
        </p:nvSpPr>
        <p:spPr>
          <a:xfrm>
            <a:off x="365760" y="128016"/>
            <a:ext cx="7315200" cy="832104"/>
          </a:xfrm>
          <a:prstGeom prst="rect">
            <a:avLst/>
          </a:prstGeom>
          <a:noFill/>
          <a:ln/>
        </p:spPr>
        <p:txBody>
          <a:bodyPr wrap="square"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MOCK SCREENING SESSIONS — LIVE SCENARIOS</a:t>
            </a:r>
            <a:endParaRPr lang="en-US" sz="2200" dirty="0"/>
          </a:p>
        </p:txBody>
      </p:sp>
      <p:sp>
        <p:nvSpPr>
          <p:cNvPr id="5" name="Text 3"/>
          <p:cNvSpPr/>
          <p:nvPr/>
        </p:nvSpPr>
        <p:spPr>
          <a:xfrm>
            <a:off x="0" y="128016"/>
            <a:ext cx="8869680" cy="832104"/>
          </a:xfrm>
          <a:prstGeom prst="rect">
            <a:avLst/>
          </a:prstGeom>
          <a:noFill/>
          <a:ln/>
        </p:spPr>
        <p:txBody>
          <a:bodyPr wrap="square" rtlCol="0" anchor="ctr"/>
          <a:lstStyle/>
          <a:p>
            <a:pPr marL="0" indent="0" algn="r">
              <a:buNone/>
            </a:pPr>
            <a:r>
              <a:rPr lang="en-US" sz="1100" i="1" dirty="0">
                <a:solidFill>
                  <a:srgbClr val="10B981"/>
                </a:solidFill>
              </a:rPr>
              <a:t>Role-play these in pairs — 15 min each</a:t>
            </a:r>
            <a:endParaRPr lang="en-US" sz="1100" dirty="0"/>
          </a:p>
        </p:txBody>
      </p:sp>
      <p:sp>
        <p:nvSpPr>
          <p:cNvPr id="6" name="Shape 4"/>
          <p:cNvSpPr/>
          <p:nvPr/>
        </p:nvSpPr>
        <p:spPr>
          <a:xfrm>
            <a:off x="182880" y="1024128"/>
            <a:ext cx="8778240" cy="1234440"/>
          </a:xfrm>
          <a:prstGeom prst="rect">
            <a:avLst/>
          </a:prstGeom>
          <a:solidFill>
            <a:srgbClr val="141C2A"/>
          </a:solidFill>
          <a:ln w="6350">
            <a:solidFill>
              <a:srgbClr val="263347"/>
            </a:solidFill>
            <a:prstDash val="solid"/>
          </a:ln>
        </p:spPr>
      </p:sp>
      <p:sp>
        <p:nvSpPr>
          <p:cNvPr id="7" name="Shape 5"/>
          <p:cNvSpPr/>
          <p:nvPr/>
        </p:nvSpPr>
        <p:spPr>
          <a:xfrm>
            <a:off x="182880" y="1024128"/>
            <a:ext cx="73152" cy="1234440"/>
          </a:xfrm>
          <a:prstGeom prst="rect">
            <a:avLst/>
          </a:prstGeom>
          <a:solidFill>
            <a:srgbClr val="3B82F6"/>
          </a:solidFill>
          <a:ln w="12700">
            <a:solidFill>
              <a:srgbClr val="3B82F6"/>
            </a:solidFill>
            <a:prstDash val="solid"/>
          </a:ln>
        </p:spPr>
      </p:sp>
      <p:sp>
        <p:nvSpPr>
          <p:cNvPr id="8" name="Shape 6"/>
          <p:cNvSpPr/>
          <p:nvPr/>
        </p:nvSpPr>
        <p:spPr>
          <a:xfrm>
            <a:off x="320040" y="1115568"/>
            <a:ext cx="384048" cy="292608"/>
          </a:xfrm>
          <a:prstGeom prst="rect">
            <a:avLst/>
          </a:prstGeom>
          <a:solidFill>
            <a:srgbClr val="3B82F6"/>
          </a:solidFill>
          <a:ln w="12700">
            <a:solidFill>
              <a:srgbClr val="3B82F6"/>
            </a:solidFill>
            <a:prstDash val="solid"/>
          </a:ln>
        </p:spPr>
      </p:sp>
      <p:sp>
        <p:nvSpPr>
          <p:cNvPr id="9" name="Text 7"/>
          <p:cNvSpPr/>
          <p:nvPr/>
        </p:nvSpPr>
        <p:spPr>
          <a:xfrm>
            <a:off x="320040" y="1115568"/>
            <a:ext cx="384048" cy="292608"/>
          </a:xfrm>
          <a:prstGeom prst="rect">
            <a:avLst/>
          </a:prstGeom>
          <a:noFill/>
          <a:ln/>
        </p:spPr>
        <p:txBody>
          <a:bodyPr wrap="square" lIns="0" tIns="0" rIns="0" bIns="0" rtlCol="0" anchor="ctr"/>
          <a:lstStyle/>
          <a:p>
            <a:pPr marL="0" indent="0" algn="ctr">
              <a:buNone/>
            </a:pPr>
            <a:r>
              <a:rPr lang="en-US" sz="1200" b="1" dirty="0">
                <a:solidFill>
                  <a:srgbClr val="0D1117"/>
                </a:solidFill>
              </a:rPr>
              <a:t>01</a:t>
            </a:r>
            <a:endParaRPr lang="en-US" sz="1200" dirty="0"/>
          </a:p>
        </p:txBody>
      </p:sp>
      <p:sp>
        <p:nvSpPr>
          <p:cNvPr id="10" name="Text 8"/>
          <p:cNvSpPr/>
          <p:nvPr/>
        </p:nvSpPr>
        <p:spPr>
          <a:xfrm>
            <a:off x="804672" y="1097280"/>
            <a:ext cx="4937760" cy="347472"/>
          </a:xfrm>
          <a:prstGeom prst="rect">
            <a:avLst/>
          </a:prstGeom>
          <a:noFill/>
          <a:ln/>
        </p:spPr>
        <p:txBody>
          <a:bodyPr wrap="square" rtlCol="0" anchor="ctr"/>
          <a:lstStyle/>
          <a:p>
            <a:pPr marL="0" indent="0">
              <a:buNone/>
            </a:pPr>
            <a:r>
              <a:rPr lang="en-US" sz="1250" b="1" dirty="0">
                <a:solidFill>
                  <a:srgbClr val="3B82F6"/>
                </a:solidFill>
                <a:latin typeface="Trebuchet MS" pitchFamily="34" charset="0"/>
                <a:ea typeface="Trebuchet MS" pitchFamily="34" charset="-122"/>
                <a:cs typeface="Trebuchet MS" pitchFamily="34" charset="-120"/>
              </a:rPr>
              <a:t>Full-Stack Engineer — SaaS Product</a:t>
            </a:r>
            <a:endParaRPr lang="en-US" sz="1250" dirty="0"/>
          </a:p>
        </p:txBody>
      </p:sp>
      <p:sp>
        <p:nvSpPr>
          <p:cNvPr id="11" name="Text 9"/>
          <p:cNvSpPr/>
          <p:nvPr/>
        </p:nvSpPr>
        <p:spPr>
          <a:xfrm>
            <a:off x="320040" y="1481328"/>
            <a:ext cx="841248" cy="182880"/>
          </a:xfrm>
          <a:prstGeom prst="rect">
            <a:avLst/>
          </a:prstGeom>
          <a:noFill/>
          <a:ln/>
        </p:spPr>
        <p:txBody>
          <a:bodyPr wrap="square" rtlCol="0" anchor="ctr"/>
          <a:lstStyle/>
          <a:p>
            <a:pPr marL="0" indent="0">
              <a:buNone/>
            </a:pPr>
            <a:r>
              <a:rPr lang="en-US" sz="800" b="1" kern="0" spc="100" dirty="0">
                <a:solidFill>
                  <a:srgbClr val="94A3B8"/>
                </a:solidFill>
              </a:rPr>
              <a:t>SCENARIO:</a:t>
            </a:r>
            <a:endParaRPr lang="en-US" sz="800" dirty="0"/>
          </a:p>
        </p:txBody>
      </p:sp>
      <p:sp>
        <p:nvSpPr>
          <p:cNvPr id="12" name="Text 10"/>
          <p:cNvSpPr/>
          <p:nvPr/>
        </p:nvSpPr>
        <p:spPr>
          <a:xfrm>
            <a:off x="1188720" y="1444752"/>
            <a:ext cx="4526280" cy="713232"/>
          </a:xfrm>
          <a:prstGeom prst="rect">
            <a:avLst/>
          </a:prstGeom>
          <a:noFill/>
          <a:ln/>
        </p:spPr>
        <p:txBody>
          <a:bodyPr wrap="square" rtlCol="0" anchor="ctr"/>
          <a:lstStyle/>
          <a:p>
            <a:pPr marL="0" indent="0">
              <a:buNone/>
            </a:pPr>
            <a:r>
              <a:rPr lang="en-US" sz="900" dirty="0">
                <a:solidFill>
                  <a:srgbClr val="94A3B8"/>
                </a:solidFill>
              </a:rPr>
              <a:t>Candidate has 6 years experience. Resume lists React, Node.js, AWS, and PostgreSQL. Claims to have led a "team of 12" but has no LinkedIn references. Notice: employment gap of 18 months listed as "independent contractor" with no portfolio link.</a:t>
            </a:r>
            <a:endParaRPr lang="en-US" sz="900" dirty="0"/>
          </a:p>
        </p:txBody>
      </p:sp>
      <p:sp>
        <p:nvSpPr>
          <p:cNvPr id="13" name="Shape 11"/>
          <p:cNvSpPr/>
          <p:nvPr/>
        </p:nvSpPr>
        <p:spPr>
          <a:xfrm>
            <a:off x="5870448" y="1097280"/>
            <a:ext cx="27432" cy="1088136"/>
          </a:xfrm>
          <a:prstGeom prst="rect">
            <a:avLst/>
          </a:prstGeom>
          <a:solidFill>
            <a:srgbClr val="263347"/>
          </a:solidFill>
          <a:ln w="12700">
            <a:solidFill>
              <a:srgbClr val="263347"/>
            </a:solidFill>
            <a:prstDash val="solid"/>
          </a:ln>
        </p:spPr>
      </p:sp>
      <p:sp>
        <p:nvSpPr>
          <p:cNvPr id="14" name="Text 12"/>
          <p:cNvSpPr/>
          <p:nvPr/>
        </p:nvSpPr>
        <p:spPr>
          <a:xfrm>
            <a:off x="5961888" y="1097280"/>
            <a:ext cx="594360" cy="219456"/>
          </a:xfrm>
          <a:prstGeom prst="rect">
            <a:avLst/>
          </a:prstGeom>
          <a:noFill/>
          <a:ln/>
        </p:spPr>
        <p:txBody>
          <a:bodyPr wrap="square" rtlCol="0" anchor="ctr"/>
          <a:lstStyle/>
          <a:p>
            <a:pPr marL="0" indent="0">
              <a:buNone/>
            </a:pPr>
            <a:r>
              <a:rPr lang="en-US" sz="800" b="1" kern="0" spc="100" dirty="0">
                <a:solidFill>
                  <a:srgbClr val="3B82F6"/>
                </a:solidFill>
              </a:rPr>
              <a:t>ASK →</a:t>
            </a:r>
            <a:endParaRPr lang="en-US" sz="800" dirty="0"/>
          </a:p>
        </p:txBody>
      </p:sp>
      <p:sp>
        <p:nvSpPr>
          <p:cNvPr id="15" name="Text 13"/>
          <p:cNvSpPr/>
          <p:nvPr/>
        </p:nvSpPr>
        <p:spPr>
          <a:xfrm>
            <a:off x="5961888" y="1298448"/>
            <a:ext cx="2971800" cy="246888"/>
          </a:xfrm>
          <a:prstGeom prst="rect">
            <a:avLst/>
          </a:prstGeom>
          <a:noFill/>
          <a:ln/>
        </p:spPr>
        <p:txBody>
          <a:bodyPr wrap="square" rtlCol="0" anchor="ctr"/>
          <a:lstStyle/>
          <a:p>
            <a:pPr marL="0" indent="0">
              <a:buNone/>
            </a:pPr>
            <a:r>
              <a:rPr lang="en-US" sz="830" i="1" dirty="0">
                <a:solidFill>
                  <a:srgbClr val="FFFFFF"/>
                </a:solidFill>
              </a:rPr>
              <a:t>"Hardest architectural decision in the last 2 years — what was it and why?"</a:t>
            </a:r>
            <a:endParaRPr lang="en-US" sz="830" dirty="0"/>
          </a:p>
        </p:txBody>
      </p:sp>
      <p:sp>
        <p:nvSpPr>
          <p:cNvPr id="16" name="Text 14"/>
          <p:cNvSpPr/>
          <p:nvPr/>
        </p:nvSpPr>
        <p:spPr>
          <a:xfrm>
            <a:off x="5961888" y="1545336"/>
            <a:ext cx="2971800" cy="246888"/>
          </a:xfrm>
          <a:prstGeom prst="rect">
            <a:avLst/>
          </a:prstGeom>
          <a:noFill/>
          <a:ln/>
        </p:spPr>
        <p:txBody>
          <a:bodyPr wrap="square" rtlCol="0" anchor="ctr"/>
          <a:lstStyle/>
          <a:p>
            <a:pPr marL="0" indent="0">
              <a:buNone/>
            </a:pPr>
            <a:r>
              <a:rPr lang="en-US" sz="830" i="1" dirty="0">
                <a:solidFill>
                  <a:srgbClr val="FFFFFF"/>
                </a:solidFill>
              </a:rPr>
              <a:t>"Contractor period: biggest client project and what did it ship?"</a:t>
            </a:r>
            <a:endParaRPr lang="en-US" sz="830" dirty="0"/>
          </a:p>
        </p:txBody>
      </p:sp>
      <p:sp>
        <p:nvSpPr>
          <p:cNvPr id="17" name="Text 15"/>
          <p:cNvSpPr/>
          <p:nvPr/>
        </p:nvSpPr>
        <p:spPr>
          <a:xfrm>
            <a:off x="5961888" y="1792224"/>
            <a:ext cx="2971800" cy="246888"/>
          </a:xfrm>
          <a:prstGeom prst="rect">
            <a:avLst/>
          </a:prstGeom>
          <a:noFill/>
          <a:ln/>
        </p:spPr>
        <p:txBody>
          <a:bodyPr wrap="square" rtlCol="0" anchor="ctr"/>
          <a:lstStyle/>
          <a:p>
            <a:pPr marL="0" indent="0">
              <a:buNone/>
            </a:pPr>
            <a:r>
              <a:rPr lang="en-US" sz="830" i="1" dirty="0">
                <a:solidFill>
                  <a:srgbClr val="FFFFFF"/>
                </a:solidFill>
              </a:rPr>
              <a:t>"Node.js API hitting 3s response times under load — walk me through your debug."</a:t>
            </a:r>
            <a:endParaRPr lang="en-US" sz="830" dirty="0"/>
          </a:p>
        </p:txBody>
      </p:sp>
      <p:sp>
        <p:nvSpPr>
          <p:cNvPr id="18" name="Shape 16"/>
          <p:cNvSpPr/>
          <p:nvPr/>
        </p:nvSpPr>
        <p:spPr>
          <a:xfrm>
            <a:off x="5961888" y="1965960"/>
            <a:ext cx="2944368" cy="237744"/>
          </a:xfrm>
          <a:prstGeom prst="rect">
            <a:avLst/>
          </a:prstGeom>
          <a:solidFill>
            <a:srgbClr val="1A2740"/>
          </a:solidFill>
          <a:ln w="6350">
            <a:solidFill>
              <a:srgbClr val="3B82F6"/>
            </a:solidFill>
            <a:prstDash val="solid"/>
          </a:ln>
        </p:spPr>
      </p:sp>
      <p:sp>
        <p:nvSpPr>
          <p:cNvPr id="19" name="Text 17"/>
          <p:cNvSpPr/>
          <p:nvPr/>
        </p:nvSpPr>
        <p:spPr>
          <a:xfrm>
            <a:off x="5998464" y="1965960"/>
            <a:ext cx="2907792" cy="237744"/>
          </a:xfrm>
          <a:prstGeom prst="rect">
            <a:avLst/>
          </a:prstGeom>
          <a:noFill/>
          <a:ln/>
        </p:spPr>
        <p:txBody>
          <a:bodyPr wrap="square" rtlCol="0" anchor="ctr"/>
          <a:lstStyle/>
          <a:p>
            <a:pPr marL="0" indent="0">
              <a:buNone/>
            </a:pPr>
            <a:r>
              <a:rPr lang="en-US" sz="750" i="1" dirty="0">
                <a:solidFill>
                  <a:srgbClr val="94A3B8"/>
                </a:solidFill>
              </a:rPr>
              <a:t>Watch for: Can they explain trade-offs? Do they get specific on the gap? Do they describe a real debugging process?</a:t>
            </a:r>
            <a:endParaRPr lang="en-US" sz="750" dirty="0"/>
          </a:p>
        </p:txBody>
      </p:sp>
      <p:sp>
        <p:nvSpPr>
          <p:cNvPr id="20" name="Shape 18"/>
          <p:cNvSpPr/>
          <p:nvPr/>
        </p:nvSpPr>
        <p:spPr>
          <a:xfrm>
            <a:off x="182880" y="2395728"/>
            <a:ext cx="8778240" cy="1234440"/>
          </a:xfrm>
          <a:prstGeom prst="rect">
            <a:avLst/>
          </a:prstGeom>
          <a:solidFill>
            <a:srgbClr val="141C2A"/>
          </a:solidFill>
          <a:ln w="6350">
            <a:solidFill>
              <a:srgbClr val="263347"/>
            </a:solidFill>
            <a:prstDash val="solid"/>
          </a:ln>
        </p:spPr>
      </p:sp>
      <p:sp>
        <p:nvSpPr>
          <p:cNvPr id="21" name="Shape 19"/>
          <p:cNvSpPr/>
          <p:nvPr/>
        </p:nvSpPr>
        <p:spPr>
          <a:xfrm>
            <a:off x="182880" y="2395728"/>
            <a:ext cx="73152" cy="1234440"/>
          </a:xfrm>
          <a:prstGeom prst="rect">
            <a:avLst/>
          </a:prstGeom>
          <a:solidFill>
            <a:srgbClr val="8B5CF6"/>
          </a:solidFill>
          <a:ln w="12700">
            <a:solidFill>
              <a:srgbClr val="8B5CF6"/>
            </a:solidFill>
            <a:prstDash val="solid"/>
          </a:ln>
        </p:spPr>
      </p:sp>
      <p:sp>
        <p:nvSpPr>
          <p:cNvPr id="22" name="Shape 20"/>
          <p:cNvSpPr/>
          <p:nvPr/>
        </p:nvSpPr>
        <p:spPr>
          <a:xfrm>
            <a:off x="320040" y="2487168"/>
            <a:ext cx="384048" cy="292608"/>
          </a:xfrm>
          <a:prstGeom prst="rect">
            <a:avLst/>
          </a:prstGeom>
          <a:solidFill>
            <a:srgbClr val="8B5CF6"/>
          </a:solidFill>
          <a:ln w="12700">
            <a:solidFill>
              <a:srgbClr val="8B5CF6"/>
            </a:solidFill>
            <a:prstDash val="solid"/>
          </a:ln>
        </p:spPr>
      </p:sp>
      <p:sp>
        <p:nvSpPr>
          <p:cNvPr id="23" name="Text 21"/>
          <p:cNvSpPr/>
          <p:nvPr/>
        </p:nvSpPr>
        <p:spPr>
          <a:xfrm>
            <a:off x="320040" y="2487168"/>
            <a:ext cx="384048" cy="292608"/>
          </a:xfrm>
          <a:prstGeom prst="rect">
            <a:avLst/>
          </a:prstGeom>
          <a:noFill/>
          <a:ln/>
        </p:spPr>
        <p:txBody>
          <a:bodyPr wrap="square" lIns="0" tIns="0" rIns="0" bIns="0" rtlCol="0" anchor="ctr"/>
          <a:lstStyle/>
          <a:p>
            <a:pPr marL="0" indent="0" algn="ctr">
              <a:buNone/>
            </a:pPr>
            <a:r>
              <a:rPr lang="en-US" sz="1200" b="1" dirty="0">
                <a:solidFill>
                  <a:srgbClr val="0D1117"/>
                </a:solidFill>
              </a:rPr>
              <a:t>02</a:t>
            </a:r>
            <a:endParaRPr lang="en-US" sz="1200" dirty="0"/>
          </a:p>
        </p:txBody>
      </p:sp>
      <p:sp>
        <p:nvSpPr>
          <p:cNvPr id="24" name="Text 22"/>
          <p:cNvSpPr/>
          <p:nvPr/>
        </p:nvSpPr>
        <p:spPr>
          <a:xfrm>
            <a:off x="804672" y="2468880"/>
            <a:ext cx="4937760" cy="347472"/>
          </a:xfrm>
          <a:prstGeom prst="rect">
            <a:avLst/>
          </a:prstGeom>
          <a:noFill/>
          <a:ln/>
        </p:spPr>
        <p:txBody>
          <a:bodyPr wrap="square" rtlCol="0" anchor="ctr"/>
          <a:lstStyle/>
          <a:p>
            <a:pPr marL="0" indent="0">
              <a:buNone/>
            </a:pPr>
            <a:r>
              <a:rPr lang="en-US" sz="1250" b="1" dirty="0">
                <a:solidFill>
                  <a:srgbClr val="8B5CF6"/>
                </a:solidFill>
                <a:latin typeface="Trebuchet MS" pitchFamily="34" charset="0"/>
                <a:ea typeface="Trebuchet MS" pitchFamily="34" charset="-122"/>
                <a:cs typeface="Trebuchet MS" pitchFamily="34" charset="-120"/>
              </a:rPr>
              <a:t>ML Engineer — AI Product Startup</a:t>
            </a:r>
            <a:endParaRPr lang="en-US" sz="1250" dirty="0"/>
          </a:p>
        </p:txBody>
      </p:sp>
      <p:sp>
        <p:nvSpPr>
          <p:cNvPr id="25" name="Text 23"/>
          <p:cNvSpPr/>
          <p:nvPr/>
        </p:nvSpPr>
        <p:spPr>
          <a:xfrm>
            <a:off x="320040" y="2852928"/>
            <a:ext cx="841248" cy="182880"/>
          </a:xfrm>
          <a:prstGeom prst="rect">
            <a:avLst/>
          </a:prstGeom>
          <a:noFill/>
          <a:ln/>
        </p:spPr>
        <p:txBody>
          <a:bodyPr wrap="square" rtlCol="0" anchor="ctr"/>
          <a:lstStyle/>
          <a:p>
            <a:pPr marL="0" indent="0">
              <a:buNone/>
            </a:pPr>
            <a:r>
              <a:rPr lang="en-US" sz="800" b="1" kern="0" spc="100" dirty="0">
                <a:solidFill>
                  <a:srgbClr val="94A3B8"/>
                </a:solidFill>
              </a:rPr>
              <a:t>SCENARIO:</a:t>
            </a:r>
            <a:endParaRPr lang="en-US" sz="800" dirty="0"/>
          </a:p>
        </p:txBody>
      </p:sp>
      <p:sp>
        <p:nvSpPr>
          <p:cNvPr id="26" name="Text 24"/>
          <p:cNvSpPr/>
          <p:nvPr/>
        </p:nvSpPr>
        <p:spPr>
          <a:xfrm>
            <a:off x="1188720" y="2816352"/>
            <a:ext cx="4526280" cy="713232"/>
          </a:xfrm>
          <a:prstGeom prst="rect">
            <a:avLst/>
          </a:prstGeom>
          <a:noFill/>
          <a:ln/>
        </p:spPr>
        <p:txBody>
          <a:bodyPr wrap="square" rtlCol="0" anchor="ctr"/>
          <a:lstStyle/>
          <a:p>
            <a:pPr marL="0" indent="0">
              <a:buNone/>
            </a:pPr>
            <a:r>
              <a:rPr lang="en-US" sz="900" dirty="0">
                <a:solidFill>
                  <a:srgbClr val="94A3B8"/>
                </a:solidFill>
              </a:rPr>
              <a:t>Candidate claims 4 years in ML. Lists TensorFlow, PyTorch, and 'built LLM pipelines from scratch'. GitHub is private. No published papers or open source contributions. Claims to have "deployed models serving 10M users" but can't name the company.</a:t>
            </a:r>
            <a:endParaRPr lang="en-US" sz="900" dirty="0"/>
          </a:p>
        </p:txBody>
      </p:sp>
      <p:sp>
        <p:nvSpPr>
          <p:cNvPr id="27" name="Shape 25"/>
          <p:cNvSpPr/>
          <p:nvPr/>
        </p:nvSpPr>
        <p:spPr>
          <a:xfrm>
            <a:off x="5870448" y="2468880"/>
            <a:ext cx="27432" cy="1088136"/>
          </a:xfrm>
          <a:prstGeom prst="rect">
            <a:avLst/>
          </a:prstGeom>
          <a:solidFill>
            <a:srgbClr val="263347"/>
          </a:solidFill>
          <a:ln w="12700">
            <a:solidFill>
              <a:srgbClr val="263347"/>
            </a:solidFill>
            <a:prstDash val="solid"/>
          </a:ln>
        </p:spPr>
      </p:sp>
      <p:sp>
        <p:nvSpPr>
          <p:cNvPr id="28" name="Text 26"/>
          <p:cNvSpPr/>
          <p:nvPr/>
        </p:nvSpPr>
        <p:spPr>
          <a:xfrm>
            <a:off x="5961888" y="2468880"/>
            <a:ext cx="594360" cy="219456"/>
          </a:xfrm>
          <a:prstGeom prst="rect">
            <a:avLst/>
          </a:prstGeom>
          <a:noFill/>
          <a:ln/>
        </p:spPr>
        <p:txBody>
          <a:bodyPr wrap="square" rtlCol="0" anchor="ctr"/>
          <a:lstStyle/>
          <a:p>
            <a:pPr marL="0" indent="0">
              <a:buNone/>
            </a:pPr>
            <a:r>
              <a:rPr lang="en-US" sz="800" b="1" kern="0" spc="100" dirty="0">
                <a:solidFill>
                  <a:srgbClr val="8B5CF6"/>
                </a:solidFill>
              </a:rPr>
              <a:t>ASK →</a:t>
            </a:r>
            <a:endParaRPr lang="en-US" sz="800" dirty="0"/>
          </a:p>
        </p:txBody>
      </p:sp>
      <p:sp>
        <p:nvSpPr>
          <p:cNvPr id="29" name="Text 27"/>
          <p:cNvSpPr/>
          <p:nvPr/>
        </p:nvSpPr>
        <p:spPr>
          <a:xfrm>
            <a:off x="5961888" y="2670048"/>
            <a:ext cx="2971800" cy="246888"/>
          </a:xfrm>
          <a:prstGeom prst="rect">
            <a:avLst/>
          </a:prstGeom>
          <a:noFill/>
          <a:ln/>
        </p:spPr>
        <p:txBody>
          <a:bodyPr wrap="square" rtlCol="0" anchor="ctr"/>
          <a:lstStyle/>
          <a:p>
            <a:pPr marL="0" indent="0">
              <a:buNone/>
            </a:pPr>
            <a:r>
              <a:rPr lang="en-US" sz="830" i="1" dirty="0">
                <a:solidFill>
                  <a:srgbClr val="FFFFFF"/>
                </a:solidFill>
              </a:rPr>
              <a:t>"Tell me about a model that failed in production — what broke it?"</a:t>
            </a:r>
            <a:endParaRPr lang="en-US" sz="830" dirty="0"/>
          </a:p>
        </p:txBody>
      </p:sp>
      <p:sp>
        <p:nvSpPr>
          <p:cNvPr id="30" name="Text 28"/>
          <p:cNvSpPr/>
          <p:nvPr/>
        </p:nvSpPr>
        <p:spPr>
          <a:xfrm>
            <a:off x="5961888" y="2916936"/>
            <a:ext cx="2971800" cy="246888"/>
          </a:xfrm>
          <a:prstGeom prst="rect">
            <a:avLst/>
          </a:prstGeom>
          <a:noFill/>
          <a:ln/>
        </p:spPr>
        <p:txBody>
          <a:bodyPr wrap="square" rtlCol="0" anchor="ctr"/>
          <a:lstStyle/>
          <a:p>
            <a:pPr marL="0" indent="0">
              <a:buNone/>
            </a:pPr>
            <a:r>
              <a:rPr lang="en-US" sz="830" i="1" dirty="0">
                <a:solidFill>
                  <a:srgbClr val="FFFFFF"/>
                </a:solidFill>
              </a:rPr>
              <a:t>"Fine-tuning vs RAG — what's the difference and when do you use each?"</a:t>
            </a:r>
            <a:endParaRPr lang="en-US" sz="830" dirty="0"/>
          </a:p>
        </p:txBody>
      </p:sp>
      <p:sp>
        <p:nvSpPr>
          <p:cNvPr id="31" name="Text 29"/>
          <p:cNvSpPr/>
          <p:nvPr/>
        </p:nvSpPr>
        <p:spPr>
          <a:xfrm>
            <a:off x="5961888" y="3163824"/>
            <a:ext cx="2971800" cy="246888"/>
          </a:xfrm>
          <a:prstGeom prst="rect">
            <a:avLst/>
          </a:prstGeom>
          <a:noFill/>
          <a:ln/>
        </p:spPr>
        <p:txBody>
          <a:bodyPr wrap="square" rtlCol="0" anchor="ctr"/>
          <a:lstStyle/>
          <a:p>
            <a:pPr marL="0" indent="0">
              <a:buNone/>
            </a:pPr>
            <a:r>
              <a:rPr lang="en-US" sz="830" i="1" dirty="0">
                <a:solidFill>
                  <a:srgbClr val="FFFFFF"/>
                </a:solidFill>
              </a:rPr>
              <a:t>"Last model deployed: latency target, infrastructure, monitoring setup?"</a:t>
            </a:r>
            <a:endParaRPr lang="en-US" sz="830" dirty="0"/>
          </a:p>
        </p:txBody>
      </p:sp>
      <p:sp>
        <p:nvSpPr>
          <p:cNvPr id="32" name="Shape 30"/>
          <p:cNvSpPr/>
          <p:nvPr/>
        </p:nvSpPr>
        <p:spPr>
          <a:xfrm>
            <a:off x="5961888" y="3337560"/>
            <a:ext cx="2944368" cy="237744"/>
          </a:xfrm>
          <a:prstGeom prst="rect">
            <a:avLst/>
          </a:prstGeom>
          <a:solidFill>
            <a:srgbClr val="1A2740"/>
          </a:solidFill>
          <a:ln w="6350">
            <a:solidFill>
              <a:srgbClr val="8B5CF6"/>
            </a:solidFill>
            <a:prstDash val="solid"/>
          </a:ln>
        </p:spPr>
      </p:sp>
      <p:sp>
        <p:nvSpPr>
          <p:cNvPr id="33" name="Text 31"/>
          <p:cNvSpPr/>
          <p:nvPr/>
        </p:nvSpPr>
        <p:spPr>
          <a:xfrm>
            <a:off x="5998464" y="3337560"/>
            <a:ext cx="2907792" cy="237744"/>
          </a:xfrm>
          <a:prstGeom prst="rect">
            <a:avLst/>
          </a:prstGeom>
          <a:noFill/>
          <a:ln/>
        </p:spPr>
        <p:txBody>
          <a:bodyPr wrap="square" rtlCol="0" anchor="ctr"/>
          <a:lstStyle/>
          <a:p>
            <a:pPr marL="0" indent="0">
              <a:buNone/>
            </a:pPr>
            <a:r>
              <a:rPr lang="en-US" sz="750" i="1" dirty="0">
                <a:solidFill>
                  <a:srgbClr val="94A3B8"/>
                </a:solidFill>
              </a:rPr>
              <a:t>Watch for: Do they speak practically about failure? Can they explain RAG vs fine-tuning in plain terms? Are latency/infra details specific?</a:t>
            </a:r>
            <a:endParaRPr lang="en-US" sz="750" dirty="0"/>
          </a:p>
        </p:txBody>
      </p:sp>
      <p:sp>
        <p:nvSpPr>
          <p:cNvPr id="34" name="Shape 32"/>
          <p:cNvSpPr/>
          <p:nvPr/>
        </p:nvSpPr>
        <p:spPr>
          <a:xfrm>
            <a:off x="182880" y="3767328"/>
            <a:ext cx="8778240" cy="1234440"/>
          </a:xfrm>
          <a:prstGeom prst="rect">
            <a:avLst/>
          </a:prstGeom>
          <a:solidFill>
            <a:srgbClr val="141C2A"/>
          </a:solidFill>
          <a:ln w="6350">
            <a:solidFill>
              <a:srgbClr val="263347"/>
            </a:solidFill>
            <a:prstDash val="solid"/>
          </a:ln>
        </p:spPr>
      </p:sp>
      <p:sp>
        <p:nvSpPr>
          <p:cNvPr id="35" name="Shape 33"/>
          <p:cNvSpPr/>
          <p:nvPr/>
        </p:nvSpPr>
        <p:spPr>
          <a:xfrm>
            <a:off x="182880" y="3767328"/>
            <a:ext cx="73152" cy="1234440"/>
          </a:xfrm>
          <a:prstGeom prst="rect">
            <a:avLst/>
          </a:prstGeom>
          <a:solidFill>
            <a:srgbClr val="10B981"/>
          </a:solidFill>
          <a:ln w="12700">
            <a:solidFill>
              <a:srgbClr val="10B981"/>
            </a:solidFill>
            <a:prstDash val="solid"/>
          </a:ln>
        </p:spPr>
      </p:sp>
      <p:sp>
        <p:nvSpPr>
          <p:cNvPr id="36" name="Shape 34"/>
          <p:cNvSpPr/>
          <p:nvPr/>
        </p:nvSpPr>
        <p:spPr>
          <a:xfrm>
            <a:off x="320040" y="3858768"/>
            <a:ext cx="384048" cy="292608"/>
          </a:xfrm>
          <a:prstGeom prst="rect">
            <a:avLst/>
          </a:prstGeom>
          <a:solidFill>
            <a:srgbClr val="10B981"/>
          </a:solidFill>
          <a:ln w="12700">
            <a:solidFill>
              <a:srgbClr val="10B981"/>
            </a:solidFill>
            <a:prstDash val="solid"/>
          </a:ln>
        </p:spPr>
      </p:sp>
      <p:sp>
        <p:nvSpPr>
          <p:cNvPr id="37" name="Text 35"/>
          <p:cNvSpPr/>
          <p:nvPr/>
        </p:nvSpPr>
        <p:spPr>
          <a:xfrm>
            <a:off x="320040" y="3858768"/>
            <a:ext cx="384048" cy="292608"/>
          </a:xfrm>
          <a:prstGeom prst="rect">
            <a:avLst/>
          </a:prstGeom>
          <a:noFill/>
          <a:ln/>
        </p:spPr>
        <p:txBody>
          <a:bodyPr wrap="square" lIns="0" tIns="0" rIns="0" bIns="0" rtlCol="0" anchor="ctr"/>
          <a:lstStyle/>
          <a:p>
            <a:pPr marL="0" indent="0" algn="ctr">
              <a:buNone/>
            </a:pPr>
            <a:r>
              <a:rPr lang="en-US" sz="1200" b="1" dirty="0">
                <a:solidFill>
                  <a:srgbClr val="0D1117"/>
                </a:solidFill>
              </a:rPr>
              <a:t>03</a:t>
            </a:r>
            <a:endParaRPr lang="en-US" sz="1200" dirty="0"/>
          </a:p>
        </p:txBody>
      </p:sp>
      <p:sp>
        <p:nvSpPr>
          <p:cNvPr id="38" name="Text 36"/>
          <p:cNvSpPr/>
          <p:nvPr/>
        </p:nvSpPr>
        <p:spPr>
          <a:xfrm>
            <a:off x="804672" y="3840480"/>
            <a:ext cx="4937760" cy="347472"/>
          </a:xfrm>
          <a:prstGeom prst="rect">
            <a:avLst/>
          </a:prstGeom>
          <a:noFill/>
          <a:ln/>
        </p:spPr>
        <p:txBody>
          <a:bodyPr wrap="square" rtlCol="0" anchor="ctr"/>
          <a:lstStyle/>
          <a:p>
            <a:pPr marL="0" indent="0">
              <a:buNone/>
            </a:pPr>
            <a:r>
              <a:rPr lang="en-US" sz="1250" b="1" dirty="0">
                <a:solidFill>
                  <a:srgbClr val="10B981"/>
                </a:solidFill>
                <a:latin typeface="Trebuchet MS" pitchFamily="34" charset="0"/>
                <a:ea typeface="Trebuchet MS" pitchFamily="34" charset="-122"/>
                <a:cs typeface="Trebuchet MS" pitchFamily="34" charset="-120"/>
              </a:rPr>
              <a:t>Product Designer — B2B Enterprise</a:t>
            </a:r>
            <a:endParaRPr lang="en-US" sz="1250" dirty="0"/>
          </a:p>
        </p:txBody>
      </p:sp>
      <p:sp>
        <p:nvSpPr>
          <p:cNvPr id="39" name="Text 37"/>
          <p:cNvSpPr/>
          <p:nvPr/>
        </p:nvSpPr>
        <p:spPr>
          <a:xfrm>
            <a:off x="320040" y="4224528"/>
            <a:ext cx="841248" cy="182880"/>
          </a:xfrm>
          <a:prstGeom prst="rect">
            <a:avLst/>
          </a:prstGeom>
          <a:noFill/>
          <a:ln/>
        </p:spPr>
        <p:txBody>
          <a:bodyPr wrap="square" rtlCol="0" anchor="ctr"/>
          <a:lstStyle/>
          <a:p>
            <a:pPr marL="0" indent="0">
              <a:buNone/>
            </a:pPr>
            <a:r>
              <a:rPr lang="en-US" sz="800" b="1" kern="0" spc="100" dirty="0">
                <a:solidFill>
                  <a:srgbClr val="94A3B8"/>
                </a:solidFill>
              </a:rPr>
              <a:t>SCENARIO:</a:t>
            </a:r>
            <a:endParaRPr lang="en-US" sz="800" dirty="0"/>
          </a:p>
        </p:txBody>
      </p:sp>
      <p:sp>
        <p:nvSpPr>
          <p:cNvPr id="40" name="Text 38"/>
          <p:cNvSpPr/>
          <p:nvPr/>
        </p:nvSpPr>
        <p:spPr>
          <a:xfrm>
            <a:off x="1188720" y="4187952"/>
            <a:ext cx="4526280" cy="713232"/>
          </a:xfrm>
          <a:prstGeom prst="rect">
            <a:avLst/>
          </a:prstGeom>
          <a:noFill/>
          <a:ln/>
        </p:spPr>
        <p:txBody>
          <a:bodyPr wrap="square" rtlCol="0" anchor="ctr"/>
          <a:lstStyle/>
          <a:p>
            <a:pPr marL="0" indent="0">
              <a:buNone/>
            </a:pPr>
            <a:r>
              <a:rPr lang="en-US" sz="900" dirty="0">
                <a:solidFill>
                  <a:srgbClr val="94A3B8"/>
                </a:solidFill>
              </a:rPr>
              <a:t>Candidate's Dribbble is polished but all visuals look AI-generated. Resume claims Figma expertise but also lists 11 other design tools. Says they 'own the entire design system' at current employer. Dribbble has no case studies, only final mockups.</a:t>
            </a:r>
            <a:endParaRPr lang="en-US" sz="900" dirty="0"/>
          </a:p>
        </p:txBody>
      </p:sp>
      <p:sp>
        <p:nvSpPr>
          <p:cNvPr id="41" name="Shape 39"/>
          <p:cNvSpPr/>
          <p:nvPr/>
        </p:nvSpPr>
        <p:spPr>
          <a:xfrm>
            <a:off x="5870448" y="3840480"/>
            <a:ext cx="27432" cy="1088136"/>
          </a:xfrm>
          <a:prstGeom prst="rect">
            <a:avLst/>
          </a:prstGeom>
          <a:solidFill>
            <a:srgbClr val="263347"/>
          </a:solidFill>
          <a:ln w="12700">
            <a:solidFill>
              <a:srgbClr val="263347"/>
            </a:solidFill>
            <a:prstDash val="solid"/>
          </a:ln>
        </p:spPr>
      </p:sp>
      <p:sp>
        <p:nvSpPr>
          <p:cNvPr id="42" name="Text 40"/>
          <p:cNvSpPr/>
          <p:nvPr/>
        </p:nvSpPr>
        <p:spPr>
          <a:xfrm>
            <a:off x="5961888" y="3840480"/>
            <a:ext cx="594360" cy="219456"/>
          </a:xfrm>
          <a:prstGeom prst="rect">
            <a:avLst/>
          </a:prstGeom>
          <a:noFill/>
          <a:ln/>
        </p:spPr>
        <p:txBody>
          <a:bodyPr wrap="square" rtlCol="0" anchor="ctr"/>
          <a:lstStyle/>
          <a:p>
            <a:pPr marL="0" indent="0">
              <a:buNone/>
            </a:pPr>
            <a:r>
              <a:rPr lang="en-US" sz="800" b="1" kern="0" spc="100" dirty="0">
                <a:solidFill>
                  <a:srgbClr val="10B981"/>
                </a:solidFill>
              </a:rPr>
              <a:t>ASK →</a:t>
            </a:r>
            <a:endParaRPr lang="en-US" sz="800" dirty="0"/>
          </a:p>
        </p:txBody>
      </p:sp>
      <p:sp>
        <p:nvSpPr>
          <p:cNvPr id="43" name="Text 41"/>
          <p:cNvSpPr/>
          <p:nvPr/>
        </p:nvSpPr>
        <p:spPr>
          <a:xfrm>
            <a:off x="5961888" y="4041648"/>
            <a:ext cx="2971800" cy="246888"/>
          </a:xfrm>
          <a:prstGeom prst="rect">
            <a:avLst/>
          </a:prstGeom>
          <a:noFill/>
          <a:ln/>
        </p:spPr>
        <p:txBody>
          <a:bodyPr wrap="square" rtlCol="0" anchor="ctr"/>
          <a:lstStyle/>
          <a:p>
            <a:pPr marL="0" indent="0">
              <a:buNone/>
            </a:pPr>
            <a:r>
              <a:rPr lang="en-US" sz="830" i="1" dirty="0">
                <a:solidFill>
                  <a:srgbClr val="FFFFFF"/>
                </a:solidFill>
              </a:rPr>
              <a:t>"Walk me through your process on one project — brief to handoff."</a:t>
            </a:r>
            <a:endParaRPr lang="en-US" sz="830" dirty="0"/>
          </a:p>
        </p:txBody>
      </p:sp>
      <p:sp>
        <p:nvSpPr>
          <p:cNvPr id="44" name="Text 42"/>
          <p:cNvSpPr/>
          <p:nvPr/>
        </p:nvSpPr>
        <p:spPr>
          <a:xfrm>
            <a:off x="5961888" y="4288536"/>
            <a:ext cx="2971800" cy="246888"/>
          </a:xfrm>
          <a:prstGeom prst="rect">
            <a:avLst/>
          </a:prstGeom>
          <a:noFill/>
          <a:ln/>
        </p:spPr>
        <p:txBody>
          <a:bodyPr wrap="square" rtlCol="0" anchor="ctr"/>
          <a:lstStyle/>
          <a:p>
            <a:pPr marL="0" indent="0">
              <a:buNone/>
            </a:pPr>
            <a:r>
              <a:rPr lang="en-US" sz="830" i="1" dirty="0">
                <a:solidFill>
                  <a:srgbClr val="FFFFFF"/>
                </a:solidFill>
              </a:rPr>
              <a:t>"How do you document a design system component for an engineer to implement?"</a:t>
            </a:r>
            <a:endParaRPr lang="en-US" sz="830" dirty="0"/>
          </a:p>
        </p:txBody>
      </p:sp>
      <p:sp>
        <p:nvSpPr>
          <p:cNvPr id="45" name="Text 43"/>
          <p:cNvSpPr/>
          <p:nvPr/>
        </p:nvSpPr>
        <p:spPr>
          <a:xfrm>
            <a:off x="5961888" y="4535424"/>
            <a:ext cx="2971800" cy="246888"/>
          </a:xfrm>
          <a:prstGeom prst="rect">
            <a:avLst/>
          </a:prstGeom>
          <a:noFill/>
          <a:ln/>
        </p:spPr>
        <p:txBody>
          <a:bodyPr wrap="square" rtlCol="0" anchor="ctr"/>
          <a:lstStyle/>
          <a:p>
            <a:pPr marL="0" indent="0">
              <a:buNone/>
            </a:pPr>
            <a:r>
              <a:rPr lang="en-US" sz="830" i="1" dirty="0">
                <a:solidFill>
                  <a:srgbClr val="FFFFFF"/>
                </a:solidFill>
              </a:rPr>
              <a:t>"When did user research change a decision you had already committed to?"</a:t>
            </a:r>
            <a:endParaRPr lang="en-US" sz="830" dirty="0"/>
          </a:p>
        </p:txBody>
      </p:sp>
      <p:sp>
        <p:nvSpPr>
          <p:cNvPr id="46" name="Shape 44"/>
          <p:cNvSpPr/>
          <p:nvPr/>
        </p:nvSpPr>
        <p:spPr>
          <a:xfrm>
            <a:off x="5961888" y="4709160"/>
            <a:ext cx="2944368" cy="237744"/>
          </a:xfrm>
          <a:prstGeom prst="rect">
            <a:avLst/>
          </a:prstGeom>
          <a:solidFill>
            <a:srgbClr val="1A2740"/>
          </a:solidFill>
          <a:ln w="6350">
            <a:solidFill>
              <a:srgbClr val="10B981"/>
            </a:solidFill>
            <a:prstDash val="solid"/>
          </a:ln>
        </p:spPr>
      </p:sp>
      <p:sp>
        <p:nvSpPr>
          <p:cNvPr id="47" name="Text 45"/>
          <p:cNvSpPr/>
          <p:nvPr/>
        </p:nvSpPr>
        <p:spPr>
          <a:xfrm>
            <a:off x="5998464" y="4709160"/>
            <a:ext cx="2907792" cy="237744"/>
          </a:xfrm>
          <a:prstGeom prst="rect">
            <a:avLst/>
          </a:prstGeom>
          <a:noFill/>
          <a:ln/>
        </p:spPr>
        <p:txBody>
          <a:bodyPr wrap="square" rtlCol="0" anchor="ctr"/>
          <a:lstStyle/>
          <a:p>
            <a:pPr marL="0" indent="0">
              <a:buNone/>
            </a:pPr>
            <a:r>
              <a:rPr lang="en-US" sz="750" i="1" dirty="0">
                <a:solidFill>
                  <a:srgbClr val="94A3B8"/>
                </a:solidFill>
              </a:rPr>
              <a:t>Watch for: Can they describe process, not just output? Do they know what component documentation looks like? Is the research story real?</a:t>
            </a:r>
            <a:endParaRPr lang="en-US" sz="750" dirty="0"/>
          </a:p>
        </p:txBody>
      </p:sp>
      <p:sp>
        <p:nvSpPr>
          <p:cNvPr id="48" name="Shape 46"/>
          <p:cNvSpPr/>
          <p:nvPr/>
        </p:nvSpPr>
        <p:spPr>
          <a:xfrm>
            <a:off x="0" y="4910328"/>
            <a:ext cx="9144000" cy="233172"/>
          </a:xfrm>
          <a:prstGeom prst="rect">
            <a:avLst/>
          </a:prstGeom>
          <a:solidFill>
            <a:srgbClr val="0D1117"/>
          </a:solidFill>
          <a:ln w="12700">
            <a:solidFill>
              <a:srgbClr val="0D1117"/>
            </a:solidFill>
            <a:prstDash val="solid"/>
          </a:ln>
        </p:spPr>
      </p:sp>
      <p:sp>
        <p:nvSpPr>
          <p:cNvPr id="49" name="Text 47"/>
          <p:cNvSpPr/>
          <p:nvPr/>
        </p:nvSpPr>
        <p:spPr>
          <a:xfrm>
            <a:off x="274320" y="4910328"/>
            <a:ext cx="8686800" cy="233172"/>
          </a:xfrm>
          <a:prstGeom prst="rect">
            <a:avLst/>
          </a:prstGeom>
          <a:noFill/>
          <a:ln/>
        </p:spPr>
        <p:txBody>
          <a:bodyPr wrap="square" rtlCol="0" anchor="ctr"/>
          <a:lstStyle/>
          <a:p>
            <a:pPr marL="0" indent="0">
              <a:buNone/>
            </a:pPr>
            <a:r>
              <a:rPr lang="en-US" sz="950" i="1" dirty="0">
                <a:solidFill>
                  <a:srgbClr val="94A3B8"/>
                </a:solidFill>
              </a:rPr>
              <a:t>🎯  After each mock — debrief using the Vibe Check scorecard from Slide 4. Rotate roles: Recruiter → Candidate → Observer with feedback.</a:t>
            </a:r>
            <a:endParaRPr lang="en-US" sz="9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1140</Words>
  <Application>Microsoft Office PowerPoint</Application>
  <PresentationFormat>On-screen Show (16:9)</PresentationFormat>
  <Paragraphs>154</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Trebuchet MS</vt:lpstr>
      <vt:lpstr>Office Theme</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Day 5 – 15-Minute Technical Screening &amp; Vibe Check</dc:title>
  <dc:subject>PptxGenJS Presentation</dc:subject>
  <dc:creator>Recruiter Training Program</dc:creator>
  <cp:lastModifiedBy>JAGADISH JEEVAN SAI</cp:lastModifiedBy>
  <cp:revision>2</cp:revision>
  <dcterms:created xsi:type="dcterms:W3CDTF">2026-03-30T05:58:46Z</dcterms:created>
  <dcterms:modified xsi:type="dcterms:W3CDTF">2026-03-30T06:31:00Z</dcterms:modified>
</cp:coreProperties>
</file>