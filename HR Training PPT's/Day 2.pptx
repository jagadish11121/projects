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4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6945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C3FC7"/>
          </a:solidFill>
          <a:ln w="12700">
            <a:solidFill>
              <a:srgbClr val="6C3F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137160"/>
            <a:ext cx="292608" cy="29260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347472"/>
            <a:ext cx="182880" cy="182880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13648" y="109728"/>
            <a:ext cx="219456" cy="219456"/>
          </a:xfrm>
          <a:prstGeom prst="ellipse">
            <a:avLst/>
          </a:prstGeom>
          <a:solidFill>
            <a:srgbClr val="6C3FC7">
              <a:alpha val="60000"/>
            </a:srgbClr>
          </a:solidFill>
          <a:ln w="12700">
            <a:solidFill>
              <a:srgbClr val="6C3F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256032"/>
            <a:ext cx="960120" cy="292608"/>
          </a:xfrm>
          <a:prstGeom prst="rect">
            <a:avLst/>
          </a:prstGeom>
          <a:solidFill>
            <a:srgbClr val="6C3FC7"/>
          </a:solidFill>
          <a:ln w="12700">
            <a:solidFill>
              <a:srgbClr val="6C3F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25603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DAY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" y="676656"/>
            <a:ext cx="5486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Revolution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47472" y="214884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D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AI tools, prompt engineering &amp; automated workflows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D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elite tech talent 10x faster — starting today.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347472" y="2944368"/>
            <a:ext cx="5120640" cy="32004"/>
          </a:xfrm>
          <a:prstGeom prst="rect">
            <a:avLst/>
          </a:prstGeom>
          <a:solidFill>
            <a:srgbClr val="6C3FC7"/>
          </a:solidFill>
          <a:ln w="12700">
            <a:solidFill>
              <a:srgbClr val="6C3F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3127248"/>
            <a:ext cx="960120" cy="6217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6C3F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3127248"/>
            <a:ext cx="96012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🤖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AI Tools 2026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389888" y="3127248"/>
            <a:ext cx="960120" cy="6217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6C3F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89888" y="3127248"/>
            <a:ext cx="96012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✍️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Prompt Eng.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432304" y="3127248"/>
            <a:ext cx="960120" cy="6217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6C3F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32304" y="3127248"/>
            <a:ext cx="96012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⚙️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Sourcing Auto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74720" y="3127248"/>
            <a:ext cx="960120" cy="6217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6C3F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3127248"/>
            <a:ext cx="96012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🔁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AI Agents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17136" y="3127248"/>
            <a:ext cx="960120" cy="6217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6C3F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17136" y="3127248"/>
            <a:ext cx="96012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⚡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10x Talent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44768" y="530352"/>
            <a:ext cx="2743200" cy="4059936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6C3FC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44768" y="530352"/>
            <a:ext cx="2743200" cy="420624"/>
          </a:xfrm>
          <a:prstGeom prst="rect">
            <a:avLst/>
          </a:prstGeom>
          <a:solidFill>
            <a:srgbClr val="6C3FC7"/>
          </a:solidFill>
          <a:ln w="12700">
            <a:solidFill>
              <a:srgbClr val="6C3F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44768" y="53035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50" dirty="0">
                <a:solidFill>
                  <a:srgbClr val="FFFFFF"/>
                </a:solidFill>
              </a:rPr>
              <a:t>BY END OF DAY 2…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27648" y="1152144"/>
            <a:ext cx="201168" cy="20116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7648" y="11521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1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583680" y="1078992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</a:rPr>
              <a:t>Use Gemini, ChatGPT &amp; Claude for live sourcing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327648" y="1682496"/>
            <a:ext cx="201168" cy="20116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27648" y="16824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2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583680" y="1609344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</a:rPr>
              <a:t>Build 5 proven recruiter prompt templates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27648" y="2212848"/>
            <a:ext cx="201168" cy="20116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27648" y="22128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3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583680" y="2139696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</a:rPr>
              <a:t>Automate Boolean &amp; outreach with AI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327648" y="2743200"/>
            <a:ext cx="201168" cy="20116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27648" y="27432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583680" y="2670048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</a:rPr>
              <a:t>Set up a 24/7 AI sourcing agent workflow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27648" y="3273552"/>
            <a:ext cx="201168" cy="20116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27648" y="32735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5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583680" y="320040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</a:rPr>
              <a:t>Source 50 qualified profiles in under 1 hour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327648" y="3803904"/>
            <a:ext cx="201168" cy="20116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27648" y="38039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6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583680" y="3730752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</a:rPr>
              <a:t>Write AI-generated personalised outreach at scale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47472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</a:rPr>
              <a:t>IT Recruitment Mastery Program  ·  Module 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50292"/>
          </a:xfrm>
          <a:prstGeom prst="rect">
            <a:avLst/>
          </a:prstGeom>
          <a:solidFill>
            <a:srgbClr val="6C3FC7"/>
          </a:solidFill>
          <a:ln w="12700">
            <a:solidFill>
              <a:srgbClr val="6C3F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</a:rPr>
              <a:t>🤖  AI TOOLS LANDSCAPE FOR RECRUITERS — WHAT TO USE &amp; WHEN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420624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22960"/>
            <a:ext cx="4206240" cy="347472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886968"/>
            <a:ext cx="914400" cy="219456"/>
          </a:xfrm>
          <a:prstGeom prst="rect">
            <a:avLst/>
          </a:prstGeom>
          <a:solidFill>
            <a:srgbClr val="0D8C6C"/>
          </a:solidFill>
          <a:ln w="12700">
            <a:solidFill>
              <a:srgbClr val="0D8C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88696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OPENAI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93192" y="8778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💬  ChatGPT (GPT-4o)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261872"/>
            <a:ext cx="658368" cy="18288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6187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BEST FOR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78992" y="124358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Boolean strings · JD rewriting · Cold outreach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554480"/>
            <a:ext cx="658368" cy="182880"/>
          </a:xfrm>
          <a:prstGeom prst="rect">
            <a:avLst/>
          </a:prstGeom>
          <a:solidFill>
            <a:srgbClr val="FFF3CD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5448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A5800"/>
                </a:solidFill>
              </a:rPr>
              <a:t>⚡ EDGE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078992" y="153619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1B2A"/>
                </a:solidFill>
              </a:rPr>
              <a:t>Conversational refinement — iterate prompts in real time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1847088"/>
            <a:ext cx="658368" cy="182880"/>
          </a:xfrm>
          <a:prstGeom prst="rect">
            <a:avLst/>
          </a:prstGeom>
          <a:solidFill>
            <a:srgbClr val="E8F8F1"/>
          </a:solidFill>
          <a:ln w="12700">
            <a:solidFill>
              <a:srgbClr val="1A7F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8470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7F5A"/>
                </a:solidFill>
              </a:rPr>
              <a:t>💡 TIP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78992" y="18288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Use Custom Instructions to pre-load your recruiter persona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6032" y="2660904"/>
            <a:ext cx="4206240" cy="64008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0016" y="822960"/>
            <a:ext cx="420624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0016" y="822960"/>
            <a:ext cx="4206240" cy="34747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18704" y="886968"/>
            <a:ext cx="914400" cy="219456"/>
          </a:xfrm>
          <a:prstGeom prst="rect">
            <a:avLst/>
          </a:prstGeom>
          <a:solidFill>
            <a:srgbClr val="3367D6"/>
          </a:solidFill>
          <a:ln w="12700">
            <a:solidFill>
              <a:srgbClr val="3367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18704" y="88696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GOOGLE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837176" y="8778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🔮  Google Gemini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09744" y="1261872"/>
            <a:ext cx="658368" cy="18288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9744" y="126187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BEST FOR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522976" y="124358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Real-time web search · LinkedIn cross-referencing · Sheets automation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09744" y="1554480"/>
            <a:ext cx="658368" cy="182880"/>
          </a:xfrm>
          <a:prstGeom prst="rect">
            <a:avLst/>
          </a:prstGeom>
          <a:solidFill>
            <a:srgbClr val="FFF3CD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9744" y="155448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A5800"/>
                </a:solidFill>
              </a:rPr>
              <a:t>⚡ EDGE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522976" y="153619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1B2A"/>
                </a:solidFill>
              </a:rPr>
              <a:t>Live internet access + Google Workspace integration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09744" y="1847088"/>
            <a:ext cx="658368" cy="182880"/>
          </a:xfrm>
          <a:prstGeom prst="rect">
            <a:avLst/>
          </a:prstGeom>
          <a:solidFill>
            <a:srgbClr val="E8F8F1"/>
          </a:solidFill>
          <a:ln w="12700">
            <a:solidFill>
              <a:srgbClr val="1A7F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9744" y="18470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7F5A"/>
                </a:solidFill>
              </a:rPr>
              <a:t>💡 TIP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522976" y="18288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Pair with Google Sheets for bulk candidate data enrichment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0016" y="2660904"/>
            <a:ext cx="4206240" cy="64008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6032" y="2926080"/>
            <a:ext cx="420624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56032" y="2926080"/>
            <a:ext cx="4206240" cy="347472"/>
          </a:xfrm>
          <a:prstGeom prst="rect">
            <a:avLst/>
          </a:prstGeom>
          <a:solidFill>
            <a:srgbClr val="6C3FC7"/>
          </a:solidFill>
          <a:ln w="12700">
            <a:solidFill>
              <a:srgbClr val="6C3FC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74720" y="2990088"/>
            <a:ext cx="914400" cy="219456"/>
          </a:xfrm>
          <a:prstGeom prst="rect">
            <a:avLst/>
          </a:prstGeom>
          <a:solidFill>
            <a:srgbClr val="5530A8"/>
          </a:solidFill>
          <a:ln w="12700">
            <a:solidFill>
              <a:srgbClr val="5530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0" y="2990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ANTHROPIC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93192" y="29809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🧠  Claude (Anthropic)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65760" y="3364992"/>
            <a:ext cx="658368" cy="182880"/>
          </a:xfrm>
          <a:prstGeom prst="rect">
            <a:avLst/>
          </a:prstGeom>
          <a:solidFill>
            <a:srgbClr val="6C3FC7"/>
          </a:solidFill>
          <a:ln w="12700">
            <a:solidFill>
              <a:srgbClr val="6C3FC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36499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BEST FOR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078992" y="334670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Long JD analysis · Candidate scoring · Strategy memos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5760" y="3657600"/>
            <a:ext cx="658368" cy="182880"/>
          </a:xfrm>
          <a:prstGeom prst="rect">
            <a:avLst/>
          </a:prstGeom>
          <a:solidFill>
            <a:srgbClr val="FFF3CD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365760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A5800"/>
                </a:solidFill>
              </a:rPr>
              <a:t>⚡ EDGE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1078992" y="363931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1B2A"/>
                </a:solidFill>
              </a:rPr>
              <a:t>200K token context — paste entire JDs + CVs at once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3950208"/>
            <a:ext cx="658368" cy="182880"/>
          </a:xfrm>
          <a:prstGeom prst="rect">
            <a:avLst/>
          </a:prstGeom>
          <a:solidFill>
            <a:srgbClr val="E8F8F1"/>
          </a:solidFill>
          <a:ln w="12700">
            <a:solidFill>
              <a:srgbClr val="1A7F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395020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7F5A"/>
                </a:solidFill>
              </a:rPr>
              <a:t>💡 TIP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1078992" y="393192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Use Projects to store your recruitment frameworks persistently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56032" y="4764024"/>
            <a:ext cx="4206240" cy="64008"/>
          </a:xfrm>
          <a:prstGeom prst="rect">
            <a:avLst/>
          </a:prstGeom>
          <a:solidFill>
            <a:srgbClr val="6C3FC7"/>
          </a:solidFill>
          <a:ln w="12700">
            <a:solidFill>
              <a:srgbClr val="6C3FC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00016" y="2926080"/>
            <a:ext cx="420624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00016" y="2926080"/>
            <a:ext cx="4206240" cy="347472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18704" y="2990088"/>
            <a:ext cx="914400" cy="219456"/>
          </a:xfrm>
          <a:prstGeom prst="rect">
            <a:avLst/>
          </a:prstGeom>
          <a:solidFill>
            <a:srgbClr val="C4432E"/>
          </a:solidFill>
          <a:ln w="12700">
            <a:solidFill>
              <a:srgbClr val="C4432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18704" y="2990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SOURCING AI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837176" y="29809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🎯  HireEZ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4809744" y="3364992"/>
            <a:ext cx="658368" cy="18288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09744" y="336499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BEST FOR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522976" y="334670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Outbound sourcing · Talent pool building · ATS integration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809744" y="3657600"/>
            <a:ext cx="658368" cy="182880"/>
          </a:xfrm>
          <a:prstGeom prst="rect">
            <a:avLst/>
          </a:prstGeom>
          <a:solidFill>
            <a:srgbClr val="FFF3CD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09744" y="365760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A5800"/>
                </a:solidFill>
              </a:rPr>
              <a:t>⚡ EDGE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522976" y="363931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1B2A"/>
                </a:solidFill>
              </a:rPr>
              <a:t>800M+ profile database with AI match-scoring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809744" y="3950208"/>
            <a:ext cx="658368" cy="182880"/>
          </a:xfrm>
          <a:prstGeom prst="rect">
            <a:avLst/>
          </a:prstGeom>
          <a:solidFill>
            <a:srgbClr val="E8F8F1"/>
          </a:solidFill>
          <a:ln w="12700">
            <a:solidFill>
              <a:srgbClr val="1A7F5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09744" y="395020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7F5A"/>
                </a:solidFill>
              </a:rPr>
              <a:t>💡 TIP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5522976" y="393192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Use Rediscovery to mine your existing ATS before going external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700016" y="4764024"/>
            <a:ext cx="4206240" cy="64008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0040" y="4901184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</a:rPr>
              <a:t>IT Recruitment Mastery Program  ·  Module 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566928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kern="0" spc="50" dirty="0">
                <a:solidFill>
                  <a:srgbClr val="FFFFFF"/>
                </a:solidFill>
              </a:rPr>
              <a:t>✍️  ADVANCED PROMPT ENGINEERING — THE RECRUITER'S CHEAT SHEET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0A500"/>
                </a:solidFill>
              </a:rPr>
              <a:t>THE R-A-C-E PROMPT FRAMEWORK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1170432"/>
            <a:ext cx="420624" cy="731520"/>
          </a:xfrm>
          <a:prstGeom prst="rect">
            <a:avLst/>
          </a:prstGeom>
          <a:solidFill>
            <a:srgbClr val="6C3FC7"/>
          </a:solidFill>
          <a:ln w="12700">
            <a:solidFill>
              <a:srgbClr val="6C3F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170432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56032" y="162763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ROLE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731520" y="1170432"/>
            <a:ext cx="3520440" cy="7315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6C3F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20700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</a:rPr>
              <a:t>Set AI as expert recruiter. e.g. Act as a senior tech recruiter with 10 yrs SaaS hiring experience.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" y="2039112"/>
            <a:ext cx="420624" cy="73152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2039112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6032" y="249631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ACTION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731520" y="2039112"/>
            <a:ext cx="3520440" cy="7315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07568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</a:rPr>
              <a:t>State the exact task. e.g. Generate a Boolean string for React devs with 3-5 yrs exp on LinkedIn.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" y="2907792"/>
            <a:ext cx="420624" cy="731520"/>
          </a:xfrm>
          <a:prstGeom prst="rect">
            <a:avLst/>
          </a:prstGeom>
          <a:solidFill>
            <a:srgbClr val="1A7F5A"/>
          </a:solidFill>
          <a:ln w="12700">
            <a:solidFill>
              <a:srgbClr val="1A7F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907792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C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56032" y="336499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CONTEXT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731520" y="2907792"/>
            <a:ext cx="3520440" cy="7315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A7F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294436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</a:rPr>
              <a:t>Give job and company context. e.g. Fintech startup, remote-first, Series B stage, Bangalore-based.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6032" y="3776472"/>
            <a:ext cx="420624" cy="7315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3776472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E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56032" y="423367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EXPECT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31520" y="3776472"/>
            <a:ext cx="3520440" cy="7315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381304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</a:rPr>
              <a:t>Define output format. e.g. Return 10 LinkedIn Boolean strings, numbered list, one string per line.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26280" y="777240"/>
            <a:ext cx="27432" cy="4160520"/>
          </a:xfrm>
          <a:prstGeom prst="rect">
            <a:avLst/>
          </a:prstGeom>
          <a:solidFill>
            <a:srgbClr val="F0A500">
              <a:alpha val="40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82296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0A500"/>
                </a:solidFill>
              </a:rPr>
              <a:t>5 COPY-PASTE PROMPTS FOR RECRUITERS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81728" y="1170432"/>
            <a:ext cx="749808" cy="566928"/>
          </a:xfrm>
          <a:prstGeom prst="rect">
            <a:avLst/>
          </a:prstGeom>
          <a:solidFill>
            <a:srgbClr val="6C3FC7"/>
          </a:solidFill>
          <a:ln w="12700">
            <a:solidFill>
              <a:srgbClr val="6C3F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1728" y="1170432"/>
            <a:ext cx="74980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BOOLEAN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486400" y="1170432"/>
            <a:ext cx="3364992" cy="566928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6C3F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59552" y="1207008"/>
            <a:ext cx="3246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i="1" dirty="0">
                <a:solidFill>
                  <a:srgbClr val="D6EEF4"/>
                </a:solidFill>
              </a:rPr>
              <a:t>Generate a LinkedIn Boolean for a Senior DevOps engineer with Kubernetes + AWS in Pune.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4681728" y="1892808"/>
            <a:ext cx="749808" cy="566928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1728" y="1892808"/>
            <a:ext cx="74980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JD WRITE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86400" y="1892808"/>
            <a:ext cx="3364992" cy="566928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59552" y="1929384"/>
            <a:ext cx="3246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i="1" dirty="0">
                <a:solidFill>
                  <a:srgbClr val="D6EEF4"/>
                </a:solidFill>
              </a:rPr>
              <a:t>Rewrite this JD to be 40% shorter, gender-neutral and outcome-focused. Highlight top 3 must-haves.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4681728" y="2615184"/>
            <a:ext cx="749808" cy="566928"/>
          </a:xfrm>
          <a:prstGeom prst="rect">
            <a:avLst/>
          </a:prstGeom>
          <a:solidFill>
            <a:srgbClr val="1A7F5A"/>
          </a:solidFill>
          <a:ln w="12700">
            <a:solidFill>
              <a:srgbClr val="1A7F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81728" y="2615184"/>
            <a:ext cx="74980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OUTREACH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86400" y="2615184"/>
            <a:ext cx="3364992" cy="566928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1A7F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59552" y="2651760"/>
            <a:ext cx="3246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i="1" dirty="0">
                <a:solidFill>
                  <a:srgbClr val="D6EEF4"/>
                </a:solidFill>
              </a:rPr>
              <a:t>Write a 3-line cold InMail for a passive Python developer. No fluff. Lead with the tech challenge.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4681728" y="3337560"/>
            <a:ext cx="749808" cy="5669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81728" y="3337560"/>
            <a:ext cx="74980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SCORING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86400" y="3337560"/>
            <a:ext cx="3364992" cy="566928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59552" y="3374136"/>
            <a:ext cx="3246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i="1" dirty="0">
                <a:solidFill>
                  <a:srgbClr val="D6EEF4"/>
                </a:solidFill>
              </a:rPr>
              <a:t>Compare these 3 CVs against the JD below. Score 1 to 10 on skills, experience and culture fit with reasons.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4681728" y="4059936"/>
            <a:ext cx="749808" cy="566928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81728" y="4059936"/>
            <a:ext cx="74980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PIPELINE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86400" y="4059936"/>
            <a:ext cx="3364992" cy="566928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59552" y="4096512"/>
            <a:ext cx="3246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i="1" dirty="0">
                <a:solidFill>
                  <a:srgbClr val="D6EEF4"/>
                </a:solidFill>
              </a:rPr>
              <a:t>Build a 5-step candidate pipeline for a Data Engineer role from sourcing to offer. Include timeline.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6C3FC7"/>
          </a:solidFill>
          <a:ln w="12700">
            <a:solidFill>
              <a:srgbClr val="6C3FC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4709160"/>
            <a:ext cx="85496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💡  PRO TIP: Always end prompts with — 'Explain your reasoning' or 'Flag any assumptions made.' This forces AI to show its work and improves output accuracy by 40%.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502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⚙️  AI AGENTS &amp; AUTOMATED SOURCING WORKFLOWS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56032" y="8229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C3FC7"/>
                </a:solidFill>
              </a:rPr>
              <a:t>🔁  YOUR 24/7 AI SOURCING AGENT — HOW IT WORKS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36576" cy="21031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16152"/>
            <a:ext cx="347472" cy="347472"/>
          </a:xfrm>
          <a:prstGeom prst="ellipse">
            <a:avLst/>
          </a:prstGeom>
          <a:solidFill>
            <a:srgbClr val="6C3FC7"/>
          </a:solidFill>
          <a:ln w="12700">
            <a:solidFill>
              <a:srgbClr val="6C3F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216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76656" y="117043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6656" y="1170432"/>
            <a:ext cx="73152" cy="475488"/>
          </a:xfrm>
          <a:prstGeom prst="rect">
            <a:avLst/>
          </a:prstGeom>
          <a:solidFill>
            <a:srgbClr val="6C3FC7"/>
          </a:solidFill>
          <a:ln w="12700">
            <a:solidFill>
              <a:srgbClr val="6C3F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1887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C3FC7"/>
                </a:solidFill>
              </a:rPr>
              <a:t>INTAKE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" y="1389888"/>
            <a:ext cx="3630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</a:rPr>
              <a:t>AI reads JD → extracts must-haves, stack, seniority &amp; culture signals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2148840"/>
            <a:ext cx="36576" cy="21031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1810512"/>
            <a:ext cx="347472" cy="347472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1810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6656" y="17647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" y="1764792"/>
            <a:ext cx="73152" cy="475488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178308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B8CA6"/>
                </a:solidFill>
              </a:rPr>
              <a:t>SEARCH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" y="1984248"/>
            <a:ext cx="3630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</a:rPr>
              <a:t>Triggers Boolean across LinkedIn, GitHub, Naukri &amp; ATS simultaneously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2920" y="2743200"/>
            <a:ext cx="36576" cy="21031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2404872"/>
            <a:ext cx="347472" cy="347472"/>
          </a:xfrm>
          <a:prstGeom prst="ellipse">
            <a:avLst/>
          </a:prstGeom>
          <a:solidFill>
            <a:srgbClr val="1A7F5A"/>
          </a:solidFill>
          <a:ln w="12700">
            <a:solidFill>
              <a:srgbClr val="1A7F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2404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76656" y="235915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6656" y="2359152"/>
            <a:ext cx="73152" cy="475488"/>
          </a:xfrm>
          <a:prstGeom prst="rect">
            <a:avLst/>
          </a:prstGeom>
          <a:solidFill>
            <a:srgbClr val="1A7F5A"/>
          </a:solidFill>
          <a:ln w="12700">
            <a:solidFill>
              <a:srgbClr val="1A7F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237744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7F5A"/>
                </a:solidFill>
              </a:rPr>
              <a:t>SCORE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22960" y="2578608"/>
            <a:ext cx="3630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</a:rPr>
              <a:t>Ranks candidates 1–100 on skills match, tenure, recency &amp; location fit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2920" y="3337560"/>
            <a:ext cx="36576" cy="21031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99232"/>
            <a:ext cx="347472" cy="34747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2999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76656" y="295351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6656" y="2953512"/>
            <a:ext cx="73152" cy="47548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297180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0A500"/>
                </a:solidFill>
              </a:rPr>
              <a:t>ENRICH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22960" y="3172968"/>
            <a:ext cx="3630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</a:rPr>
              <a:t>Auto-pulls email, GitHub repos, portfolio links &amp; last active signal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02920" y="3931920"/>
            <a:ext cx="36576" cy="21031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6032" y="3593592"/>
            <a:ext cx="347472" cy="347472"/>
          </a:xfrm>
          <a:prstGeom prst="ellipse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6032" y="3593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76656" y="354787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76656" y="3547872"/>
            <a:ext cx="73152" cy="475488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356616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8523A"/>
                </a:solidFill>
              </a:rPr>
              <a:t>OUTREACH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22960" y="3767328"/>
            <a:ext cx="3630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</a:rPr>
              <a:t>Sends personalised InMail/email with role-specific hook — auto follow-up D+3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56032" y="4187952"/>
            <a:ext cx="347472" cy="34747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" y="4187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76656" y="414223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76656" y="4142232"/>
            <a:ext cx="73152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" y="41605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1B2A"/>
                </a:solidFill>
              </a:rPr>
              <a:t>REPORT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22960" y="4361688"/>
            <a:ext cx="3630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</a:rPr>
              <a:t>Delivers pipeline summary to hiring manager every morning at 9 AM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773168" y="777240"/>
            <a:ext cx="27432" cy="416052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19472" y="82296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C3FC7"/>
                </a:solidFill>
              </a:rPr>
              <a:t>🛠️  AUTOMATION STACK: TOOLS + THEIR ROLE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919472" y="117043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919472" y="1170432"/>
            <a:ext cx="1188720" cy="475488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19472" y="1170432"/>
            <a:ext cx="11887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HireEZ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181344" y="1170432"/>
            <a:ext cx="2615184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Primary sourcing + outreach engine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919472" y="17647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919472" y="1764792"/>
            <a:ext cx="1188720" cy="475488"/>
          </a:xfrm>
          <a:prstGeom prst="rect">
            <a:avLst/>
          </a:prstGeom>
          <a:solidFill>
            <a:srgbClr val="6C3FC7"/>
          </a:solidFill>
          <a:ln w="12700">
            <a:solidFill>
              <a:srgbClr val="6C3FC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19472" y="1764792"/>
            <a:ext cx="11887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Claude / GPT-4o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181344" y="1764792"/>
            <a:ext cx="2615184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JD analysis, CV scoring &amp; message drafting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919472" y="235915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919472" y="2359152"/>
            <a:ext cx="1188720" cy="475488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19472" y="2359152"/>
            <a:ext cx="11887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Zapier / Make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181344" y="2359152"/>
            <a:ext cx="2615184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Connects tools — trigger → action automation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919472" y="295351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919472" y="2953512"/>
            <a:ext cx="1188720" cy="47548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919472" y="2953512"/>
            <a:ext cx="11887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Notion AI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181344" y="2953512"/>
            <a:ext cx="2615184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Recruiter CRM, notes, pipeline tracker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919472" y="354787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4919472" y="3547872"/>
            <a:ext cx="1188720" cy="475488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919472" y="3547872"/>
            <a:ext cx="11887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LinkedIn + X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181344" y="3547872"/>
            <a:ext cx="2615184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Passive talent discovery &amp; signal monitoring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919472" y="414223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4919472" y="4142232"/>
            <a:ext cx="1188720" cy="475488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19472" y="4142232"/>
            <a:ext cx="11887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Google Gemini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6181344" y="4142232"/>
            <a:ext cx="2615184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Real-time search + Sheets enrichment scripts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20040" y="4709160"/>
            <a:ext cx="85496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6EEF4"/>
                </a:solidFill>
              </a:rPr>
              <a:t>⏱️  REALITY CHECK: A recruiter running this stack spends 20 mins/day on setup — the AI runs sourcing, scoring &amp; outreach 24/7 in the background.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566928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kern="0" spc="50" dirty="0">
                <a:solidFill>
                  <a:srgbClr val="FFFFFF"/>
                </a:solidFill>
              </a:rPr>
              <a:t>⚡  10X FASTER SOURCING — HANDS-ON PRACTICE &amp; YOUR ACTION PLAN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56032" y="8229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0A500"/>
                </a:solidFill>
              </a:rPr>
              <a:t>⚡  10X SOURCING TECHNIQUES — DO THESE TODAY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1170432"/>
            <a:ext cx="530352" cy="548640"/>
          </a:xfrm>
          <a:prstGeom prst="rect">
            <a:avLst/>
          </a:prstGeom>
          <a:solidFill>
            <a:srgbClr val="6C3FC7"/>
          </a:solidFill>
          <a:ln w="12700">
            <a:solidFill>
              <a:srgbClr val="6C3F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170432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10×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" y="1170432"/>
            <a:ext cx="3749040" cy="548640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6C3F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19786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AI Boolean on Steroids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141732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D6EEF4"/>
                </a:solidFill>
              </a:rPr>
              <a:t>Paste JD into Claude → ask for 10 Boolean variants by skill, title &amp; location. Test all 10 on LinkedIn in 8 mins.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6032" y="1883664"/>
            <a:ext cx="530352" cy="54864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883664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10×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41248" y="1883664"/>
            <a:ext cx="3749040" cy="548640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191109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GitHub as a Sourcing Engine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213055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D6EEF4"/>
                </a:solidFill>
              </a:rPr>
              <a:t>Search GitHub for contributors to relevant repos. Ask GPT to generate outreach referencing their specific code.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2596896"/>
            <a:ext cx="530352" cy="548640"/>
          </a:xfrm>
          <a:prstGeom prst="rect">
            <a:avLst/>
          </a:prstGeom>
          <a:solidFill>
            <a:srgbClr val="1A7F5A"/>
          </a:solidFill>
          <a:ln w="12700">
            <a:solidFill>
              <a:srgbClr val="1A7F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596896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10×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41248" y="2596896"/>
            <a:ext cx="3749040" cy="548640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1A7F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62432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AI-Powered Talent Rediscovery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4400" y="284378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D6EEF4"/>
                </a:solidFill>
              </a:rPr>
              <a:t>Upload your ATS export to Claude. Ask: 'Which candidates from 2023-24 match this new JD?' — instant pipeline.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6032" y="3310128"/>
            <a:ext cx="530352" cy="5486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3310128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10×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41248" y="3310128"/>
            <a:ext cx="3749040" cy="548640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33756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Personalised Outreach at Scale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14400" y="355701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D6EEF4"/>
                </a:solidFill>
              </a:rPr>
              <a:t>Feed candidate LinkedIn URL + JD to GPT. It generates a unique 3-line InMail for each person in seconds.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6032" y="4023360"/>
            <a:ext cx="530352" cy="54864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4023360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10×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41248" y="4023360"/>
            <a:ext cx="3749040" cy="548640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05079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AI Interview Question Generator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14400" y="427024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D6EEF4"/>
                </a:solidFill>
              </a:rPr>
              <a:t>Paste tech stack from JD → Claude returns 15 role-specific tech questions + expected answers for screening.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00600" y="777240"/>
            <a:ext cx="27432" cy="4160520"/>
          </a:xfrm>
          <a:prstGeom prst="rect">
            <a:avLst/>
          </a:prstGeom>
          <a:solidFill>
            <a:srgbClr val="F0A500">
              <a:alpha val="40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82296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0A500"/>
                </a:solidFill>
              </a:rPr>
              <a:t>🗓️  YOUR DAY 2 ACTION PLAN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56048" y="1170432"/>
            <a:ext cx="3913632" cy="493776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56048" y="1170432"/>
            <a:ext cx="694944" cy="493776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56048" y="1170432"/>
            <a:ext cx="694944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TODAY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705856" y="1170432"/>
            <a:ext cx="3090672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FFFFFF"/>
                </a:solidFill>
              </a:rPr>
              <a:t>✅  Set up ChatGPT Custom Instructions with your recruiter persona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4956048" y="1737360"/>
            <a:ext cx="3913632" cy="493776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56048" y="1737360"/>
            <a:ext cx="694944" cy="493776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56048" y="1737360"/>
            <a:ext cx="694944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TODAY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705856" y="1737360"/>
            <a:ext cx="3090672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FFFFFF"/>
                </a:solidFill>
              </a:rPr>
              <a:t>✅  Run the R-A-C-E framework on your next open role — compare results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4956048" y="2304288"/>
            <a:ext cx="3913632" cy="493776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6C3FC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56048" y="2304288"/>
            <a:ext cx="694944" cy="493776"/>
          </a:xfrm>
          <a:prstGeom prst="rect">
            <a:avLst/>
          </a:prstGeom>
          <a:solidFill>
            <a:srgbClr val="6C3FC7"/>
          </a:solidFill>
          <a:ln w="12700">
            <a:solidFill>
              <a:srgbClr val="6C3FC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56048" y="2304288"/>
            <a:ext cx="694944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WEEK 1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705856" y="2304288"/>
            <a:ext cx="3090672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FFFFFF"/>
                </a:solidFill>
              </a:rPr>
              <a:t>📌  Build a personal prompt library with 10 templates in Notion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4956048" y="2871216"/>
            <a:ext cx="3913632" cy="493776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6C3FC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56048" y="2871216"/>
            <a:ext cx="694944" cy="493776"/>
          </a:xfrm>
          <a:prstGeom prst="rect">
            <a:avLst/>
          </a:prstGeom>
          <a:solidFill>
            <a:srgbClr val="6C3FC7"/>
          </a:solidFill>
          <a:ln w="12700">
            <a:solidFill>
              <a:srgbClr val="6C3FC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56048" y="2871216"/>
            <a:ext cx="694944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WEEK 1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705856" y="2871216"/>
            <a:ext cx="3090672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FFFFFF"/>
                </a:solidFill>
              </a:rPr>
              <a:t>📌  Trial HireEZ free tier — source 20 profiles for one active role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4956048" y="3438144"/>
            <a:ext cx="3913632" cy="493776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956048" y="3438144"/>
            <a:ext cx="694944" cy="4937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56048" y="3438144"/>
            <a:ext cx="694944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WEEK 2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705856" y="3438144"/>
            <a:ext cx="3090672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FFFFFF"/>
                </a:solidFill>
              </a:rPr>
              <a:t>🚀  Set up a Zapier automation: New JD → AI sourcing brief auto-generated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4956048" y="4005072"/>
            <a:ext cx="3913632" cy="493776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956048" y="4005072"/>
            <a:ext cx="694944" cy="4937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56048" y="4005072"/>
            <a:ext cx="694944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WEEK 2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705856" y="4005072"/>
            <a:ext cx="3090672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FFFFFF"/>
                </a:solidFill>
              </a:rPr>
              <a:t>🚀  Measure: track time-to-shortlist before vs after AI. Target: 60% faster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0040" y="4709160"/>
            <a:ext cx="85496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</a:rPr>
              <a:t>🏆  DAY 2 OUTCOME: You now have a fully operational AI sourcing system. Use it on a live role before you sleep tonight.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990</Words>
  <Application>Microsoft Office PowerPoint</Application>
  <PresentationFormat>On-screen Show (16:9)</PresentationFormat>
  <Paragraphs>159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Sourcing Revolution – Day 2</dc:title>
  <dc:subject>PptxGenJS Presentation</dc:subject>
  <dc:creator>PptxGenJS</dc:creator>
  <cp:lastModifiedBy>JAGADISH JEEVAN SAI</cp:lastModifiedBy>
  <cp:revision>2</cp:revision>
  <dcterms:created xsi:type="dcterms:W3CDTF">2026-03-26T12:12:02Z</dcterms:created>
  <dcterms:modified xsi:type="dcterms:W3CDTF">2026-03-30T06:27:18Z</dcterms:modified>
</cp:coreProperties>
</file>