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00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4114800" cy="6629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65760"/>
            <a:ext cx="13258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65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4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 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ATS</a:t>
            </a:r>
            <a:endParaRPr lang="en-US" sz="3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Mastery &amp;</a:t>
            </a:r>
            <a:endParaRPr lang="en-US" sz="3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Recruitment</a:t>
            </a:r>
            <a:endParaRPr lang="en-US" sz="3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4507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Excellence Training Program  ·  Day 7 of 10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0" y="365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MASTER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731520"/>
            <a:ext cx="4297680" cy="32004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914400"/>
            <a:ext cx="4297680" cy="804672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91440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78992"/>
            <a:ext cx="402336" cy="4023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5780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Platform Deep-Dive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57800" y="13350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· Greenhouse · Lever · Workable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0" y="1901952"/>
            <a:ext cx="4297680" cy="804672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1901952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066544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57800" y="19933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Dashboards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257800" y="2322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boards stakeholders love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572000" y="2889504"/>
            <a:ext cx="4297680" cy="804672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0" y="2889504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054096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57800" y="29809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Time-to-Fill vs Quality-of-Hire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257800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pair that matters most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572000" y="3877056"/>
            <a:ext cx="4297680" cy="804672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0" y="3877056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041648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57800" y="39684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Hiring Decisions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25780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 leadership with numbers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4069080" y="0"/>
            <a:ext cx="109728" cy="514350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41E2E"/>
          </a:solidFill>
          <a:ln w="12700">
            <a:solidFill>
              <a:srgbClr val="14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914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ATS Platform Comparison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78992" y="56692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tool — and when to recommend each platform to clients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01168" y="1078992"/>
            <a:ext cx="2084832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078992"/>
            <a:ext cx="208483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0896" y="13898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Recruit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10896" y="1773936"/>
            <a:ext cx="1828800" cy="256032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0896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SMBs &amp; Staffing Agencies</a:t>
            </a:r>
            <a:endParaRPr lang="en-US" sz="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210312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" y="206654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available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2532888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" y="24963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CRM integration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2962656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" y="29260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+ AI match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3392424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640" y="335584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workflow automation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274320" y="3840480"/>
            <a:ext cx="193852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310896" y="3858768"/>
            <a:ext cx="1865376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Reporting depth limited on basic plan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2432304" y="1078992"/>
            <a:ext cx="2084832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2432304" y="1078992"/>
            <a:ext cx="2084832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2542032" y="13898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2542032" y="1773936"/>
            <a:ext cx="1828800" cy="256032"/>
          </a:xfrm>
          <a:prstGeom prst="rect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2542032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Mid-Market &amp; Scale-ups</a:t>
            </a:r>
            <a:endParaRPr lang="en-US" sz="8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2103120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779776" y="206654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hiring scorecards</a:t>
            </a:r>
            <a:endParaRPr lang="en-US" sz="9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2532888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779776" y="24963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integrations (Slack, HRIS)</a:t>
            </a:r>
            <a:endParaRPr lang="en-US" sz="9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2962656"/>
            <a:ext cx="182880" cy="18288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2779776" y="29260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 tracking</a:t>
            </a:r>
            <a:endParaRPr lang="en-US" sz="9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3392424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2779776" y="335584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interview kit builder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2505456" y="3840480"/>
            <a:ext cx="193852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2542032" y="3858768"/>
            <a:ext cx="1865376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Premium price; overkill for &lt;50 hires/yr</a:t>
            </a:r>
            <a:endParaRPr lang="en-US" sz="850" dirty="0"/>
          </a:p>
        </p:txBody>
      </p:sp>
      <p:sp>
        <p:nvSpPr>
          <p:cNvPr id="37" name="Shape 26"/>
          <p:cNvSpPr/>
          <p:nvPr/>
        </p:nvSpPr>
        <p:spPr>
          <a:xfrm>
            <a:off x="4663440" y="1078992"/>
            <a:ext cx="2084832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4663440" y="1078992"/>
            <a:ext cx="2084832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4773168" y="13898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</a:t>
            </a:r>
            <a:endParaRPr lang="en-US" sz="1300" dirty="0"/>
          </a:p>
        </p:txBody>
      </p:sp>
      <p:sp>
        <p:nvSpPr>
          <p:cNvPr id="40" name="Shape 29"/>
          <p:cNvSpPr/>
          <p:nvPr/>
        </p:nvSpPr>
        <p:spPr>
          <a:xfrm>
            <a:off x="4773168" y="1773936"/>
            <a:ext cx="1828800" cy="256032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4773168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Talent-Brand Focused Teams</a:t>
            </a:r>
            <a:endParaRPr lang="en-US" sz="8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103120"/>
            <a:ext cx="182880" cy="18288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010912" y="206654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ATS in one platform</a:t>
            </a:r>
            <a:endParaRPr lang="en-US" sz="90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532888"/>
            <a:ext cx="182880" cy="18288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5010912" y="24963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campaigns for passive talent</a:t>
            </a:r>
            <a:endParaRPr lang="en-US" sz="9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962656"/>
            <a:ext cx="182880" cy="18288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5010912" y="29260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pipeline kanban board</a:t>
            </a:r>
            <a:endParaRPr lang="en-US" sz="90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392424"/>
            <a:ext cx="182880" cy="18288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5010912" y="335584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referral tracking</a:t>
            </a:r>
            <a:endParaRPr lang="en-US" sz="900" dirty="0"/>
          </a:p>
        </p:txBody>
      </p:sp>
      <p:sp>
        <p:nvSpPr>
          <p:cNvPr id="50" name="Shape 35"/>
          <p:cNvSpPr/>
          <p:nvPr/>
        </p:nvSpPr>
        <p:spPr>
          <a:xfrm>
            <a:off x="4736592" y="3840480"/>
            <a:ext cx="193852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51" name="Text 36"/>
          <p:cNvSpPr/>
          <p:nvPr/>
        </p:nvSpPr>
        <p:spPr>
          <a:xfrm>
            <a:off x="4773168" y="3858768"/>
            <a:ext cx="1865376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Analytics require Lever Analytics add-on</a:t>
            </a:r>
            <a:endParaRPr lang="en-US" sz="850" dirty="0"/>
          </a:p>
        </p:txBody>
      </p:sp>
      <p:sp>
        <p:nvSpPr>
          <p:cNvPr id="52" name="Shape 37"/>
          <p:cNvSpPr/>
          <p:nvPr/>
        </p:nvSpPr>
        <p:spPr>
          <a:xfrm>
            <a:off x="6894576" y="1078992"/>
            <a:ext cx="2084832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3" name="Shape 38"/>
          <p:cNvSpPr/>
          <p:nvPr/>
        </p:nvSpPr>
        <p:spPr>
          <a:xfrm>
            <a:off x="6894576" y="1078992"/>
            <a:ext cx="208483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39"/>
          <p:cNvSpPr/>
          <p:nvPr/>
        </p:nvSpPr>
        <p:spPr>
          <a:xfrm>
            <a:off x="7004304" y="13898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Workable</a:t>
            </a:r>
            <a:endParaRPr lang="en-US" sz="1300" dirty="0"/>
          </a:p>
        </p:txBody>
      </p:sp>
      <p:sp>
        <p:nvSpPr>
          <p:cNvPr id="55" name="Shape 40"/>
          <p:cNvSpPr/>
          <p:nvPr/>
        </p:nvSpPr>
        <p:spPr>
          <a:xfrm>
            <a:off x="7004304" y="1773936"/>
            <a:ext cx="1828800" cy="2560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6" name="Text 41"/>
          <p:cNvSpPr/>
          <p:nvPr/>
        </p:nvSpPr>
        <p:spPr>
          <a:xfrm>
            <a:off x="7004304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Fast-Growing Startups</a:t>
            </a:r>
            <a:endParaRPr lang="en-US" sz="800" dirty="0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2103120"/>
            <a:ext cx="182880" cy="182880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242048" y="206654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job posting (200+ boards)</a:t>
            </a:r>
            <a:endParaRPr lang="en-US" sz="900" dirty="0"/>
          </a:p>
        </p:txBody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2532888"/>
            <a:ext cx="182880" cy="182880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7242048" y="24963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sourcing &amp; candidate suggestions</a:t>
            </a:r>
            <a:endParaRPr lang="en-US" sz="900" dirty="0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2962656"/>
            <a:ext cx="182880" cy="182880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7242048" y="29260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hiring team UX</a:t>
            </a:r>
            <a:endParaRPr lang="en-US" sz="900" dirty="0"/>
          </a:p>
        </p:txBody>
      </p:sp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3392424"/>
            <a:ext cx="182880" cy="182880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7242048" y="335584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setup &lt;1 day</a:t>
            </a:r>
            <a:endParaRPr lang="en-US" sz="900" dirty="0"/>
          </a:p>
        </p:txBody>
      </p:sp>
      <p:sp>
        <p:nvSpPr>
          <p:cNvPr id="65" name="Shape 46"/>
          <p:cNvSpPr/>
          <p:nvPr/>
        </p:nvSpPr>
        <p:spPr>
          <a:xfrm>
            <a:off x="6967728" y="3840480"/>
            <a:ext cx="193852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66" name="Text 47"/>
          <p:cNvSpPr/>
          <p:nvPr/>
        </p:nvSpPr>
        <p:spPr>
          <a:xfrm>
            <a:off x="7004304" y="3858768"/>
            <a:ext cx="1865376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Limited custom reporting vs Greenhouse</a:t>
            </a:r>
            <a:endParaRPr lang="en-US" sz="850" dirty="0"/>
          </a:p>
        </p:txBody>
      </p:sp>
      <p:sp>
        <p:nvSpPr>
          <p:cNvPr id="67" name="Shape 4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41E2E"/>
          </a:solidFill>
          <a:ln w="12700">
            <a:solidFill>
              <a:srgbClr val="141E2E"/>
            </a:solidFill>
            <a:prstDash val="solid"/>
          </a:ln>
        </p:spPr>
      </p:sp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" y="4809744"/>
            <a:ext cx="274320" cy="274320"/>
          </a:xfrm>
          <a:prstGeom prst="rect">
            <a:avLst/>
          </a:prstGeom>
        </p:spPr>
      </p:pic>
      <p:sp>
        <p:nvSpPr>
          <p:cNvPr id="69" name="Text 49"/>
          <p:cNvSpPr/>
          <p:nvPr/>
        </p:nvSpPr>
        <p:spPr>
          <a:xfrm>
            <a:off x="548640" y="4773168"/>
            <a:ext cx="83210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 Always demo 2 platforms with your client before recommending — fit beats features every time.</a:t>
            </a:r>
            <a:endParaRPr lang="en-US" sz="1000" dirty="0"/>
          </a:p>
        </p:txBody>
      </p:sp>
      <p:sp>
        <p:nvSpPr>
          <p:cNvPr id="70" name="Text 50"/>
          <p:cNvSpPr/>
          <p:nvPr/>
        </p:nvSpPr>
        <p:spPr>
          <a:xfrm>
            <a:off x="832104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"/>
            <a:ext cx="59436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10972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Recruitment Metrics That Matter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78992" y="5852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these 8 KPIs to move from reactive to data-driven recruiting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932688"/>
            <a:ext cx="8503920" cy="32004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005840"/>
            <a:ext cx="4187952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00584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20700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8408" y="1051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28d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78408" y="1481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Time-to-Fill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331720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avg: 36d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331720" y="13898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accepted → Start date. Measures hiring speed.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736592" y="1005840"/>
            <a:ext cx="4187952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36592" y="1005840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120700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1051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4.2★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394960" y="1481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Hire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748272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4.0+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748272" y="13898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performance score at 90-day review.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320040" y="1965960"/>
            <a:ext cx="4187952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1965960"/>
            <a:ext cx="54864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216712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8408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43%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978408" y="2441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Hire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2331720" y="2057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LinkedIn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2331720" y="2350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 delivers the most hired candidates.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4736592" y="1965960"/>
            <a:ext cx="4187952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36592" y="1965960"/>
            <a:ext cx="54864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2167128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9496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₹28K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5394960" y="2441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Hire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6748272" y="2057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12% QoQ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6748272" y="2350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÷ number of hires in the period.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320040" y="2926080"/>
            <a:ext cx="4187952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20040" y="2926080"/>
            <a:ext cx="54864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" y="3127248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78408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2200" dirty="0"/>
          </a:p>
        </p:txBody>
      </p:sp>
      <p:sp>
        <p:nvSpPr>
          <p:cNvPr id="39" name="Text 31"/>
          <p:cNvSpPr/>
          <p:nvPr/>
        </p:nvSpPr>
        <p:spPr>
          <a:xfrm>
            <a:off x="978408" y="3401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Acceptance Rate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233172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&gt;80%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2331720" y="33101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extended vs. offers accepted. Reflects EVP strength.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4736592" y="2926080"/>
            <a:ext cx="4187952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736592" y="2926080"/>
            <a:ext cx="54864" cy="8229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1184" y="3127248"/>
            <a:ext cx="384048" cy="38404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394960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1:8</a:t>
            </a:r>
            <a:endParaRPr lang="en-US" sz="2200" dirty="0"/>
          </a:p>
        </p:txBody>
      </p:sp>
      <p:sp>
        <p:nvSpPr>
          <p:cNvPr id="46" name="Text 37"/>
          <p:cNvSpPr/>
          <p:nvPr/>
        </p:nvSpPr>
        <p:spPr>
          <a:xfrm>
            <a:off x="5394960" y="3401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Conversion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6748272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 → Hired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6748272" y="33101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candidates per stage needed to make 1 hire.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320040" y="3886200"/>
            <a:ext cx="4187952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320040" y="3886200"/>
            <a:ext cx="54864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" y="4087368"/>
            <a:ext cx="384048" cy="38404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978408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4.6★</a:t>
            </a:r>
            <a:endParaRPr lang="en-US" sz="2200" dirty="0"/>
          </a:p>
        </p:txBody>
      </p:sp>
      <p:sp>
        <p:nvSpPr>
          <p:cNvPr id="53" name="Text 43"/>
          <p:cNvSpPr/>
          <p:nvPr/>
        </p:nvSpPr>
        <p:spPr>
          <a:xfrm>
            <a:off x="978408" y="4361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 Sat.</a:t>
            </a:r>
            <a:endParaRPr lang="en-US" sz="900" dirty="0"/>
          </a:p>
        </p:txBody>
      </p:sp>
      <p:sp>
        <p:nvSpPr>
          <p:cNvPr id="54" name="Text 44"/>
          <p:cNvSpPr/>
          <p:nvPr/>
        </p:nvSpPr>
        <p:spPr>
          <a:xfrm>
            <a:off x="233172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NPS-style survey</a:t>
            </a:r>
            <a:endParaRPr lang="en-US" sz="900" dirty="0"/>
          </a:p>
        </p:txBody>
      </p:sp>
      <p:sp>
        <p:nvSpPr>
          <p:cNvPr id="55" name="Text 45"/>
          <p:cNvSpPr/>
          <p:nvPr/>
        </p:nvSpPr>
        <p:spPr>
          <a:xfrm>
            <a:off x="2331720" y="4270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Post-hire survey score from the HM on recruiter quality.</a:t>
            </a:r>
            <a:endParaRPr lang="en-US" sz="850" dirty="0"/>
          </a:p>
        </p:txBody>
      </p:sp>
      <p:sp>
        <p:nvSpPr>
          <p:cNvPr id="56" name="Shape 46"/>
          <p:cNvSpPr/>
          <p:nvPr/>
        </p:nvSpPr>
        <p:spPr>
          <a:xfrm>
            <a:off x="4736592" y="3886200"/>
            <a:ext cx="4187952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Shape 47"/>
          <p:cNvSpPr/>
          <p:nvPr/>
        </p:nvSpPr>
        <p:spPr>
          <a:xfrm>
            <a:off x="4736592" y="3886200"/>
            <a:ext cx="54864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1184" y="4087368"/>
            <a:ext cx="384048" cy="384048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539496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46d</a:t>
            </a:r>
            <a:endParaRPr lang="en-US" sz="2200" dirty="0"/>
          </a:p>
        </p:txBody>
      </p:sp>
      <p:sp>
        <p:nvSpPr>
          <p:cNvPr id="60" name="Text 49"/>
          <p:cNvSpPr/>
          <p:nvPr/>
        </p:nvSpPr>
        <p:spPr>
          <a:xfrm>
            <a:off x="5394960" y="4361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Time-to-Productivity</a:t>
            </a:r>
            <a:endParaRPr lang="en-US" sz="900" dirty="0"/>
          </a:p>
        </p:txBody>
      </p:sp>
      <p:sp>
        <p:nvSpPr>
          <p:cNvPr id="61" name="Text 50"/>
          <p:cNvSpPr/>
          <p:nvPr/>
        </p:nvSpPr>
        <p:spPr>
          <a:xfrm>
            <a:off x="6748272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→ Ramp</a:t>
            </a:r>
            <a:endParaRPr lang="en-US" sz="900" dirty="0"/>
          </a:p>
        </p:txBody>
      </p:sp>
      <p:sp>
        <p:nvSpPr>
          <p:cNvPr id="62" name="Text 51"/>
          <p:cNvSpPr/>
          <p:nvPr/>
        </p:nvSpPr>
        <p:spPr>
          <a:xfrm>
            <a:off x="6748272" y="4270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until new hire hits full output. True quality measure.</a:t>
            </a:r>
            <a:endParaRPr lang="en-US" sz="850" dirty="0"/>
          </a:p>
        </p:txBody>
      </p:sp>
      <p:sp>
        <p:nvSpPr>
          <p:cNvPr id="63" name="Text 52"/>
          <p:cNvSpPr/>
          <p:nvPr/>
        </p:nvSpPr>
        <p:spPr>
          <a:xfrm>
            <a:off x="832104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41E2E"/>
          </a:solidFill>
          <a:ln w="12700">
            <a:solidFill>
              <a:srgbClr val="14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914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Your Recruitment Dashboard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78992" y="56692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framework to create a dashboard that impresses stakeholders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1115568"/>
            <a:ext cx="5029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7472" y="128016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32688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Audience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32688" y="14996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reads this? C-Suite → headline KPIs only. HM → pipeline view. HR → time &amp; cost metrics. Build separate views per audience — never one-size-fits-all.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6032" y="2029968"/>
            <a:ext cx="5029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" y="219456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2688" y="2103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5 Core Metrics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32688" y="24140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Time-to-Fill · Quality of Hire · Offer Acceptance · Cost per Hire · Source of Hire. Resist the urge to show everything — clarity beats comprehensiveness.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56032" y="2944368"/>
            <a:ext cx="5029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47472" y="3108960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32688" y="3017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Benchmarks &amp; RAG Status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2688" y="33284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/ Amber / Green thresholds on every metric. E.g. Time-to-Fill: Green &lt;30d · Amber 30–45d · Red &gt;45d. Colour coding converts data into decisions instantly.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56032" y="3858768"/>
            <a:ext cx="5029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7472" y="4023360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32688" y="3931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&amp; Schedule Reports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32688" y="42428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Greenhouse: Reports → Scheduled Reports. In Workable: Analytics → Share Dashboard. Set weekly email digests so stakeholders see data without asking you for it.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559552" y="1115568"/>
            <a:ext cx="3337560" cy="3657600"/>
          </a:xfrm>
          <a:prstGeom prst="rect">
            <a:avLst/>
          </a:prstGeom>
          <a:solidFill>
            <a:srgbClr val="1F2D3D"/>
          </a:solidFill>
          <a:ln w="12700">
            <a:solidFill>
              <a:srgbClr val="2A3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559552" y="1115568"/>
            <a:ext cx="3337560" cy="347472"/>
          </a:xfrm>
          <a:prstGeom prst="rect">
            <a:avLst/>
          </a:prstGeom>
          <a:solidFill>
            <a:srgbClr val="141E2E"/>
          </a:solidFill>
          <a:ln w="12700">
            <a:solidFill>
              <a:srgbClr val="141E2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59552" y="1115568"/>
            <a:ext cx="54864" cy="3639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0" y="11155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RECRUITMENT DASHBOARD  ·  Q2 2025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66928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Time-to-Fill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040880" y="1554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669280" y="1801368"/>
            <a:ext cx="3017520" cy="91440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69280" y="1801368"/>
            <a:ext cx="1961388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18120" y="1554480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4d vs last qtr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669280" y="20665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 Rate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040880" y="20665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669280" y="2313432"/>
            <a:ext cx="3017520" cy="91440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69280" y="2313432"/>
            <a:ext cx="2745943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18120" y="2066544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6% vs target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5669280" y="2578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Hire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040880" y="2578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₹24K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669280" y="2825496"/>
            <a:ext cx="3017520" cy="91440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669280" y="2825496"/>
            <a:ext cx="1659636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818120" y="257860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₹4K vs budget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5669280" y="3090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Hire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7040880" y="3090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4.4★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669280" y="3337560"/>
            <a:ext cx="3017520" cy="91440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669280" y="3337560"/>
            <a:ext cx="2655418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818120" y="309067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avg score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5669280" y="36027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Conv.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7040880" y="36027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1:6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5669280" y="3849624"/>
            <a:ext cx="3017520" cy="91440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669280" y="3849624"/>
            <a:ext cx="2172614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818120" y="3602736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quartile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20040" y="4773168"/>
            <a:ext cx="85039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EXERCISE:  Open your ATS → Navigate to Analytics → Recreate this 5-metric view. Screenshot &amp; share with the group.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832104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4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46304"/>
            <a:ext cx="594360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Time-to-Fill vs Quality-of-Hire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97280" y="5760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trade-off that defines whether recruiting is seen as strategic or transactional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932688"/>
            <a:ext cx="8503920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005840"/>
            <a:ext cx="4160520" cy="3310128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005840"/>
            <a:ext cx="41605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1152144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1155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Time-to-Fill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84632" y="1664208"/>
            <a:ext cx="3794760" cy="22860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21208" y="1664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Days from job opening to accepted offer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84632" y="1920240"/>
            <a:ext cx="3794760" cy="228600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21208" y="1920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Date Offer Accepted  −  Job Approval Date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84632" y="2267712"/>
            <a:ext cx="3794760" cy="36576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6072" y="2286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 (&lt;25 days)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76072" y="2450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Strong pipeline, clear JD, aligned HM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84632" y="2724912"/>
            <a:ext cx="3794760" cy="365760"/>
          </a:xfrm>
          <a:prstGeom prst="rect">
            <a:avLst/>
          </a:prstGeom>
          <a:solidFill>
            <a:srgbClr val="2A0F0F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6072" y="2743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 (&gt;45 days)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76072" y="2907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Vague brief, misaligned expectations, poor sourcing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84632" y="3246120"/>
            <a:ext cx="3794760" cy="82296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84632" y="3246120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94360" y="3273552"/>
            <a:ext cx="3639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by: Pre-building talent pools before roles open. Run speculative searches 4–6 weeks ahead of forecast.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4754880" y="1005840"/>
            <a:ext cx="4160520" cy="3310128"/>
          </a:xfrm>
          <a:prstGeom prst="rect">
            <a:avLst/>
          </a:prstGeom>
          <a:solidFill>
            <a:srgbClr val="1F2D3D"/>
          </a:solidFill>
          <a:ln w="12700">
            <a:solidFill>
              <a:srgbClr val="26354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54880" y="1005840"/>
            <a:ext cx="4160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152144"/>
            <a:ext cx="475488" cy="4754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532120" y="11155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of Hire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4919472" y="1664208"/>
            <a:ext cx="3794760" cy="22860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956048" y="1664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Performance + retention + hiring manager satisfaction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919472" y="1920240"/>
            <a:ext cx="3794760" cy="228600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956048" y="1920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(Perf Score + Ramp Speed + HM Sat) ÷ 3  ×  100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4919472" y="2267712"/>
            <a:ext cx="3794760" cy="36576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010912" y="2286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(≥80%)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5010912" y="2450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Accurate JD, rigorous screening, culture fit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4919472" y="2724912"/>
            <a:ext cx="3794760" cy="365760"/>
          </a:xfrm>
          <a:prstGeom prst="rect">
            <a:avLst/>
          </a:prstGeom>
          <a:solidFill>
            <a:srgbClr val="2A0F0F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010912" y="2743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(&lt;60%)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5010912" y="2907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Rushed hire, poor brief, weak onboarding handoff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4919472" y="3246120"/>
            <a:ext cx="3794760" cy="82296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919472" y="3246120"/>
            <a:ext cx="4572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029200" y="3273552"/>
            <a:ext cx="3639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by: Use structured scorecards on every interview. Debrief with HM at 30/60/90 days post-hire.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0" y="4462272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572000"/>
            <a:ext cx="310896" cy="310896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713232" y="4507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TRAP TO AVOID: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2697480" y="449884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 for speed alone destroys quality. Optimising for quality alone frustrates the business. The win is presenting BOTH metrics together — showing stakeholders that you are balancing pace and precision.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8321040" y="49194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817</Words>
  <Application>Microsoft Office PowerPoint</Application>
  <PresentationFormat>On-screen Show (16:9)</PresentationFormat>
  <Paragraphs>140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ATS Mastery &amp; Recruitment Analytics</dc:title>
  <dc:subject>PptxGenJS Presentation</dc:subject>
  <dc:creator>PptxGenJS</dc:creator>
  <cp:lastModifiedBy>JAGADISH JEEVAN SAI</cp:lastModifiedBy>
  <cp:revision>2</cp:revision>
  <dcterms:created xsi:type="dcterms:W3CDTF">2026-03-31T05:52:12Z</dcterms:created>
  <dcterms:modified xsi:type="dcterms:W3CDTF">2026-03-31T07:07:52Z</dcterms:modified>
</cp:coreProperties>
</file>