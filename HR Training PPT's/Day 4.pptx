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92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A1A4B"/>
          </a:solidFill>
          <a:ln w="12700">
            <a:solidFill>
              <a:srgbClr val="1A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E1B6B"/>
          </a:solidFill>
          <a:ln w="12700">
            <a:solidFill>
              <a:srgbClr val="1E1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13716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E17"/>
                </a:solidFill>
              </a:rPr>
              <a:t>DAY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&amp;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Niche Sourcing Mastery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0E0EF"/>
                </a:solidFill>
              </a:rPr>
              <a:t>Go beyond LinkedIn. Source smarter. Build pipelines that outlast the job req.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429000"/>
            <a:ext cx="2286000" cy="384048"/>
          </a:xfrm>
          <a:prstGeom prst="rect">
            <a:avLst/>
          </a:prstGeom>
          <a:solidFill>
            <a:srgbClr val="1E2A5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</a:rPr>
              <a:t>Master 7+ Platforms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429000"/>
            <a:ext cx="2286000" cy="384048"/>
          </a:xfrm>
          <a:prstGeom prst="rect">
            <a:avLst/>
          </a:prstGeom>
          <a:solidFill>
            <a:srgbClr val="1E2A5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</a:rPr>
              <a:t>Build Talent Communities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429000"/>
            <a:ext cx="2286000" cy="384048"/>
          </a:xfrm>
          <a:prstGeom prst="rect">
            <a:avLst/>
          </a:prstGeom>
          <a:solidFill>
            <a:srgbClr val="1E2A5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</a:rPr>
              <a:t>Pipeline for 2026 Roles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Recruiter Training Program  •  2026 Edition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926080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3273552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621024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968496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2926080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3273552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472" y="3621024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3968496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2926080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3273552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2944" y="3621024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2944" y="3968496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0416" y="2926080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3273552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0416" y="3621024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0416" y="3968496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2926080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7888" y="3273552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3621024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968496"/>
            <a:ext cx="64008" cy="64008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4B"/>
          </a:solidFill>
          <a:ln w="12700">
            <a:solidFill>
              <a:srgbClr val="1A1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2026 SOURCING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0E0EF"/>
                </a:solidFill>
              </a:rPr>
              <a:t>Where top talent actually lives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834640" cy="1691640"/>
          </a:xfrm>
          <a:prstGeom prst="rect">
            <a:avLst/>
          </a:prstGeom>
          <a:solidFill>
            <a:srgbClr val="EBF4FB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97280"/>
            <a:ext cx="2834640" cy="64008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Recruiter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Precision Boolean search, InMail campaigns, project folders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834640" cy="1691640"/>
          </a:xfrm>
          <a:prstGeom prst="rect">
            <a:avLst/>
          </a:prstGeom>
          <a:solidFill>
            <a:srgbClr val="E8F0FB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97280"/>
            <a:ext cx="2834640" cy="6400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07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66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Navigator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Account mapping, lead alerts, org chart insights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1097280"/>
            <a:ext cx="283464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1097280"/>
            <a:ext cx="2834640" cy="640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07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B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5727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Source devs by repos, contributions &amp; language stacks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3063240"/>
            <a:ext cx="2834640" cy="1691640"/>
          </a:xfrm>
          <a:prstGeom prst="rect">
            <a:avLst/>
          </a:prstGeom>
          <a:solidFill>
            <a:srgbClr val="EEEFFE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3063240"/>
            <a:ext cx="2834640" cy="64008"/>
          </a:xfrm>
          <a:prstGeom prst="rect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Tech &amp; design communities, DMs, topic-specific servers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3063240"/>
            <a:ext cx="2834640" cy="1691640"/>
          </a:xfrm>
          <a:prstGeom prst="rect">
            <a:avLst/>
          </a:prstGeom>
          <a:solidFill>
            <a:srgbClr val="FFF0EA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063240"/>
            <a:ext cx="2834640" cy="640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5387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r/forhire, niche subs, passive candidate intel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3063240"/>
            <a:ext cx="2834640" cy="1691640"/>
          </a:xfrm>
          <a:prstGeom prst="rect">
            <a:avLst/>
          </a:prstGeom>
          <a:solidFill>
            <a:srgbClr val="FEF0F6"/>
          </a:solidFill>
          <a:ln w="6350">
            <a:solidFill>
              <a:srgbClr val="E0E0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3063240"/>
            <a:ext cx="2834640" cy="64008"/>
          </a:xfrm>
          <a:prstGeom prst="rect">
            <a:avLst/>
          </a:prstGeom>
          <a:solidFill>
            <a:srgbClr val="EA4C89"/>
          </a:solidFill>
          <a:ln w="12700">
            <a:solidFill>
              <a:srgbClr val="EA4C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4C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Dribbble / Behance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5387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A3A"/>
                </a:solidFill>
              </a:rPr>
              <a:t>Creative talent discovery by portfolio &amp; design style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E17"/>
                </a:solidFill>
              </a:rPr>
              <a:t>⚡  70% of top passive candidates are NOT actively browsing LinkedIn — they're in communities, contributing to repos, and engaging in niche forums.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1A1A4B"/>
          </a:solidFill>
          <a:ln w="12700">
            <a:solidFill>
              <a:srgbClr val="1A1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SLIDE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Recruiter &amp; Sales Navigator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Advanced Tactics That Actually Convert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840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</a:rPr>
              <a:t>LINKEDIN RECRUITER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Use Boolean: ("machine learning" OR "MLOps") AND "Python" NOT "junior"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682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225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Spotlight filter → Open to Work (hidden) to find passive talent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43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Project Folders: Organize pipeline by role, skill, or hire 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107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64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InMail templates: personalize with mutual connections or shared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saved searches with weekly alerts to auto-update your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2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NAVIGATOR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640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</a:rPr>
              <a:t>Turn recruiter intel into strategic sourcing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5156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</a:rPr>
              <a:t>Account Mapping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4904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Identify key decision-makers and future candidates within target companies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105156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051560"/>
            <a:ext cx="201168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</a:rPr>
              <a:t>Lead Alerts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14904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Get notified when prospects change roles, post content, or get promoted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71800"/>
            <a:ext cx="201168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</a:rPr>
              <a:t>TeamLink Connections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41071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Unlock warm intros via colleagues connected to your targets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12280" y="29718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2971800"/>
            <a:ext cx="20116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</a:rPr>
              <a:t>Persona Filters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341071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Filter by function, seniority, tenure, and company growth signals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617720"/>
            <a:ext cx="4297680" cy="411480"/>
          </a:xfrm>
          <a:prstGeom prst="rect">
            <a:avLst/>
          </a:prstGeom>
          <a:solidFill>
            <a:srgbClr val="EB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4B"/>
                </a:solidFill>
              </a:rPr>
              <a:t>✅  Recruiters using Boolean + Spotlight see 3× higher InMail response rates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NICHE PLATFORM SOURCING PLAYBOOK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0E0EF"/>
                </a:solidFill>
              </a:rPr>
              <a:t>Platform-by-Platform Tactics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749808"/>
          </a:xfrm>
          <a:prstGeom prst="rect">
            <a:avLst/>
          </a:prstGeom>
          <a:solidFill>
            <a:srgbClr val="F0F0FF"/>
          </a:solidFill>
          <a:ln w="6350">
            <a:solidFill>
              <a:srgbClr val="E4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87552"/>
            <a:ext cx="73152" cy="749808"/>
          </a:xfrm>
          <a:prstGeom prst="rect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332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Devs, Game Designers, Web3, Community Managers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06070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Join tech/design servers (e.g. Developer's Hangout, Design Buddies). Engage in discussions before DMing. Search for pinned #job-seeking channels.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1124712"/>
            <a:ext cx="22860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865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124712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A"/>
                </a:solidFill>
              </a:rPr>
              <a:t>Warm, community-trusted outreach — 2× reply rate vs cold 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792224"/>
            <a:ext cx="8778240" cy="749808"/>
          </a:xfrm>
          <a:prstGeom prst="rect">
            <a:avLst/>
          </a:prstGeom>
          <a:solidFill>
            <a:srgbClr val="FFF3EE"/>
          </a:solidFill>
          <a:ln w="6350">
            <a:solidFill>
              <a:srgbClr val="E4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92224"/>
            <a:ext cx="73152" cy="7498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3794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" y="22311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Engineers, Data Scientists, Marketers, Freelancers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28800" y="186537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Source from r/forhire, r/cscareerquestions, r/datascience. Read post history to personalize. DM with context from their comments.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9384"/>
            <a:ext cx="22860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4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29384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A"/>
                </a:solidFill>
              </a:rPr>
              <a:t>High passive talent pool — users often open to opportunities if approached right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596896"/>
            <a:ext cx="8778240" cy="749808"/>
          </a:xfrm>
          <a:prstGeom prst="rect">
            <a:avLst/>
          </a:prstGeom>
          <a:solidFill>
            <a:srgbClr val="F3F3F3"/>
          </a:solidFill>
          <a:ln w="6350">
            <a:solidFill>
              <a:srgbClr val="E4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596896"/>
            <a:ext cx="7315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4261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" y="303580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Developers, DevOps, Open Source Contributors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28800" y="267004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Search by language, repo stars, and activity. Profile README = resume. Use github.com/search?type=users with keyword filters.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2734056"/>
            <a:ext cx="22860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734056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A"/>
                </a:solidFill>
              </a:rPr>
              <a:t>Pre-validated skills — code is the portfolio, no guesswork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401568"/>
            <a:ext cx="8778240" cy="749808"/>
          </a:xfrm>
          <a:prstGeom prst="rect">
            <a:avLst/>
          </a:prstGeom>
          <a:solidFill>
            <a:srgbClr val="FEF0F6"/>
          </a:solidFill>
          <a:ln w="6350">
            <a:solidFill>
              <a:srgbClr val="E4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401568"/>
            <a:ext cx="73152" cy="749808"/>
          </a:xfrm>
          <a:prstGeom prst="rect">
            <a:avLst/>
          </a:prstGeom>
          <a:solidFill>
            <a:srgbClr val="EA4C89"/>
          </a:solidFill>
          <a:ln w="12700">
            <a:solidFill>
              <a:srgbClr val="EA4C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4728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4C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Dribbble / Behance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" y="38404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UX/UI Designers, Motion, Brand, Product Designers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3474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Filter by design category, tools used (Figma, Webflow), or location. 'Hired' tag shows active seekers. Save collections as a live pipeline.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29400" y="3538728"/>
            <a:ext cx="22860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A4C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A"/>
                </a:solidFill>
              </a:rPr>
              <a:t>Portfolio-first sourcing — assess quality before first contact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206240"/>
            <a:ext cx="8778240" cy="749808"/>
          </a:xfrm>
          <a:prstGeom prst="rect">
            <a:avLst/>
          </a:prstGeom>
          <a:solidFill>
            <a:srgbClr val="EDF7FF"/>
          </a:solidFill>
          <a:ln w="6350">
            <a:solidFill>
              <a:srgbClr val="E4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206240"/>
            <a:ext cx="73152" cy="749808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25196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A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 Groups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7472" y="46451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Blockchain, AI/ML, Growth Hackers, Startup Operators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28800" y="42793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Find niche groups via t.me search or community lists. Look for job boards in active groups. Use group search to identify specialists by conversation.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29400" y="4343400"/>
            <a:ext cx="22860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AAB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A"/>
                </a:solidFill>
              </a:rPr>
              <a:t>Emerging tech talent before they hit mainstream platforms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" y="9144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92A4"/>
                </a:solidFill>
              </a:rPr>
              <a:t>PLATFORM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28800" y="9144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92A4"/>
                </a:solidFill>
              </a:rPr>
              <a:t>TACTIC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29400" y="914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92A4"/>
                </a:solidFill>
              </a:rPr>
              <a:t>OUTCOME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1E1B6B"/>
          </a:solidFill>
          <a:ln w="12700">
            <a:solidFill>
              <a:srgbClr val="1E1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0F0E30"/>
          </a:solidFill>
          <a:ln w="12700">
            <a:solidFill>
              <a:srgbClr val="0F0E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SLIDE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Sustainable Talent Pipelines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</a:rPr>
              <a:t>&amp; Talent Communities for 2026 High-Demand Roles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4114800" cy="1508760"/>
          </a:xfrm>
          <a:prstGeom prst="rect">
            <a:avLst/>
          </a:prstGeom>
          <a:solidFill>
            <a:srgbClr val="0A0D3A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91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7282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Segment Your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</a:rPr>
              <a:t>Tag candidates by skill cluster, readiness (hot/warm/cold), platform source, and role type. Use your ATS + a Notion board for visual pipeline health.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600200"/>
            <a:ext cx="4114800" cy="1508760"/>
          </a:xfrm>
          <a:prstGeom prst="rect">
            <a:avLst/>
          </a:prstGeom>
          <a:solidFill>
            <a:srgbClr val="0A0D3A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00200"/>
            <a:ext cx="64008" cy="1508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691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17282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 Talent Communities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</a:rPr>
              <a:t>Launch niche newsletters, Discord channels, or LinkedIn Groups for high-demand roles (e.g., AI Engineers, Growth Hackers). Nurture before you need.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114800" cy="1508760"/>
          </a:xfrm>
          <a:prstGeom prst="rect">
            <a:avLst/>
          </a:prstGeom>
          <a:solidFill>
            <a:srgbClr val="0A0D3A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46120"/>
            <a:ext cx="64008" cy="15087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37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3741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Automate Touch Points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</a:rPr>
              <a:t>Set triggers: LinkedIn post likes → add to pipeline. GitHub commit spikes → outreach. Job change alerts → reactivate warm leads within 48 hours.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246120"/>
            <a:ext cx="4114800" cy="1508760"/>
          </a:xfrm>
          <a:prstGeom prst="rect">
            <a:avLst/>
          </a:prstGeom>
          <a:solidFill>
            <a:srgbClr val="0A0D3A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246120"/>
            <a:ext cx="64008" cy="1508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337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3741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 &amp; Improve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</a:rPr>
              <a:t>Track: source-to-hire rate, InMail response %, community growth MoM, and time-to-pipeline per platform. Cut what doesn't convert in 90 days.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E17"/>
                </a:solidFill>
              </a:rPr>
              <a:t>4.7×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70916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E17"/>
                </a:solidFill>
              </a:rPr>
              <a:t>Higher hire rate with nurtured pipelines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4800600"/>
            <a:ext cx="27432" cy="256032"/>
          </a:xfrm>
          <a:prstGeom prst="rect">
            <a:avLst/>
          </a:prstGeom>
          <a:solidFill>
            <a:srgbClr val="008FAA"/>
          </a:solidFill>
          <a:ln w="12700">
            <a:solidFill>
              <a:srgbClr val="008F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E17"/>
                </a:solidFill>
              </a:rPr>
              <a:t>62%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06240" y="470916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E17"/>
                </a:solidFill>
              </a:rPr>
              <a:t>Reduction in time-to-fill vs reactive sourcing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800600"/>
            <a:ext cx="27432" cy="256032"/>
          </a:xfrm>
          <a:prstGeom prst="rect">
            <a:avLst/>
          </a:prstGeom>
          <a:solidFill>
            <a:srgbClr val="008FAA"/>
          </a:solidFill>
          <a:ln w="12700">
            <a:solidFill>
              <a:srgbClr val="008F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E17"/>
                </a:solidFill>
              </a:rPr>
              <a:t>2026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470916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E17"/>
                </a:solidFill>
              </a:rPr>
              <a:t>Target: AI, DevOps, Product Design, Growth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724</Words>
  <Application>Microsoft Office PowerPoint</Application>
  <PresentationFormat>On-screen Show (16:9)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Social Media &amp; Niche Sourcing Mastery</dc:title>
  <dc:subject>PptxGenJS Presentation</dc:subject>
  <dc:creator>Recruiter Training Program</dc:creator>
  <cp:lastModifiedBy>JAGADISH JEEVAN SAI</cp:lastModifiedBy>
  <cp:revision>2</cp:revision>
  <dcterms:created xsi:type="dcterms:W3CDTF">2026-03-30T05:44:01Z</dcterms:created>
  <dcterms:modified xsi:type="dcterms:W3CDTF">2026-03-30T06:29:23Z</dcterms:modified>
</cp:coreProperties>
</file>