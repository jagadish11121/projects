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42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0"/>
            <a:ext cx="228600" cy="5143500"/>
          </a:xfrm>
          <a:prstGeom prst="rect">
            <a:avLst/>
          </a:prstGeom>
          <a:solidFill>
            <a:srgbClr val="D4A843">
              <a:alpha val="40000"/>
            </a:srgbClr>
          </a:solidFill>
          <a:ln w="1270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1148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1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Engagement</a:t>
            </a:r>
            <a:endParaRPr lang="en-US" sz="3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Headhunting</a:t>
            </a:r>
            <a:endParaRPr lang="en-US" sz="3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Psychology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999232"/>
            <a:ext cx="256032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089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art of engaging passive talent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A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converting conversations into hires.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0" y="502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96012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55080" y="914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InMail response rate</a:t>
            </a:r>
            <a:endParaRPr lang="en-US" sz="11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4592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5508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of passive talent</a:t>
            </a:r>
            <a:endParaRPr lang="en-US" sz="11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3172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 scripts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01752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5508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real conversations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D4A843">
              <a:alpha val="15000"/>
            </a:srgbClr>
          </a:solidFill>
          <a:ln w="12700">
            <a:solidFill>
              <a:srgbClr val="D4A843">
                <a:alpha val="15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02920" y="4773168"/>
            <a:ext cx="82296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Excellence Training Program  |  Day 6 of 10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D3E"/>
          </a:solidFill>
          <a:ln w="12700">
            <a:solidFill>
              <a:srgbClr val="0F1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7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Psychology of Passive Talent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5156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great candidates don't apply — and how to reach them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234440"/>
            <a:ext cx="2240280" cy="2286000"/>
          </a:xfrm>
          <a:prstGeom prst="rect">
            <a:avLst/>
          </a:prstGeom>
          <a:solidFill>
            <a:srgbClr val="0F1D3E"/>
          </a:solidFill>
          <a:ln w="12700">
            <a:solidFill>
              <a:srgbClr val="0F1D3E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1417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320040" y="2377440"/>
            <a:ext cx="224028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top talent 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candidates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actively searching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88920" y="1234440"/>
            <a:ext cx="19019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8920" y="1234440"/>
            <a:ext cx="1901952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3716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98648" y="18105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open, not hunting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898648" y="2212848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candidates won't search job boards — but 85% will respond to the RIGHT message that speaks to their career aspirations, not just a job title.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73752" y="1234440"/>
            <a:ext cx="19019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73752" y="1234440"/>
            <a:ext cx="1901952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37160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83480" y="18105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is the enemy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983480" y="2212848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biggest objection is comfort. Your job is to create a compelling 'better future' that makes staying feel riskier than moving.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958584" y="1234440"/>
            <a:ext cx="19019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58584" y="1234440"/>
            <a:ext cx="1901952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137160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68312" y="18105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beats reach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068312" y="2212848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hyper-personalized message to 10 candidates outperforms a generic blast to 200. Research = respect, and candidates feel the difference instantly.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3749040"/>
            <a:ext cx="8503920" cy="658368"/>
          </a:xfrm>
          <a:prstGeom prst="rect">
            <a:avLst/>
          </a:prstGeom>
          <a:solidFill>
            <a:srgbClr val="EDF1FA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0040" y="3749040"/>
            <a:ext cx="64008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2920" y="37490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MINDSET SHIFT: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2103120" y="3749040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F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filling a vacancy. You are presenting a career opportunity that this person doesn't know they need yet.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832104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566928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164592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80% Response Rate Formula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24128" y="62179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InMails &amp; emails that passive candidates actually reply to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0040" y="987552"/>
            <a:ext cx="6492240" cy="27432"/>
          </a:xfrm>
          <a:prstGeom prst="rect">
            <a:avLst/>
          </a:prstGeom>
          <a:solidFill>
            <a:srgbClr val="D4A843">
              <a:alpha val="45000"/>
            </a:srgbClr>
          </a:solidFill>
          <a:ln w="12700">
            <a:solidFill>
              <a:srgbClr val="D4A843">
                <a:alpha val="4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152144"/>
            <a:ext cx="384048" cy="384048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D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111556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874520" y="111556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something specific to THEM — a project, award, or milestone. Never start with 'I came across your profile.'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1618488"/>
            <a:ext cx="6492240" cy="13716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1847088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D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18105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BRIDGE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874520" y="181051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their experience to the opportunity. Show you did the homework. 1 sentence = 1 relevant link.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2313432"/>
            <a:ext cx="6492240" cy="13716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" y="2542032"/>
            <a:ext cx="384048" cy="384048"/>
          </a:xfrm>
          <a:prstGeom prst="ellipse">
            <a:avLst/>
          </a:prstGeom>
          <a:solidFill>
            <a:srgbClr val="6E9EFF"/>
          </a:solidFill>
          <a:ln w="12700">
            <a:solidFill>
              <a:srgbClr val="6E9E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D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" y="25054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E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874520" y="250545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what they gain: growth, scope, impact — NOT your company's tagline or funding round.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" y="3008376"/>
            <a:ext cx="6492240" cy="13716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0040" y="3236976"/>
            <a:ext cx="384048" cy="384048"/>
          </a:xfrm>
          <a:prstGeom prst="ellipse">
            <a:avLst/>
          </a:prstGeom>
          <a:solidFill>
            <a:srgbClr val="F0D080"/>
          </a:solidFill>
          <a:ln w="12700">
            <a:solidFill>
              <a:srgbClr val="F0D0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D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" y="3200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D0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874520" y="320040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credibility signal: 'The last person in your role was promoted in 18 months.' Proof builds trust fast.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0040" y="3703320"/>
            <a:ext cx="6492240" cy="13716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0040" y="3931920"/>
            <a:ext cx="384048" cy="38404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D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7240" y="38953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C6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874520" y="389534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 low-friction close: 'Open to a 15-min call?' — not 'Are you interested in a new role?'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086600" y="274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TEMPLATE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059168" y="566928"/>
            <a:ext cx="1901952" cy="3840480"/>
          </a:xfrm>
          <a:prstGeom prst="rect">
            <a:avLst/>
          </a:prstGeom>
          <a:solidFill>
            <a:srgbClr val="1A2848"/>
          </a:solidFill>
          <a:ln w="12700">
            <a:solidFill>
              <a:srgbClr val="2A3A6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14032" y="658368"/>
            <a:ext cx="1810512" cy="3657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[Name],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leading [specific project] at [Company] caught my eye — that kind of cross-functional impact is rare.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working with [Client], who's building out their [Team] — a role that would give you [growth/scope/impact].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promoted someone from your background to VP in 18 months.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 15-min call this week?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32104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D3E"/>
          </a:solidFill>
          <a:ln w="12700">
            <a:solidFill>
              <a:srgbClr val="0F1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1188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Objection Handling Playbook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24128" y="576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'no' into 'let me hear more' — every time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115568"/>
            <a:ext cx="370332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115568"/>
            <a:ext cx="470916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1612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1115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OBJECTION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16128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44568" y="11155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RESPONSE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74320" y="1572768"/>
            <a:ext cx="3703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F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160520" y="1572768"/>
            <a:ext cx="4709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F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47472" y="1609344"/>
            <a:ext cx="354787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not looking right now."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233672" y="1609344"/>
            <a:ext cx="455371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exactly why I reached out — the best opportunities come to people who aren't searching. This one might be worth 15 minutes of your time."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274320" y="2322576"/>
            <a:ext cx="3703320" cy="658368"/>
          </a:xfrm>
          <a:prstGeom prst="rect">
            <a:avLst/>
          </a:prstGeom>
          <a:solidFill>
            <a:srgbClr val="EDF1FA"/>
          </a:solidFill>
          <a:ln w="12700">
            <a:solidFill>
              <a:srgbClr val="D5DF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60520" y="2322576"/>
            <a:ext cx="4709160" cy="658368"/>
          </a:xfrm>
          <a:prstGeom prst="rect">
            <a:avLst/>
          </a:prstGeom>
          <a:solidFill>
            <a:srgbClr val="EDF1FA"/>
          </a:solidFill>
          <a:ln w="12700">
            <a:solidFill>
              <a:srgbClr val="D5DFF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47472" y="2359152"/>
            <a:ext cx="354787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happy where I am."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233672" y="2359152"/>
            <a:ext cx="455371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glad to hear it — it means you have leverage. Can I share one data point that might shift that picture? You can decide if it's relevant."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74320" y="3072384"/>
            <a:ext cx="3703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160520" y="3072384"/>
            <a:ext cx="4709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47472" y="3108960"/>
            <a:ext cx="354787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 me a JD and I'll look."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233672" y="3108960"/>
            <a:ext cx="455371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"Absolutely — before I do, I'd love 10 minutes to tailor the context. A cold JD won't do justice to what makes this role unusual. Does Thursday work?"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74320" y="3822192"/>
            <a:ext cx="3703320" cy="658368"/>
          </a:xfrm>
          <a:prstGeom prst="rect">
            <a:avLst/>
          </a:prstGeom>
          <a:solidFill>
            <a:srgbClr val="EDF1FA"/>
          </a:solidFill>
          <a:ln w="12700">
            <a:solidFill>
              <a:srgbClr val="D5DF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160520" y="3822192"/>
            <a:ext cx="4709160" cy="658368"/>
          </a:xfrm>
          <a:prstGeom prst="rect">
            <a:avLst/>
          </a:prstGeom>
          <a:solidFill>
            <a:srgbClr val="EDF1FA"/>
          </a:solidFill>
          <a:ln w="12700">
            <a:solidFill>
              <a:srgbClr val="D5DF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47472" y="3858768"/>
            <a:ext cx="354787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want to jeopardize my current job."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233672" y="3858768"/>
            <a:ext cx="455371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"Complete discretion is a given — your name stays private until you decide to move forward. Nothing goes to your employer. I stake my reputation on it."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0F1D3E"/>
          </a:solidFill>
          <a:ln w="12700">
            <a:solidFill>
              <a:srgbClr val="0F1D3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47472" y="457200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 TIP:  Acknowledge → Reframe → Invite. Never argue. Always give them an easy 'yes' step.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64592"/>
            <a:ext cx="59436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188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Conversion Conversation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51560" y="5760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framework: Turn a 'just chatting' call into a committed next step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8503920" cy="27432"/>
          </a:xfrm>
          <a:prstGeom prst="rect">
            <a:avLst/>
          </a:prstGeom>
          <a:solidFill>
            <a:srgbClr val="D4A843">
              <a:alpha val="40000"/>
            </a:srgbClr>
          </a:solidFill>
          <a:ln w="1270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051560"/>
            <a:ext cx="1600200" cy="3154680"/>
          </a:xfrm>
          <a:prstGeom prst="rect">
            <a:avLst/>
          </a:prstGeom>
          <a:solidFill>
            <a:srgbClr val="1A2F5E"/>
          </a:solidFill>
          <a:ln w="12700">
            <a:solidFill>
              <a:srgbClr val="2A3A6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051560"/>
            <a:ext cx="16002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1155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148132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0F1D3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4813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min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3192" y="18745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builder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93192" y="2240280"/>
            <a:ext cx="14538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I go into the role — I read about [achievement]. That must have been a huge moment. How has it shaped where you want to go next?"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057400" y="1051560"/>
            <a:ext cx="1600200" cy="3154680"/>
          </a:xfrm>
          <a:prstGeom prst="rect">
            <a:avLst/>
          </a:prstGeom>
          <a:solidFill>
            <a:srgbClr val="1A2F5E"/>
          </a:solidFill>
          <a:ln w="12700">
            <a:solidFill>
              <a:srgbClr val="2A3A6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57400" y="1051560"/>
            <a:ext cx="160020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03120" y="11155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UNCOVER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286000" y="148132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0F1D3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0" y="14813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2–7 min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130552" y="18745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motivators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130552" y="2240280"/>
            <a:ext cx="14538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your current role stayed exactly as it is for the next 3 years — what would be missing?" (Let them speak. The gap IS your pitch.)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794760" y="1051560"/>
            <a:ext cx="1600200" cy="3154680"/>
          </a:xfrm>
          <a:prstGeom prst="rect">
            <a:avLst/>
          </a:prstGeom>
          <a:solidFill>
            <a:srgbClr val="1A2F5E"/>
          </a:solidFill>
          <a:ln w="12700">
            <a:solidFill>
              <a:srgbClr val="2A3A6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794760" y="1051560"/>
            <a:ext cx="1600200" cy="64008"/>
          </a:xfrm>
          <a:prstGeom prst="rect">
            <a:avLst/>
          </a:prstGeom>
          <a:solidFill>
            <a:srgbClr val="6E9EFF"/>
          </a:solidFill>
          <a:ln w="12700">
            <a:solidFill>
              <a:srgbClr val="6E9E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0" y="11155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PITCH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023360" y="148132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0F1D3E"/>
          </a:solidFill>
          <a:ln w="12700">
            <a:solidFill>
              <a:srgbClr val="6E9E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23360" y="14813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 min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867912" y="18745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their language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867912" y="2240280"/>
            <a:ext cx="14538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mentioned [gap]. That's exactly the problem this role solves — here's how: [specific, tailored example]."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532120" y="1051560"/>
            <a:ext cx="1600200" cy="3154680"/>
          </a:xfrm>
          <a:prstGeom prst="rect">
            <a:avLst/>
          </a:prstGeom>
          <a:solidFill>
            <a:srgbClr val="1A2F5E"/>
          </a:solidFill>
          <a:ln w="12700">
            <a:solidFill>
              <a:srgbClr val="2A3A6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532120" y="1051560"/>
            <a:ext cx="1600200" cy="64008"/>
          </a:xfrm>
          <a:prstGeom prst="rect">
            <a:avLst/>
          </a:prstGeom>
          <a:solidFill>
            <a:srgbClr val="F0D080"/>
          </a:solidFill>
          <a:ln w="12700">
            <a:solidFill>
              <a:srgbClr val="F0D08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77840" y="11155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D0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760720" y="148132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0F1D3E"/>
          </a:solidFill>
          <a:ln w="12700">
            <a:solidFill>
              <a:srgbClr val="F0D08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60720" y="14813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min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605272" y="18745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close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605272" y="2240280"/>
            <a:ext cx="14538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 a scale of 1–10, how curious are you right now? Anything below a 7 — what would move the needle for you?"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269480" y="1051560"/>
            <a:ext cx="1600200" cy="3154680"/>
          </a:xfrm>
          <a:prstGeom prst="rect">
            <a:avLst/>
          </a:prstGeom>
          <a:solidFill>
            <a:srgbClr val="1A2F5E"/>
          </a:solidFill>
          <a:ln w="12700">
            <a:solidFill>
              <a:srgbClr val="2A3A6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269480" y="1051560"/>
            <a:ext cx="160020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0" y="11155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C6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7498080" y="148132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0F1D3E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98080" y="14813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15–18 min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342632" y="18745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next step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342632" y="2240280"/>
            <a:ext cx="14538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"Great — let me set up a call with the hiring leader. I'll protect your time: 30 minutes, agenda sent in advance. Does [specific day] work?"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4480560"/>
            <a:ext cx="347472" cy="34747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713232" y="4407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0F1D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ROLE-PLAY EXERCISE: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2697480" y="4407408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up. One person plays a passive candidate who is 'happy in their current role.' Use this arc to get them to a confirmed next step. Debrief: What language converted them?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8321040" y="4434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</Words>
  <Application>Microsoft Office PowerPoint</Application>
  <PresentationFormat>On-screen Show (16:9)</PresentationFormat>
  <Paragraphs>99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Candidate Engagement &amp; Headhunting Psychology</dc:title>
  <dc:subject>PptxGenJS Presentation</dc:subject>
  <dc:creator>Training Program</dc:creator>
  <cp:lastModifiedBy>JAGADISH JEEVAN SAI</cp:lastModifiedBy>
  <cp:revision>2</cp:revision>
  <dcterms:created xsi:type="dcterms:W3CDTF">2026-03-31T05:47:07Z</dcterms:created>
  <dcterms:modified xsi:type="dcterms:W3CDTF">2026-03-31T07:06:42Z</dcterms:modified>
</cp:coreProperties>
</file>