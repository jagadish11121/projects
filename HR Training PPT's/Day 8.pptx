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4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8190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1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0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9962A"/>
          </a:solidFill>
          <a:ln w="12700">
            <a:solidFill>
              <a:srgbClr val="C996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56048" y="0"/>
            <a:ext cx="146304" cy="5143500"/>
          </a:xfrm>
          <a:prstGeom prst="rect">
            <a:avLst/>
          </a:prstGeom>
          <a:solidFill>
            <a:srgbClr val="C9962A">
              <a:alpha val="35000"/>
            </a:srgbClr>
          </a:solidFill>
          <a:ln w="12700">
            <a:solidFill>
              <a:srgbClr val="C9962A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347472"/>
            <a:ext cx="1371600" cy="365760"/>
          </a:xfrm>
          <a:prstGeom prst="rect">
            <a:avLst/>
          </a:prstGeom>
          <a:solidFill>
            <a:srgbClr val="C9962A"/>
          </a:solidFill>
          <a:ln w="12700">
            <a:solidFill>
              <a:srgbClr val="C996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3474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3E0D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 08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914400"/>
            <a:ext cx="4343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Salary</a:t>
            </a:r>
            <a:endParaRPr lang="en-US" sz="34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Negotiation</a:t>
            </a:r>
            <a:endParaRPr lang="en-US" sz="34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Offer</a:t>
            </a:r>
            <a:endParaRPr lang="en-US" sz="34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Closing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384048" y="4206240"/>
            <a:ext cx="2286000" cy="36576"/>
          </a:xfrm>
          <a:prstGeom prst="rect">
            <a:avLst/>
          </a:prstGeom>
          <a:solidFill>
            <a:srgbClr val="C9962A"/>
          </a:solidFill>
          <a:ln w="12700">
            <a:solidFill>
              <a:srgbClr val="C996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43159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8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Excellence Training Program  ·  Day 8 of 10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349240" y="3840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9B2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MASTER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49240" y="713232"/>
            <a:ext cx="3566160" cy="27432"/>
          </a:xfrm>
          <a:prstGeom prst="rect">
            <a:avLst/>
          </a:prstGeom>
          <a:solidFill>
            <a:srgbClr val="C9962A"/>
          </a:solidFill>
          <a:ln w="12700">
            <a:solidFill>
              <a:srgbClr val="C996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49240" y="896112"/>
            <a:ext cx="35661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B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49240" y="896112"/>
            <a:ext cx="54864" cy="804672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552" y="1097280"/>
            <a:ext cx="329184" cy="32918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989320" y="98755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Salary Benchmarks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989320" y="133502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7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· Hyderabad · Delhi · Mumbai · Pune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349240" y="1901952"/>
            <a:ext cx="35661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B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349240" y="1901952"/>
            <a:ext cx="54864" cy="804672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9552" y="2103120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989320" y="199339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Compensation Strategy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989320" y="234086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7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+ bonus + equity + benefits negotiation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5349240" y="2907792"/>
            <a:ext cx="35661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B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349240" y="2907792"/>
            <a:ext cx="54864" cy="804672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9552" y="3108960"/>
            <a:ext cx="329184" cy="32918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989320" y="299923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Counter-Offer Scripts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5989320" y="334670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7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Word-for-word handling frameworks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5349240" y="3913632"/>
            <a:ext cx="35661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B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5349240" y="3913632"/>
            <a:ext cx="54864" cy="804672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9552" y="4114800"/>
            <a:ext cx="329184" cy="32918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989320" y="400507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&amp; Offer Templates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5989320" y="435254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7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closing moves + real offer letter format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3E0D1C"/>
          </a:solidFill>
          <a:ln w="12700">
            <a:solidFill>
              <a:srgbClr val="3E0D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1024128"/>
          </a:xfrm>
          <a:prstGeom prst="rect">
            <a:avLst/>
          </a:prstGeom>
          <a:solidFill>
            <a:srgbClr val="C9962A"/>
          </a:solidFill>
          <a:ln w="12700">
            <a:solidFill>
              <a:srgbClr val="C9962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201168"/>
            <a:ext cx="548640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8992" y="91440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Salary Benchmarks — India Tech &amp; Business Roles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078992" y="585216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C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these numbers to anchor every negotiation with confidence and credibility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01168" y="1115568"/>
            <a:ext cx="1664208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B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01168" y="1115568"/>
            <a:ext cx="1664208" cy="310896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92608" y="1115568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Bengaluru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01168" y="1481328"/>
            <a:ext cx="1664208" cy="512064"/>
          </a:xfrm>
          <a:prstGeom prst="rect">
            <a:avLst/>
          </a:prstGeom>
          <a:solidFill>
            <a:srgbClr val="FDF8F2"/>
          </a:solidFill>
          <a:ln w="12700">
            <a:solidFill>
              <a:srgbClr val="EDE5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2608" y="151790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7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 (3–5 yr)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292608" y="173736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9B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₹18–32 LPA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01168" y="2029968"/>
            <a:ext cx="166420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2608" y="206654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7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 (3–5 yr)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292608" y="228600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9B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₹22–42 LPA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01168" y="2578608"/>
            <a:ext cx="1664208" cy="512064"/>
          </a:xfrm>
          <a:prstGeom prst="rect">
            <a:avLst/>
          </a:prstGeom>
          <a:solidFill>
            <a:srgbClr val="FDF8F2"/>
          </a:solidFill>
          <a:ln w="12700">
            <a:solidFill>
              <a:srgbClr val="EDE5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2608" y="261518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7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 (3–5 yr)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292608" y="283464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9B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₹20–38 LPA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01168" y="3127248"/>
            <a:ext cx="166420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92608" y="316382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7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/ Recruiter Lead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292608" y="338328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9B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₹10–20 LPA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01168" y="3675888"/>
            <a:ext cx="1664208" cy="512064"/>
          </a:xfrm>
          <a:prstGeom prst="rect">
            <a:avLst/>
          </a:prstGeom>
          <a:solidFill>
            <a:srgbClr val="FDF8F2"/>
          </a:solidFill>
          <a:ln w="12700">
            <a:solidFill>
              <a:srgbClr val="EDE5D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92608" y="371246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7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Director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292608" y="393192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9B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₹25–50 LPA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201168" y="4224528"/>
            <a:ext cx="1664208" cy="384048"/>
          </a:xfrm>
          <a:prstGeom prst="rect">
            <a:avLst/>
          </a:prstGeom>
          <a:solidFill>
            <a:srgbClr val="9B2335">
              <a:alpha val="12000"/>
            </a:srgbClr>
          </a:solidFill>
          <a:ln w="12700">
            <a:solidFill>
              <a:srgbClr val="9B2335">
                <a:alpha val="4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74320" y="424281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9B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tech pay in India; AI/ML +20% YoY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1975104" y="1115568"/>
            <a:ext cx="1664208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B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1975104" y="1115568"/>
            <a:ext cx="1664208" cy="310896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066544" y="1115568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Hyderabad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1975104" y="1481328"/>
            <a:ext cx="1664208" cy="512064"/>
          </a:xfrm>
          <a:prstGeom prst="rect">
            <a:avLst/>
          </a:prstGeom>
          <a:solidFill>
            <a:srgbClr val="FDF8F2"/>
          </a:solidFill>
          <a:ln w="12700">
            <a:solidFill>
              <a:srgbClr val="EDE5D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066544" y="151790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7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 (3–5 yr)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2066544" y="173736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₹16–28 LPA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1975104" y="2029968"/>
            <a:ext cx="166420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066544" y="206654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7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 (3–5 yr)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2066544" y="228600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₹18–36 LPA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1975104" y="2578608"/>
            <a:ext cx="1664208" cy="512064"/>
          </a:xfrm>
          <a:prstGeom prst="rect">
            <a:avLst/>
          </a:prstGeom>
          <a:solidFill>
            <a:srgbClr val="FDF8F2"/>
          </a:solidFill>
          <a:ln w="12700">
            <a:solidFill>
              <a:srgbClr val="EDE5D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066544" y="261518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7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 (3–5 yr)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2066544" y="283464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₹18–32 LPA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1975104" y="3127248"/>
            <a:ext cx="166420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2066544" y="316382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7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/ Recruiter Lead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2066544" y="338328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₹9–17 LPA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1975104" y="3675888"/>
            <a:ext cx="1664208" cy="512064"/>
          </a:xfrm>
          <a:prstGeom prst="rect">
            <a:avLst/>
          </a:prstGeom>
          <a:solidFill>
            <a:srgbClr val="FDF8F2"/>
          </a:solidFill>
          <a:ln w="12700">
            <a:solidFill>
              <a:srgbClr val="EDE5D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066544" y="371246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7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Director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2066544" y="393192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₹20–42 LPA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1975104" y="4224528"/>
            <a:ext cx="1664208" cy="384048"/>
          </a:xfrm>
          <a:prstGeom prst="rect">
            <a:avLst/>
          </a:prstGeom>
          <a:solidFill>
            <a:srgbClr val="1E5FA8">
              <a:alpha val="12000"/>
            </a:srgbClr>
          </a:solidFill>
          <a:ln w="12700">
            <a:solidFill>
              <a:srgbClr val="1E5FA8">
                <a:alpha val="4500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048256" y="424281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&amp; pharma boom; HITEC City premiums rising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3749040" y="1115568"/>
            <a:ext cx="1664208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B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3749040" y="1115568"/>
            <a:ext cx="1664208" cy="310896"/>
          </a:xfrm>
          <a:prstGeom prst="rect">
            <a:avLst/>
          </a:prstGeom>
          <a:solidFill>
            <a:srgbClr val="5C6E3E"/>
          </a:solidFill>
          <a:ln w="12700">
            <a:solidFill>
              <a:srgbClr val="5C6E3E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840480" y="1115568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Mumbai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3749040" y="1481328"/>
            <a:ext cx="1664208" cy="512064"/>
          </a:xfrm>
          <a:prstGeom prst="rect">
            <a:avLst/>
          </a:prstGeom>
          <a:solidFill>
            <a:srgbClr val="FDF8F2"/>
          </a:solidFill>
          <a:ln w="12700">
            <a:solidFill>
              <a:srgbClr val="EDE5D8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3840480" y="151790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7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 (3–5 yr)</a:t>
            </a:r>
            <a:endParaRPr lang="en-US" sz="750" dirty="0"/>
          </a:p>
        </p:txBody>
      </p:sp>
      <p:sp>
        <p:nvSpPr>
          <p:cNvPr id="52" name="Text 49"/>
          <p:cNvSpPr/>
          <p:nvPr/>
        </p:nvSpPr>
        <p:spPr>
          <a:xfrm>
            <a:off x="3840480" y="173736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C6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₹16–30 LPA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749040" y="2029968"/>
            <a:ext cx="166420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8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3840480" y="206654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7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 (3–5 yr)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3840480" y="228600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C6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₹22–40 LPA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3749040" y="2578608"/>
            <a:ext cx="1664208" cy="512064"/>
          </a:xfrm>
          <a:prstGeom prst="rect">
            <a:avLst/>
          </a:prstGeom>
          <a:solidFill>
            <a:srgbClr val="FDF8F2"/>
          </a:solidFill>
          <a:ln w="12700">
            <a:solidFill>
              <a:srgbClr val="EDE5D8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3840480" y="261518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7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 (3–5 yr)</a:t>
            </a:r>
            <a:endParaRPr lang="en-US" sz="750" dirty="0"/>
          </a:p>
        </p:txBody>
      </p:sp>
      <p:sp>
        <p:nvSpPr>
          <p:cNvPr id="58" name="Text 55"/>
          <p:cNvSpPr/>
          <p:nvPr/>
        </p:nvSpPr>
        <p:spPr>
          <a:xfrm>
            <a:off x="3840480" y="283464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C6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₹18–35 LPA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3749040" y="3127248"/>
            <a:ext cx="166420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8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3840480" y="316382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7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/ Recruiter Lead</a:t>
            </a:r>
            <a:endParaRPr lang="en-US" sz="750" dirty="0"/>
          </a:p>
        </p:txBody>
      </p:sp>
      <p:sp>
        <p:nvSpPr>
          <p:cNvPr id="61" name="Text 58"/>
          <p:cNvSpPr/>
          <p:nvPr/>
        </p:nvSpPr>
        <p:spPr>
          <a:xfrm>
            <a:off x="3840480" y="338328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C6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₹12–24 LPA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3749040" y="3675888"/>
            <a:ext cx="1664208" cy="512064"/>
          </a:xfrm>
          <a:prstGeom prst="rect">
            <a:avLst/>
          </a:prstGeom>
          <a:solidFill>
            <a:srgbClr val="FDF8F2"/>
          </a:solidFill>
          <a:ln w="12700">
            <a:solidFill>
              <a:srgbClr val="EDE5D8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3840480" y="371246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7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Director</a:t>
            </a:r>
            <a:endParaRPr lang="en-US" sz="750" dirty="0"/>
          </a:p>
        </p:txBody>
      </p:sp>
      <p:sp>
        <p:nvSpPr>
          <p:cNvPr id="64" name="Text 61"/>
          <p:cNvSpPr/>
          <p:nvPr/>
        </p:nvSpPr>
        <p:spPr>
          <a:xfrm>
            <a:off x="3840480" y="393192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C6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₹28–55 LPA</a:t>
            </a:r>
            <a:endParaRPr lang="en-US" sz="950" dirty="0"/>
          </a:p>
        </p:txBody>
      </p:sp>
      <p:sp>
        <p:nvSpPr>
          <p:cNvPr id="65" name="Shape 62"/>
          <p:cNvSpPr/>
          <p:nvPr/>
        </p:nvSpPr>
        <p:spPr>
          <a:xfrm>
            <a:off x="3749040" y="4224528"/>
            <a:ext cx="1664208" cy="384048"/>
          </a:xfrm>
          <a:prstGeom prst="rect">
            <a:avLst/>
          </a:prstGeom>
          <a:solidFill>
            <a:srgbClr val="5C6E3E">
              <a:alpha val="12000"/>
            </a:srgbClr>
          </a:solidFill>
          <a:ln w="12700">
            <a:solidFill>
              <a:srgbClr val="5C6E3E">
                <a:alpha val="45000"/>
              </a:srgbClr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3822192" y="424281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5C6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 leads; FinTech at near-Bengaluru parity</a:t>
            </a:r>
            <a:endParaRPr lang="en-US" sz="700" dirty="0"/>
          </a:p>
        </p:txBody>
      </p:sp>
      <p:sp>
        <p:nvSpPr>
          <p:cNvPr id="67" name="Shape 64"/>
          <p:cNvSpPr/>
          <p:nvPr/>
        </p:nvSpPr>
        <p:spPr>
          <a:xfrm>
            <a:off x="5522976" y="1115568"/>
            <a:ext cx="1664208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B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8" name="Shape 65"/>
          <p:cNvSpPr/>
          <p:nvPr/>
        </p:nvSpPr>
        <p:spPr>
          <a:xfrm>
            <a:off x="5522976" y="1115568"/>
            <a:ext cx="1664208" cy="310896"/>
          </a:xfrm>
          <a:prstGeom prst="rect">
            <a:avLst/>
          </a:prstGeom>
          <a:solidFill>
            <a:srgbClr val="7B4C9E"/>
          </a:solidFill>
          <a:ln w="12700">
            <a:solidFill>
              <a:srgbClr val="7B4C9E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5614416" y="1115568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Delhi NCR</a:t>
            </a:r>
            <a:endParaRPr lang="en-US" sz="1200" dirty="0"/>
          </a:p>
        </p:txBody>
      </p:sp>
      <p:sp>
        <p:nvSpPr>
          <p:cNvPr id="70" name="Shape 67"/>
          <p:cNvSpPr/>
          <p:nvPr/>
        </p:nvSpPr>
        <p:spPr>
          <a:xfrm>
            <a:off x="5522976" y="1481328"/>
            <a:ext cx="1664208" cy="512064"/>
          </a:xfrm>
          <a:prstGeom prst="rect">
            <a:avLst/>
          </a:prstGeom>
          <a:solidFill>
            <a:srgbClr val="FDF8F2"/>
          </a:solidFill>
          <a:ln w="12700">
            <a:solidFill>
              <a:srgbClr val="EDE5D8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5614416" y="151790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7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 (3–5 yr)</a:t>
            </a:r>
            <a:endParaRPr lang="en-US" sz="750" dirty="0"/>
          </a:p>
        </p:txBody>
      </p:sp>
      <p:sp>
        <p:nvSpPr>
          <p:cNvPr id="72" name="Text 69"/>
          <p:cNvSpPr/>
          <p:nvPr/>
        </p:nvSpPr>
        <p:spPr>
          <a:xfrm>
            <a:off x="5614416" y="173736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7B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₹15–28 LPA</a:t>
            </a:r>
            <a:endParaRPr lang="en-US" sz="950" dirty="0"/>
          </a:p>
        </p:txBody>
      </p:sp>
      <p:sp>
        <p:nvSpPr>
          <p:cNvPr id="73" name="Shape 70"/>
          <p:cNvSpPr/>
          <p:nvPr/>
        </p:nvSpPr>
        <p:spPr>
          <a:xfrm>
            <a:off x="5522976" y="2029968"/>
            <a:ext cx="166420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8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5614416" y="206654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7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 (3–5 yr)</a:t>
            </a:r>
            <a:endParaRPr lang="en-US" sz="750" dirty="0"/>
          </a:p>
        </p:txBody>
      </p:sp>
      <p:sp>
        <p:nvSpPr>
          <p:cNvPr id="75" name="Text 72"/>
          <p:cNvSpPr/>
          <p:nvPr/>
        </p:nvSpPr>
        <p:spPr>
          <a:xfrm>
            <a:off x="5614416" y="228600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7B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₹20–38 LPA</a:t>
            </a:r>
            <a:endParaRPr lang="en-US" sz="950" dirty="0"/>
          </a:p>
        </p:txBody>
      </p:sp>
      <p:sp>
        <p:nvSpPr>
          <p:cNvPr id="76" name="Shape 73"/>
          <p:cNvSpPr/>
          <p:nvPr/>
        </p:nvSpPr>
        <p:spPr>
          <a:xfrm>
            <a:off x="5522976" y="2578608"/>
            <a:ext cx="1664208" cy="512064"/>
          </a:xfrm>
          <a:prstGeom prst="rect">
            <a:avLst/>
          </a:prstGeom>
          <a:solidFill>
            <a:srgbClr val="FDF8F2"/>
          </a:solidFill>
          <a:ln w="12700">
            <a:solidFill>
              <a:srgbClr val="EDE5D8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614416" y="261518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7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 (3–5 yr)</a:t>
            </a:r>
            <a:endParaRPr lang="en-US" sz="750" dirty="0"/>
          </a:p>
        </p:txBody>
      </p:sp>
      <p:sp>
        <p:nvSpPr>
          <p:cNvPr id="78" name="Text 75"/>
          <p:cNvSpPr/>
          <p:nvPr/>
        </p:nvSpPr>
        <p:spPr>
          <a:xfrm>
            <a:off x="5614416" y="283464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7B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₹16–30 LPA</a:t>
            </a:r>
            <a:endParaRPr lang="en-US" sz="950" dirty="0"/>
          </a:p>
        </p:txBody>
      </p:sp>
      <p:sp>
        <p:nvSpPr>
          <p:cNvPr id="79" name="Shape 76"/>
          <p:cNvSpPr/>
          <p:nvPr/>
        </p:nvSpPr>
        <p:spPr>
          <a:xfrm>
            <a:off x="5522976" y="3127248"/>
            <a:ext cx="166420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8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5614416" y="316382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7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/ Recruiter Lead</a:t>
            </a:r>
            <a:endParaRPr lang="en-US" sz="750" dirty="0"/>
          </a:p>
        </p:txBody>
      </p:sp>
      <p:sp>
        <p:nvSpPr>
          <p:cNvPr id="81" name="Text 78"/>
          <p:cNvSpPr/>
          <p:nvPr/>
        </p:nvSpPr>
        <p:spPr>
          <a:xfrm>
            <a:off x="5614416" y="338328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7B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₹10–20 LPA</a:t>
            </a:r>
            <a:endParaRPr lang="en-US" sz="950" dirty="0"/>
          </a:p>
        </p:txBody>
      </p:sp>
      <p:sp>
        <p:nvSpPr>
          <p:cNvPr id="82" name="Shape 79"/>
          <p:cNvSpPr/>
          <p:nvPr/>
        </p:nvSpPr>
        <p:spPr>
          <a:xfrm>
            <a:off x="5522976" y="3675888"/>
            <a:ext cx="1664208" cy="512064"/>
          </a:xfrm>
          <a:prstGeom prst="rect">
            <a:avLst/>
          </a:prstGeom>
          <a:solidFill>
            <a:srgbClr val="FDF8F2"/>
          </a:solidFill>
          <a:ln w="12700">
            <a:solidFill>
              <a:srgbClr val="EDE5D8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5614416" y="371246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7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Director</a:t>
            </a:r>
            <a:endParaRPr lang="en-US" sz="750" dirty="0"/>
          </a:p>
        </p:txBody>
      </p:sp>
      <p:sp>
        <p:nvSpPr>
          <p:cNvPr id="84" name="Text 81"/>
          <p:cNvSpPr/>
          <p:nvPr/>
        </p:nvSpPr>
        <p:spPr>
          <a:xfrm>
            <a:off x="5614416" y="393192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7B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₹22–48 LPA</a:t>
            </a:r>
            <a:endParaRPr lang="en-US" sz="950" dirty="0"/>
          </a:p>
        </p:txBody>
      </p:sp>
      <p:sp>
        <p:nvSpPr>
          <p:cNvPr id="85" name="Shape 82"/>
          <p:cNvSpPr/>
          <p:nvPr/>
        </p:nvSpPr>
        <p:spPr>
          <a:xfrm>
            <a:off x="5522976" y="4224528"/>
            <a:ext cx="1664208" cy="384048"/>
          </a:xfrm>
          <a:prstGeom prst="rect">
            <a:avLst/>
          </a:prstGeom>
          <a:solidFill>
            <a:srgbClr val="7B4C9E">
              <a:alpha val="12000"/>
            </a:srgbClr>
          </a:solidFill>
          <a:ln w="12700">
            <a:solidFill>
              <a:srgbClr val="7B4C9E">
                <a:alpha val="45000"/>
              </a:srgbClr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5596128" y="424281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7B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Gurgaon GCCs growing fast; govt-tech surge</a:t>
            </a:r>
            <a:endParaRPr lang="en-US" sz="700" dirty="0"/>
          </a:p>
        </p:txBody>
      </p:sp>
      <p:sp>
        <p:nvSpPr>
          <p:cNvPr id="87" name="Shape 84"/>
          <p:cNvSpPr/>
          <p:nvPr/>
        </p:nvSpPr>
        <p:spPr>
          <a:xfrm>
            <a:off x="7296912" y="1115568"/>
            <a:ext cx="1664208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B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8" name="Shape 85"/>
          <p:cNvSpPr/>
          <p:nvPr/>
        </p:nvSpPr>
        <p:spPr>
          <a:xfrm>
            <a:off x="7296912" y="1115568"/>
            <a:ext cx="1664208" cy="310896"/>
          </a:xfrm>
          <a:prstGeom prst="rect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7388352" y="1115568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Pune</a:t>
            </a:r>
            <a:endParaRPr lang="en-US" sz="1200" dirty="0"/>
          </a:p>
        </p:txBody>
      </p:sp>
      <p:sp>
        <p:nvSpPr>
          <p:cNvPr id="90" name="Shape 87"/>
          <p:cNvSpPr/>
          <p:nvPr/>
        </p:nvSpPr>
        <p:spPr>
          <a:xfrm>
            <a:off x="7296912" y="1481328"/>
            <a:ext cx="1664208" cy="512064"/>
          </a:xfrm>
          <a:prstGeom prst="rect">
            <a:avLst/>
          </a:prstGeom>
          <a:solidFill>
            <a:srgbClr val="FDF8F2"/>
          </a:solidFill>
          <a:ln w="12700">
            <a:solidFill>
              <a:srgbClr val="EDE5D8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7388352" y="151790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7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 (3–5 yr)</a:t>
            </a:r>
            <a:endParaRPr lang="en-US" sz="750" dirty="0"/>
          </a:p>
        </p:txBody>
      </p:sp>
      <p:sp>
        <p:nvSpPr>
          <p:cNvPr id="92" name="Text 89"/>
          <p:cNvSpPr/>
          <p:nvPr/>
        </p:nvSpPr>
        <p:spPr>
          <a:xfrm>
            <a:off x="7388352" y="173736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₹14–25 LPA</a:t>
            </a:r>
            <a:endParaRPr lang="en-US" sz="950" dirty="0"/>
          </a:p>
        </p:txBody>
      </p:sp>
      <p:sp>
        <p:nvSpPr>
          <p:cNvPr id="93" name="Shape 90"/>
          <p:cNvSpPr/>
          <p:nvPr/>
        </p:nvSpPr>
        <p:spPr>
          <a:xfrm>
            <a:off x="7296912" y="2029968"/>
            <a:ext cx="166420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8"/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7388352" y="206654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7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 (3–5 yr)</a:t>
            </a:r>
            <a:endParaRPr lang="en-US" sz="750" dirty="0"/>
          </a:p>
        </p:txBody>
      </p:sp>
      <p:sp>
        <p:nvSpPr>
          <p:cNvPr id="95" name="Text 92"/>
          <p:cNvSpPr/>
          <p:nvPr/>
        </p:nvSpPr>
        <p:spPr>
          <a:xfrm>
            <a:off x="7388352" y="228600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₹16–32 LPA</a:t>
            </a:r>
            <a:endParaRPr lang="en-US" sz="950" dirty="0"/>
          </a:p>
        </p:txBody>
      </p:sp>
      <p:sp>
        <p:nvSpPr>
          <p:cNvPr id="96" name="Shape 93"/>
          <p:cNvSpPr/>
          <p:nvPr/>
        </p:nvSpPr>
        <p:spPr>
          <a:xfrm>
            <a:off x="7296912" y="2578608"/>
            <a:ext cx="1664208" cy="512064"/>
          </a:xfrm>
          <a:prstGeom prst="rect">
            <a:avLst/>
          </a:prstGeom>
          <a:solidFill>
            <a:srgbClr val="FDF8F2"/>
          </a:solidFill>
          <a:ln w="12700">
            <a:solidFill>
              <a:srgbClr val="EDE5D8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7388352" y="261518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7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 (3–5 yr)</a:t>
            </a:r>
            <a:endParaRPr lang="en-US" sz="750" dirty="0"/>
          </a:p>
        </p:txBody>
      </p:sp>
      <p:sp>
        <p:nvSpPr>
          <p:cNvPr id="98" name="Text 95"/>
          <p:cNvSpPr/>
          <p:nvPr/>
        </p:nvSpPr>
        <p:spPr>
          <a:xfrm>
            <a:off x="7388352" y="283464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₹15–28 LPA</a:t>
            </a:r>
            <a:endParaRPr lang="en-US" sz="950" dirty="0"/>
          </a:p>
        </p:txBody>
      </p:sp>
      <p:sp>
        <p:nvSpPr>
          <p:cNvPr id="99" name="Shape 96"/>
          <p:cNvSpPr/>
          <p:nvPr/>
        </p:nvSpPr>
        <p:spPr>
          <a:xfrm>
            <a:off x="7296912" y="3127248"/>
            <a:ext cx="166420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8"/>
            </a:solidFill>
            <a:prstDash val="solid"/>
          </a:ln>
        </p:spPr>
      </p:sp>
      <p:sp>
        <p:nvSpPr>
          <p:cNvPr id="100" name="Text 97"/>
          <p:cNvSpPr/>
          <p:nvPr/>
        </p:nvSpPr>
        <p:spPr>
          <a:xfrm>
            <a:off x="7388352" y="316382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7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/ Recruiter Lead</a:t>
            </a:r>
            <a:endParaRPr lang="en-US" sz="750" dirty="0"/>
          </a:p>
        </p:txBody>
      </p:sp>
      <p:sp>
        <p:nvSpPr>
          <p:cNvPr id="101" name="Text 98"/>
          <p:cNvSpPr/>
          <p:nvPr/>
        </p:nvSpPr>
        <p:spPr>
          <a:xfrm>
            <a:off x="7388352" y="338328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₹8–16 LPA</a:t>
            </a:r>
            <a:endParaRPr lang="en-US" sz="950" dirty="0"/>
          </a:p>
        </p:txBody>
      </p:sp>
      <p:sp>
        <p:nvSpPr>
          <p:cNvPr id="102" name="Shape 99"/>
          <p:cNvSpPr/>
          <p:nvPr/>
        </p:nvSpPr>
        <p:spPr>
          <a:xfrm>
            <a:off x="7296912" y="3675888"/>
            <a:ext cx="1664208" cy="512064"/>
          </a:xfrm>
          <a:prstGeom prst="rect">
            <a:avLst/>
          </a:prstGeom>
          <a:solidFill>
            <a:srgbClr val="FDF8F2"/>
          </a:solidFill>
          <a:ln w="12700">
            <a:solidFill>
              <a:srgbClr val="EDE5D8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7388352" y="371246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7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Director</a:t>
            </a:r>
            <a:endParaRPr lang="en-US" sz="750" dirty="0"/>
          </a:p>
        </p:txBody>
      </p:sp>
      <p:sp>
        <p:nvSpPr>
          <p:cNvPr id="104" name="Text 101"/>
          <p:cNvSpPr/>
          <p:nvPr/>
        </p:nvSpPr>
        <p:spPr>
          <a:xfrm>
            <a:off x="7388352" y="393192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₹18–38 LPA</a:t>
            </a:r>
            <a:endParaRPr lang="en-US" sz="950" dirty="0"/>
          </a:p>
        </p:txBody>
      </p:sp>
      <p:sp>
        <p:nvSpPr>
          <p:cNvPr id="105" name="Shape 102"/>
          <p:cNvSpPr/>
          <p:nvPr/>
        </p:nvSpPr>
        <p:spPr>
          <a:xfrm>
            <a:off x="7296912" y="4224528"/>
            <a:ext cx="1664208" cy="384048"/>
          </a:xfrm>
          <a:prstGeom prst="rect">
            <a:avLst/>
          </a:prstGeom>
          <a:solidFill>
            <a:srgbClr val="B5651D">
              <a:alpha val="12000"/>
            </a:srgbClr>
          </a:solidFill>
          <a:ln w="12700">
            <a:solidFill>
              <a:srgbClr val="B5651D">
                <a:alpha val="45000"/>
              </a:srgbClr>
            </a:solidFill>
            <a:prstDash val="solid"/>
          </a:ln>
        </p:spPr>
      </p:sp>
      <p:sp>
        <p:nvSpPr>
          <p:cNvPr id="106" name="Text 103"/>
          <p:cNvSpPr/>
          <p:nvPr/>
        </p:nvSpPr>
        <p:spPr>
          <a:xfrm>
            <a:off x="7370064" y="424281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10–15% below Bengaluru; auto-tech &amp; IT services</a:t>
            </a:r>
            <a:endParaRPr lang="en-US" sz="700" dirty="0"/>
          </a:p>
        </p:txBody>
      </p:sp>
      <p:sp>
        <p:nvSpPr>
          <p:cNvPr id="107" name="Shape 104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3E0D1C"/>
          </a:solidFill>
          <a:ln w="12700">
            <a:solidFill>
              <a:srgbClr val="3E0D1C"/>
            </a:solidFill>
            <a:prstDash val="solid"/>
          </a:ln>
        </p:spPr>
      </p:sp>
      <p:pic>
        <p:nvPicPr>
          <p:cNvPr id="10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4818888"/>
            <a:ext cx="274320" cy="274320"/>
          </a:xfrm>
          <a:prstGeom prst="rect">
            <a:avLst/>
          </a:prstGeom>
        </p:spPr>
      </p:pic>
      <p:sp>
        <p:nvSpPr>
          <p:cNvPr id="109" name="Text 105"/>
          <p:cNvSpPr/>
          <p:nvPr/>
        </p:nvSpPr>
        <p:spPr>
          <a:xfrm>
            <a:off x="530352" y="4773168"/>
            <a:ext cx="841248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C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ANCHOR RULE:  Always quote the top 25% of the band as your opening number — you can only negotiate down, never up.</a:t>
            </a:r>
            <a:endParaRPr lang="en-US" sz="1000" dirty="0"/>
          </a:p>
        </p:txBody>
      </p:sp>
      <p:sp>
        <p:nvSpPr>
          <p:cNvPr id="110" name="Text 106"/>
          <p:cNvSpPr/>
          <p:nvPr/>
        </p:nvSpPr>
        <p:spPr>
          <a:xfrm>
            <a:off x="8321040" y="481888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E0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9962A"/>
          </a:solidFill>
          <a:ln w="12700">
            <a:solidFill>
              <a:srgbClr val="C9962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46304"/>
            <a:ext cx="566928" cy="530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914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Compensation Negotiation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078992" y="57607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C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is just one lever. Master the full compensation stack to close deals others can't.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20040" y="932688"/>
            <a:ext cx="8503920" cy="27432"/>
          </a:xfrm>
          <a:prstGeom prst="rect">
            <a:avLst/>
          </a:prstGeom>
          <a:solidFill>
            <a:srgbClr val="C9962A">
              <a:alpha val="40000"/>
            </a:srgbClr>
          </a:solidFill>
          <a:ln w="12700">
            <a:solidFill>
              <a:srgbClr val="C9962A">
                <a:alpha val="4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1051560"/>
            <a:ext cx="4160520" cy="1024128"/>
          </a:xfrm>
          <a:prstGeom prst="rect">
            <a:avLst/>
          </a:prstGeom>
          <a:solidFill>
            <a:srgbClr val="200A14"/>
          </a:solidFill>
          <a:ln w="12700">
            <a:solidFill>
              <a:srgbClr val="3A1828"/>
            </a:solidFill>
            <a:prstDash val="solid"/>
          </a:ln>
          <a:effectLst>
            <a:outerShdw blurRad="1524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1051560"/>
            <a:ext cx="54864" cy="1024128"/>
          </a:xfrm>
          <a:prstGeom prst="rect">
            <a:avLst/>
          </a:prstGeom>
          <a:solidFill>
            <a:srgbClr val="C9962A"/>
          </a:solidFill>
          <a:ln w="12700">
            <a:solidFill>
              <a:srgbClr val="C9962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758184" y="1216152"/>
            <a:ext cx="621792" cy="256032"/>
          </a:xfrm>
          <a:prstGeom prst="rect">
            <a:avLst/>
          </a:prstGeom>
          <a:solidFill>
            <a:srgbClr val="C9962A">
              <a:alpha val="22000"/>
            </a:srgbClr>
          </a:solidFill>
          <a:ln w="12700">
            <a:solidFill>
              <a:srgbClr val="C9962A">
                <a:alpha val="5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58184" y="121615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45–55%</a:t>
            </a:r>
            <a:endParaRPr lang="en-US" sz="9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271016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05840" y="114300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9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Salary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005840" y="1472184"/>
            <a:ext cx="3364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B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 foundation. Anchors all future increments. Always negotiate this first and get it in writing before discussing anything else.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663440" y="1051560"/>
            <a:ext cx="4160520" cy="1024128"/>
          </a:xfrm>
          <a:prstGeom prst="rect">
            <a:avLst/>
          </a:prstGeom>
          <a:solidFill>
            <a:srgbClr val="200A14"/>
          </a:solidFill>
          <a:ln w="12700">
            <a:solidFill>
              <a:srgbClr val="3A1828"/>
            </a:solidFill>
            <a:prstDash val="solid"/>
          </a:ln>
          <a:effectLst>
            <a:outerShdw blurRad="1524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63440" y="1051560"/>
            <a:ext cx="54864" cy="1024128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101584" y="1216152"/>
            <a:ext cx="621792" cy="256032"/>
          </a:xfrm>
          <a:prstGeom prst="rect">
            <a:avLst/>
          </a:prstGeom>
          <a:solidFill>
            <a:srgbClr val="9B2335">
              <a:alpha val="22000"/>
            </a:srgbClr>
          </a:solidFill>
          <a:ln w="12700">
            <a:solidFill>
              <a:srgbClr val="9B2335">
                <a:alpha val="55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01584" y="121615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B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10–25%</a:t>
            </a:r>
            <a:endParaRPr lang="en-US" sz="9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271016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49240" y="114300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B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Bonus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349240" y="1472184"/>
            <a:ext cx="3364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B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Clarify: guaranteed vs. discretionary. Get the target % AND maximum cap in writing. Ask: 'What did top performers receive last year?'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320040" y="2240280"/>
            <a:ext cx="4160520" cy="1024128"/>
          </a:xfrm>
          <a:prstGeom prst="rect">
            <a:avLst/>
          </a:prstGeom>
          <a:solidFill>
            <a:srgbClr val="200A14"/>
          </a:solidFill>
          <a:ln w="12700">
            <a:solidFill>
              <a:srgbClr val="3A1828"/>
            </a:solidFill>
            <a:prstDash val="solid"/>
          </a:ln>
          <a:effectLst>
            <a:outerShdw blurRad="1524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20040" y="2240280"/>
            <a:ext cx="54864" cy="1024128"/>
          </a:xfrm>
          <a:prstGeom prst="rect">
            <a:avLst/>
          </a:prstGeom>
          <a:solidFill>
            <a:srgbClr val="7B4C9E"/>
          </a:solidFill>
          <a:ln w="12700">
            <a:solidFill>
              <a:srgbClr val="7B4C9E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3758184" y="2404872"/>
            <a:ext cx="621792" cy="256032"/>
          </a:xfrm>
          <a:prstGeom prst="rect">
            <a:avLst/>
          </a:prstGeom>
          <a:solidFill>
            <a:srgbClr val="7B4C9E">
              <a:alpha val="22000"/>
            </a:srgbClr>
          </a:solidFill>
          <a:ln w="12700">
            <a:solidFill>
              <a:srgbClr val="7B4C9E">
                <a:alpha val="55000"/>
              </a:srgbClr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758184" y="240487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B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15–30%</a:t>
            </a:r>
            <a:endParaRPr lang="en-US" sz="9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2459736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05840" y="233172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B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ESOPs / RSUs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005840" y="2660904"/>
            <a:ext cx="3364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B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Vesting schedule matters most. 4-yr/1-yr cliff is standard. Push for accelerated vesting on acquisition. Always ask for the current valuation.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4663440" y="2240280"/>
            <a:ext cx="4160520" cy="1024128"/>
          </a:xfrm>
          <a:prstGeom prst="rect">
            <a:avLst/>
          </a:prstGeom>
          <a:solidFill>
            <a:srgbClr val="200A14"/>
          </a:solidFill>
          <a:ln w="12700">
            <a:solidFill>
              <a:srgbClr val="3A1828"/>
            </a:solidFill>
            <a:prstDash val="solid"/>
          </a:ln>
          <a:effectLst>
            <a:outerShdw blurRad="1524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663440" y="2240280"/>
            <a:ext cx="54864" cy="1024128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8101584" y="2404872"/>
            <a:ext cx="621792" cy="256032"/>
          </a:xfrm>
          <a:prstGeom prst="rect">
            <a:avLst/>
          </a:prstGeom>
          <a:solidFill>
            <a:srgbClr val="1E5FA8">
              <a:alpha val="22000"/>
            </a:srgbClr>
          </a:solidFill>
          <a:ln w="12700">
            <a:solidFill>
              <a:srgbClr val="1E5FA8">
                <a:alpha val="55000"/>
              </a:srgbClr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8101584" y="240487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1×–2×</a:t>
            </a:r>
            <a:endParaRPr lang="en-US" sz="9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2459736"/>
            <a:ext cx="365760" cy="36576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349240" y="233172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Bonus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5349240" y="2660904"/>
            <a:ext cx="3364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B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the gap if candidate loses unvested ESOPs at current company. Far easier to negotiate than base salary. Present as 'compensation for risk.'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320040" y="3429000"/>
            <a:ext cx="4160520" cy="1024128"/>
          </a:xfrm>
          <a:prstGeom prst="rect">
            <a:avLst/>
          </a:prstGeom>
          <a:solidFill>
            <a:srgbClr val="200A14"/>
          </a:solidFill>
          <a:ln w="12700">
            <a:solidFill>
              <a:srgbClr val="3A1828"/>
            </a:solidFill>
            <a:prstDash val="solid"/>
          </a:ln>
          <a:effectLst>
            <a:outerShdw blurRad="1524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320040" y="3429000"/>
            <a:ext cx="54864" cy="1024128"/>
          </a:xfrm>
          <a:prstGeom prst="rect">
            <a:avLst/>
          </a:prstGeom>
          <a:solidFill>
            <a:srgbClr val="5C6E3E"/>
          </a:solidFill>
          <a:ln w="12700">
            <a:solidFill>
              <a:srgbClr val="5C6E3E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3758184" y="3593592"/>
            <a:ext cx="621792" cy="256032"/>
          </a:xfrm>
          <a:prstGeom prst="rect">
            <a:avLst/>
          </a:prstGeom>
          <a:solidFill>
            <a:srgbClr val="5C6E3E">
              <a:alpha val="22000"/>
            </a:srgbClr>
          </a:solidFill>
          <a:ln w="12700">
            <a:solidFill>
              <a:srgbClr val="5C6E3E">
                <a:alpha val="55000"/>
              </a:srgbClr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3758184" y="359359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C6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8–12%</a:t>
            </a:r>
            <a:endParaRPr lang="en-US" sz="900" dirty="0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" y="3648456"/>
            <a:ext cx="365760" cy="36576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1005840" y="352044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C6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&amp; Perks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1005840" y="3849624"/>
            <a:ext cx="3364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B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WFH equipment budget, health insurance sum insured, leave encashment, meal allowance. Small wins that add ₹1–3L effective value annually.</a:t>
            </a:r>
            <a:endParaRPr lang="en-US" sz="850" dirty="0"/>
          </a:p>
        </p:txBody>
      </p:sp>
      <p:sp>
        <p:nvSpPr>
          <p:cNvPr id="42" name="Shape 34"/>
          <p:cNvSpPr/>
          <p:nvPr/>
        </p:nvSpPr>
        <p:spPr>
          <a:xfrm>
            <a:off x="4663440" y="3429000"/>
            <a:ext cx="4160520" cy="1024128"/>
          </a:xfrm>
          <a:prstGeom prst="rect">
            <a:avLst/>
          </a:prstGeom>
          <a:solidFill>
            <a:srgbClr val="200A14"/>
          </a:solidFill>
          <a:ln w="12700">
            <a:solidFill>
              <a:srgbClr val="3A1828"/>
            </a:solidFill>
            <a:prstDash val="solid"/>
          </a:ln>
          <a:effectLst>
            <a:outerShdw blurRad="1524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4663440" y="3429000"/>
            <a:ext cx="54864" cy="1024128"/>
          </a:xfrm>
          <a:prstGeom prst="rect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8101584" y="3593592"/>
            <a:ext cx="621792" cy="256032"/>
          </a:xfrm>
          <a:prstGeom prst="rect">
            <a:avLst/>
          </a:prstGeom>
          <a:solidFill>
            <a:srgbClr val="B5651D">
              <a:alpha val="22000"/>
            </a:srgbClr>
          </a:solidFill>
          <a:ln w="12700">
            <a:solidFill>
              <a:srgbClr val="B5651D">
                <a:alpha val="55000"/>
              </a:srgbClr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8101584" y="359359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</a:t>
            </a:r>
            <a:endParaRPr lang="en-US" sz="900" dirty="0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3648456"/>
            <a:ext cx="365760" cy="365760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5349240" y="352044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Bonus</a:t>
            </a:r>
            <a:endParaRPr lang="en-US" sz="1200" dirty="0"/>
          </a:p>
        </p:txBody>
      </p:sp>
      <p:sp>
        <p:nvSpPr>
          <p:cNvPr id="48" name="Text 39"/>
          <p:cNvSpPr/>
          <p:nvPr/>
        </p:nvSpPr>
        <p:spPr>
          <a:xfrm>
            <a:off x="5349240" y="3849624"/>
            <a:ext cx="3364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B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if the client can offer this for Year 2. Powerful lever when ESOP cliffs are 2+ years away. Frame it as 'commitment alignment' for both sides.</a:t>
            </a:r>
            <a:endParaRPr lang="en-US" sz="850" dirty="0"/>
          </a:p>
        </p:txBody>
      </p:sp>
      <p:sp>
        <p:nvSpPr>
          <p:cNvPr id="49" name="Shape 40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C9962A"/>
          </a:solidFill>
          <a:ln w="12700">
            <a:solidFill>
              <a:srgbClr val="C9962A"/>
            </a:solidFill>
            <a:prstDash val="solid"/>
          </a:ln>
        </p:spPr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4320" y="4681728"/>
            <a:ext cx="310896" cy="310896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658368" y="4599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E0D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POWER MOVE:</a:t>
            </a:r>
            <a:endParaRPr lang="en-US" sz="1050" dirty="0"/>
          </a:p>
        </p:txBody>
      </p:sp>
      <p:sp>
        <p:nvSpPr>
          <p:cNvPr id="52" name="Text 42"/>
          <p:cNvSpPr/>
          <p:nvPr/>
        </p:nvSpPr>
        <p:spPr>
          <a:xfrm>
            <a:off x="2468880" y="4599432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E0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base is stuck, stack joining bonus + accelerated ESOP vesting + WFH allowance. Present as a single 'effective package' — total comp always wins the conversation.</a:t>
            </a:r>
            <a:endParaRPr lang="en-US" sz="1000" dirty="0"/>
          </a:p>
        </p:txBody>
      </p:sp>
      <p:sp>
        <p:nvSpPr>
          <p:cNvPr id="53" name="Text 43"/>
          <p:cNvSpPr/>
          <p:nvPr/>
        </p:nvSpPr>
        <p:spPr>
          <a:xfrm>
            <a:off x="8321040" y="491947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E0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3E0D1C"/>
          </a:solidFill>
          <a:ln w="12700">
            <a:solidFill>
              <a:srgbClr val="3E0D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1024128"/>
          </a:xfrm>
          <a:prstGeom prst="rect">
            <a:avLst/>
          </a:prstGeom>
          <a:solidFill>
            <a:srgbClr val="C9962A"/>
          </a:solidFill>
          <a:ln w="12700">
            <a:solidFill>
              <a:srgbClr val="C9962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201168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8992" y="91440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Counter-Offer Handling Playbook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78992" y="585216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C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most common negotiation moments — and the exact scripts that close them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56032" y="1115568"/>
            <a:ext cx="427939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B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56032" y="1115568"/>
            <a:ext cx="4279392" cy="54864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93192" y="12070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kern="0" spc="80" dirty="0">
                <a:solidFill>
                  <a:srgbClr val="9B2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THEY SAY: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93192" y="1389888"/>
            <a:ext cx="4050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"That's our maximum budget."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93192" y="1682496"/>
            <a:ext cx="4005072" cy="18288"/>
          </a:xfrm>
          <a:prstGeom prst="rect">
            <a:avLst/>
          </a:prstGeom>
          <a:solidFill>
            <a:srgbClr val="E0D0BE"/>
          </a:solidFill>
          <a:ln w="12700">
            <a:solidFill>
              <a:srgbClr val="E0D0B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93192" y="17373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kern="0" spc="80" dirty="0">
                <a:solidFill>
                  <a:srgbClr val="C99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SAY: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93192" y="1901952"/>
            <a:ext cx="4050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appreciate the transparency. Is the base truly fixed, or is there flexibility in the joining bonus or ESOP grant? Let me re-frame this as a total comp conversation — I think we can find a path that works for everyone."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56032" y="2450592"/>
            <a:ext cx="4279392" cy="237744"/>
          </a:xfrm>
          <a:prstGeom prst="rect">
            <a:avLst/>
          </a:prstGeom>
          <a:solidFill>
            <a:srgbClr val="9B2335">
              <a:alpha val="12000"/>
            </a:srgbClr>
          </a:solidFill>
          <a:ln w="12700">
            <a:solidFill>
              <a:srgbClr val="9B2335">
                <a:alpha val="45000"/>
              </a:srgbClr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2478024"/>
            <a:ext cx="164592" cy="16459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8640" y="2459736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B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yes/no on base → opens 3 new comp levers immediately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4645152" y="1115568"/>
            <a:ext cx="427939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B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45152" y="1115568"/>
            <a:ext cx="4279392" cy="54864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782312" y="12070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kern="0" spc="80" dirty="0">
                <a:solidFill>
                  <a:srgbClr val="1E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THEY SAY: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4782312" y="1389888"/>
            <a:ext cx="4050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candidate has a counter-offer from their current employer."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782312" y="1682496"/>
            <a:ext cx="4005072" cy="18288"/>
          </a:xfrm>
          <a:prstGeom prst="rect">
            <a:avLst/>
          </a:prstGeom>
          <a:solidFill>
            <a:srgbClr val="E0D0BE"/>
          </a:solidFill>
          <a:ln w="12700">
            <a:solidFill>
              <a:srgbClr val="E0D0B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782312" y="17373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kern="0" spc="80" dirty="0">
                <a:solidFill>
                  <a:srgbClr val="C99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SAY: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4782312" y="1901952"/>
            <a:ext cx="4050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"Counter-offers are almost always reactive — companies rarely truly value you until they're about to lose you. What has changed about your current role that wasn't true 6 months ago? The reasons you wanted to move still exist."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4645152" y="2450592"/>
            <a:ext cx="4279392" cy="237744"/>
          </a:xfrm>
          <a:prstGeom prst="rect">
            <a:avLst/>
          </a:prstGeom>
          <a:solidFill>
            <a:srgbClr val="1E5FA8">
              <a:alpha val="12000"/>
            </a:srgbClr>
          </a:solidFill>
          <a:ln w="12700">
            <a:solidFill>
              <a:srgbClr val="1E5FA8">
                <a:alpha val="45000"/>
              </a:srgbClr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2478024"/>
            <a:ext cx="164592" cy="16459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937760" y="2459736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Redirects emotion back to the original motivation for moving</a:t>
            </a:r>
            <a:endParaRPr lang="en-US" sz="800" dirty="0"/>
          </a:p>
        </p:txBody>
      </p:sp>
      <p:sp>
        <p:nvSpPr>
          <p:cNvPr id="27" name="Shape 22"/>
          <p:cNvSpPr/>
          <p:nvPr/>
        </p:nvSpPr>
        <p:spPr>
          <a:xfrm>
            <a:off x="256032" y="2834640"/>
            <a:ext cx="427939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B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256032" y="2834640"/>
            <a:ext cx="4279392" cy="54864"/>
          </a:xfrm>
          <a:prstGeom prst="rect">
            <a:avLst/>
          </a:prstGeom>
          <a:solidFill>
            <a:srgbClr val="7B4C9E"/>
          </a:solidFill>
          <a:ln w="12700">
            <a:solidFill>
              <a:srgbClr val="7B4C9E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393192" y="29260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kern="0" spc="80" dirty="0">
                <a:solidFill>
                  <a:srgbClr val="7B4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THEY SAY:</a:t>
            </a:r>
            <a:endParaRPr lang="en-US" sz="750" dirty="0"/>
          </a:p>
        </p:txBody>
      </p:sp>
      <p:sp>
        <p:nvSpPr>
          <p:cNvPr id="30" name="Text 25"/>
          <p:cNvSpPr/>
          <p:nvPr/>
        </p:nvSpPr>
        <p:spPr>
          <a:xfrm>
            <a:off x="393192" y="3108960"/>
            <a:ext cx="4050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need 10 more days to process the offer internally."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393192" y="3401568"/>
            <a:ext cx="4005072" cy="18288"/>
          </a:xfrm>
          <a:prstGeom prst="rect">
            <a:avLst/>
          </a:prstGeom>
          <a:solidFill>
            <a:srgbClr val="E0D0BE"/>
          </a:solidFill>
          <a:ln w="12700">
            <a:solidFill>
              <a:srgbClr val="E0D0BE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393192" y="34564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kern="0" spc="80" dirty="0">
                <a:solidFill>
                  <a:srgbClr val="C99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SAY:</a:t>
            </a:r>
            <a:endParaRPr lang="en-US" sz="750" dirty="0"/>
          </a:p>
        </p:txBody>
      </p:sp>
      <p:sp>
        <p:nvSpPr>
          <p:cNvPr id="33" name="Text 28"/>
          <p:cNvSpPr/>
          <p:nvPr/>
        </p:nvSpPr>
        <p:spPr>
          <a:xfrm>
            <a:off x="393192" y="3621024"/>
            <a:ext cx="4050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"Completely understood. To protect the candidate's position and keep this clean, could we get a provisional verbal confirmation today? I'll hold everything in place until the formal letter is ready — no pressure on either side."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256032" y="4169664"/>
            <a:ext cx="4279392" cy="237744"/>
          </a:xfrm>
          <a:prstGeom prst="rect">
            <a:avLst/>
          </a:prstGeom>
          <a:solidFill>
            <a:srgbClr val="7B4C9E">
              <a:alpha val="12000"/>
            </a:srgbClr>
          </a:solidFill>
          <a:ln w="12700">
            <a:solidFill>
              <a:srgbClr val="7B4C9E">
                <a:alpha val="45000"/>
              </a:srgbClr>
            </a:solidFill>
            <a:prstDash val="solid"/>
          </a:ln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4197096"/>
            <a:ext cx="164592" cy="164592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48640" y="4178808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B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Secures commitment without creating pressure on the client</a:t>
            </a:r>
            <a:endParaRPr lang="en-US" sz="800" dirty="0"/>
          </a:p>
        </p:txBody>
      </p:sp>
      <p:sp>
        <p:nvSpPr>
          <p:cNvPr id="37" name="Shape 31"/>
          <p:cNvSpPr/>
          <p:nvPr/>
        </p:nvSpPr>
        <p:spPr>
          <a:xfrm>
            <a:off x="4645152" y="2834640"/>
            <a:ext cx="427939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B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4645152" y="2834640"/>
            <a:ext cx="4279392" cy="54864"/>
          </a:xfrm>
          <a:prstGeom prst="rect">
            <a:avLst/>
          </a:prstGeom>
          <a:solidFill>
            <a:srgbClr val="5C6E3E"/>
          </a:solidFill>
          <a:ln w="12700">
            <a:solidFill>
              <a:srgbClr val="5C6E3E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4782312" y="29260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kern="0" spc="80" dirty="0">
                <a:solidFill>
                  <a:srgbClr val="5C6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THEY SAY:</a:t>
            </a:r>
            <a:endParaRPr lang="en-US" sz="750" dirty="0"/>
          </a:p>
        </p:txBody>
      </p:sp>
      <p:sp>
        <p:nvSpPr>
          <p:cNvPr id="40" name="Text 34"/>
          <p:cNvSpPr/>
          <p:nvPr/>
        </p:nvSpPr>
        <p:spPr>
          <a:xfrm>
            <a:off x="4782312" y="3108960"/>
            <a:ext cx="4050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candidate wants ₹5L more than our offer."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4782312" y="3401568"/>
            <a:ext cx="4005072" cy="18288"/>
          </a:xfrm>
          <a:prstGeom prst="rect">
            <a:avLst/>
          </a:prstGeom>
          <a:solidFill>
            <a:srgbClr val="E0D0BE"/>
          </a:solidFill>
          <a:ln w="12700">
            <a:solidFill>
              <a:srgbClr val="E0D0BE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4782312" y="34564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kern="0" spc="80" dirty="0">
                <a:solidFill>
                  <a:srgbClr val="C99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SAY:</a:t>
            </a:r>
            <a:endParaRPr lang="en-US" sz="750" dirty="0"/>
          </a:p>
        </p:txBody>
      </p:sp>
      <p:sp>
        <p:nvSpPr>
          <p:cNvPr id="43" name="Text 37"/>
          <p:cNvSpPr/>
          <p:nvPr/>
        </p:nvSpPr>
        <p:spPr>
          <a:xfrm>
            <a:off x="4782312" y="3621024"/>
            <a:ext cx="4050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"Let's bridge this smartly. A ₹3L joining bonus plus a 6-month performance review with a ₹2L increment trigger matches the ask without changing the salary band. Can I draft this structure for you to approve?"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4645152" y="4169664"/>
            <a:ext cx="4279392" cy="237744"/>
          </a:xfrm>
          <a:prstGeom prst="rect">
            <a:avLst/>
          </a:prstGeom>
          <a:solidFill>
            <a:srgbClr val="5C6E3E">
              <a:alpha val="12000"/>
            </a:srgbClr>
          </a:solidFill>
          <a:ln w="12700">
            <a:solidFill>
              <a:srgbClr val="5C6E3E">
                <a:alpha val="45000"/>
              </a:srgbClr>
            </a:solidFill>
            <a:prstDash val="solid"/>
          </a:ln>
        </p:spPr>
      </p:sp>
      <p:pic>
        <p:nvPicPr>
          <p:cNvPr id="4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4197096"/>
            <a:ext cx="164592" cy="164592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4937760" y="4178808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C6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the gap creatively without breaking comp bands</a:t>
            </a:r>
            <a:endParaRPr lang="en-US" sz="800" dirty="0"/>
          </a:p>
        </p:txBody>
      </p:sp>
      <p:sp>
        <p:nvSpPr>
          <p:cNvPr id="47" name="Shape 40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3E0D1C"/>
          </a:solidFill>
          <a:ln w="12700">
            <a:solidFill>
              <a:srgbClr val="3E0D1C"/>
            </a:solidFill>
            <a:prstDash val="solid"/>
          </a:ln>
        </p:spPr>
      </p:sp>
      <p:pic>
        <p:nvPicPr>
          <p:cNvPr id="4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68" y="4818888"/>
            <a:ext cx="274320" cy="274320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548640" y="4773168"/>
            <a:ext cx="832104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C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 Never negotiate against yourself. Always wait for the other party to speak first. Silence is a negotiation tool — use it.</a:t>
            </a:r>
            <a:endParaRPr lang="en-US" sz="1000" dirty="0"/>
          </a:p>
        </p:txBody>
      </p:sp>
      <p:sp>
        <p:nvSpPr>
          <p:cNvPr id="50" name="Text 42"/>
          <p:cNvSpPr/>
          <p:nvPr/>
        </p:nvSpPr>
        <p:spPr>
          <a:xfrm>
            <a:off x="8321040" y="481888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E0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9962A"/>
          </a:solidFill>
          <a:ln w="12700">
            <a:solidFill>
              <a:srgbClr val="C9962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28016"/>
            <a:ext cx="566928" cy="530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914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Closing Strategies &amp; Offer Letter Blueprint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78992" y="57607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C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4-step verbal close + the anatomy of an offer letter candidates sign the same day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20040" y="932688"/>
            <a:ext cx="8503920" cy="27432"/>
          </a:xfrm>
          <a:prstGeom prst="rect">
            <a:avLst/>
          </a:prstGeom>
          <a:solidFill>
            <a:srgbClr val="C9962A">
              <a:alpha val="38000"/>
            </a:srgbClr>
          </a:solidFill>
          <a:ln w="12700">
            <a:solidFill>
              <a:srgbClr val="C9962A">
                <a:alpha val="38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9875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50" dirty="0">
                <a:solidFill>
                  <a:srgbClr val="E8C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4-STEP VERBAL CLOSE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20040" y="1325880"/>
            <a:ext cx="4370832" cy="749808"/>
          </a:xfrm>
          <a:prstGeom prst="rect">
            <a:avLst/>
          </a:prstGeom>
          <a:solidFill>
            <a:srgbClr val="200A14"/>
          </a:solidFill>
          <a:ln w="12700">
            <a:solidFill>
              <a:srgbClr val="3C1525"/>
            </a:solidFill>
            <a:prstDash val="solid"/>
          </a:ln>
          <a:effectLst>
            <a:outerShdw blurRad="1524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1325880"/>
            <a:ext cx="54864" cy="749808"/>
          </a:xfrm>
          <a:prstGeom prst="rect">
            <a:avLst/>
          </a:prstGeom>
          <a:solidFill>
            <a:srgbClr val="C9962A"/>
          </a:solidFill>
          <a:ln w="12700">
            <a:solidFill>
              <a:srgbClr val="C9962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481328"/>
            <a:ext cx="402336" cy="402336"/>
          </a:xfrm>
          <a:prstGeom prst="ellipse">
            <a:avLst/>
          </a:prstGeom>
          <a:solidFill>
            <a:srgbClr val="C9962A"/>
          </a:solidFill>
          <a:ln w="12700">
            <a:solidFill>
              <a:srgbClr val="C996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E0D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87552" y="1399032"/>
            <a:ext cx="3584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9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Motivation (Before the Offer)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87552" y="1709928"/>
            <a:ext cx="3602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C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 a scale of 1–10, how excited are you about this role right now?" — Must be 7+ to proceed. If below 7, fix the objection first or the offer will fail.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0040" y="2185416"/>
            <a:ext cx="4370832" cy="749808"/>
          </a:xfrm>
          <a:prstGeom prst="rect">
            <a:avLst/>
          </a:prstGeom>
          <a:solidFill>
            <a:srgbClr val="200A14"/>
          </a:solidFill>
          <a:ln w="12700">
            <a:solidFill>
              <a:srgbClr val="3C1525"/>
            </a:solidFill>
            <a:prstDash val="solid"/>
          </a:ln>
          <a:effectLst>
            <a:outerShdw blurRad="1524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" y="2185416"/>
            <a:ext cx="54864" cy="749808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2340864"/>
            <a:ext cx="402336" cy="402336"/>
          </a:xfrm>
          <a:prstGeom prst="ellipse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2340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E0D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87552" y="2258568"/>
            <a:ext cx="3584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B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as a Package, Not a Number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87552" y="2569464"/>
            <a:ext cx="3602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C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total compensation is ₹X — here's the breakdown: ₹Y base, ₹Z joining bonus, ESOP of [N] units over 4 years. This is top 20% for this role in Bengaluru."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20040" y="3044952"/>
            <a:ext cx="4370832" cy="749808"/>
          </a:xfrm>
          <a:prstGeom prst="rect">
            <a:avLst/>
          </a:prstGeom>
          <a:solidFill>
            <a:srgbClr val="200A14"/>
          </a:solidFill>
          <a:ln w="12700">
            <a:solidFill>
              <a:srgbClr val="3C1525"/>
            </a:solidFill>
            <a:prstDash val="solid"/>
          </a:ln>
          <a:effectLst>
            <a:outerShdw blurRad="1524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20040" y="3044952"/>
            <a:ext cx="54864" cy="749808"/>
          </a:xfrm>
          <a:prstGeom prst="rect">
            <a:avLst/>
          </a:prstGeom>
          <a:solidFill>
            <a:srgbClr val="7B4C9E"/>
          </a:solidFill>
          <a:ln w="12700">
            <a:solidFill>
              <a:srgbClr val="7B4C9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" y="3200400"/>
            <a:ext cx="402336" cy="402336"/>
          </a:xfrm>
          <a:prstGeom prst="ellipse">
            <a:avLst/>
          </a:prstGeom>
          <a:solidFill>
            <a:srgbClr val="7B4C9E"/>
          </a:solidFill>
          <a:ln w="12700">
            <a:solidFill>
              <a:srgbClr val="7B4C9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E0D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87552" y="3118104"/>
            <a:ext cx="3584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B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 Objections Before They Arise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987552" y="3429000"/>
            <a:ext cx="3602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C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one thing most candidates ask about is ESOP vesting — let me walk you through the cliff structure now so you have full clarity before you decide."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20040" y="3904488"/>
            <a:ext cx="4370832" cy="749808"/>
          </a:xfrm>
          <a:prstGeom prst="rect">
            <a:avLst/>
          </a:prstGeom>
          <a:solidFill>
            <a:srgbClr val="200A14"/>
          </a:solidFill>
          <a:ln w="12700">
            <a:solidFill>
              <a:srgbClr val="3C1525"/>
            </a:solidFill>
            <a:prstDash val="solid"/>
          </a:ln>
          <a:effectLst>
            <a:outerShdw blurRad="1524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20040" y="3904488"/>
            <a:ext cx="54864" cy="749808"/>
          </a:xfrm>
          <a:prstGeom prst="rect">
            <a:avLst/>
          </a:prstGeom>
          <a:solidFill>
            <a:srgbClr val="2A9D5C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7200" y="4059936"/>
            <a:ext cx="402336" cy="402336"/>
          </a:xfrm>
          <a:prstGeom prst="ellipse">
            <a:avLst/>
          </a:prstGeom>
          <a:solidFill>
            <a:srgbClr val="2A9D5C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7200" y="4059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E0D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987552" y="3977640"/>
            <a:ext cx="3584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the Date, Not the Decision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987552" y="4288536"/>
            <a:ext cx="3602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C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"I'd love your answer by [specific date — 48 hrs]. Not to pressure you — so I can protect your slot and brief the team on both sides. Does that work?"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937760" y="98755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50" dirty="0">
                <a:solidFill>
                  <a:srgbClr val="E8C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LETTER BLUEPRINT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937760" y="1325880"/>
            <a:ext cx="3913632" cy="3474720"/>
          </a:xfrm>
          <a:prstGeom prst="rect">
            <a:avLst/>
          </a:prstGeom>
          <a:solidFill>
            <a:srgbClr val="FDF8F2"/>
          </a:solidFill>
          <a:ln w="12700">
            <a:solidFill>
              <a:srgbClr val="E0D0BE"/>
            </a:solidFill>
            <a:prstDash val="solid"/>
          </a:ln>
          <a:effectLst>
            <a:outerShdw blurRad="1524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937760" y="1325880"/>
            <a:ext cx="3913632" cy="365760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992624" y="1325880"/>
            <a:ext cx="3803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LETTER OF INTENT — CONFIDENTIAL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992624" y="1764792"/>
            <a:ext cx="3785616" cy="219456"/>
          </a:xfrm>
          <a:prstGeom prst="rect">
            <a:avLst/>
          </a:prstGeom>
          <a:solidFill>
            <a:srgbClr val="F4EDE0"/>
          </a:solidFill>
          <a:ln w="12700">
            <a:solidFill>
              <a:srgbClr val="E0D0B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992624" y="1764792"/>
            <a:ext cx="45720" cy="219456"/>
          </a:xfrm>
          <a:prstGeom prst="rect">
            <a:avLst/>
          </a:prstGeom>
          <a:solidFill>
            <a:srgbClr val="C9962A"/>
          </a:solidFill>
          <a:ln w="12700">
            <a:solidFill>
              <a:srgbClr val="C9962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102352" y="17647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50" dirty="0">
                <a:solidFill>
                  <a:srgbClr val="6B1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&amp; ROLE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5047488" y="1993392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[Full Name]  |  [Designation]  |  [Department]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to: [HM Name &amp; Title]   Start Date: [DD/MM/YYYY]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4992624" y="2423160"/>
            <a:ext cx="3785616" cy="219456"/>
          </a:xfrm>
          <a:prstGeom prst="rect">
            <a:avLst/>
          </a:prstGeom>
          <a:solidFill>
            <a:srgbClr val="F4EDE0"/>
          </a:solidFill>
          <a:ln w="12700">
            <a:solidFill>
              <a:srgbClr val="E0D0BE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992624" y="2423160"/>
            <a:ext cx="45720" cy="219456"/>
          </a:xfrm>
          <a:prstGeom prst="rect">
            <a:avLst/>
          </a:prstGeom>
          <a:solidFill>
            <a:srgbClr val="C9962A"/>
          </a:solidFill>
          <a:ln w="12700">
            <a:solidFill>
              <a:srgbClr val="C9962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102352" y="24231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50" dirty="0">
                <a:solidFill>
                  <a:srgbClr val="6B1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COMPENSATION BREAKDOWN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5047488" y="2651760"/>
            <a:ext cx="3730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 ₹[X] p.a. (monthly)   Perf. Bonus: up to [Y]% of base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Bonus: ₹[Z] within 30 days   ESOPs: [N] units 4-yr vest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 Health ₹[amt] | WFH ₹[amt]/mo | Leave encash</a:t>
            </a:r>
            <a:endParaRPr lang="en-US" sz="780" dirty="0"/>
          </a:p>
        </p:txBody>
      </p:sp>
      <p:sp>
        <p:nvSpPr>
          <p:cNvPr id="44" name="Shape 41"/>
          <p:cNvSpPr/>
          <p:nvPr/>
        </p:nvSpPr>
        <p:spPr>
          <a:xfrm>
            <a:off x="4992624" y="3172968"/>
            <a:ext cx="3785616" cy="219456"/>
          </a:xfrm>
          <a:prstGeom prst="rect">
            <a:avLst/>
          </a:prstGeom>
          <a:solidFill>
            <a:srgbClr val="F4EDE0"/>
          </a:solidFill>
          <a:ln w="12700">
            <a:solidFill>
              <a:srgbClr val="E0D0BE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992624" y="3172968"/>
            <a:ext cx="45720" cy="219456"/>
          </a:xfrm>
          <a:prstGeom prst="rect">
            <a:avLst/>
          </a:prstGeom>
          <a:solidFill>
            <a:srgbClr val="C9962A"/>
          </a:solidFill>
          <a:ln w="12700">
            <a:solidFill>
              <a:srgbClr val="C9962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102352" y="31729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50" dirty="0">
                <a:solidFill>
                  <a:srgbClr val="6B1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CONDITIONS &amp; VALIDITY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5047488" y="3401568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to: BGV clearance  |  Reference check  |  Medical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until: [Date — 48–72 hrs]   Notice buyout: up to ₹[X]</a:t>
            </a:r>
            <a:endParaRPr lang="en-US" sz="780" dirty="0"/>
          </a:p>
        </p:txBody>
      </p:sp>
      <p:sp>
        <p:nvSpPr>
          <p:cNvPr id="48" name="Shape 45"/>
          <p:cNvSpPr/>
          <p:nvPr/>
        </p:nvSpPr>
        <p:spPr>
          <a:xfrm>
            <a:off x="4992624" y="3831336"/>
            <a:ext cx="3785616" cy="219456"/>
          </a:xfrm>
          <a:prstGeom prst="rect">
            <a:avLst/>
          </a:prstGeom>
          <a:solidFill>
            <a:srgbClr val="F4EDE0"/>
          </a:solidFill>
          <a:ln w="12700">
            <a:solidFill>
              <a:srgbClr val="E0D0BE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992624" y="3831336"/>
            <a:ext cx="45720" cy="219456"/>
          </a:xfrm>
          <a:prstGeom prst="rect">
            <a:avLst/>
          </a:prstGeom>
          <a:solidFill>
            <a:srgbClr val="C9962A"/>
          </a:solidFill>
          <a:ln w="12700">
            <a:solidFill>
              <a:srgbClr val="C9962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102352" y="383133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50" dirty="0">
                <a:solidFill>
                  <a:srgbClr val="6B1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 &amp; QUERIES</a:t>
            </a:r>
            <a:endParaRPr lang="en-US" sz="750" dirty="0"/>
          </a:p>
        </p:txBody>
      </p:sp>
      <p:sp>
        <p:nvSpPr>
          <p:cNvPr id="51" name="Text 48"/>
          <p:cNvSpPr/>
          <p:nvPr/>
        </p:nvSpPr>
        <p:spPr>
          <a:xfrm>
            <a:off x="5047488" y="4059936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acceptance + scanned ID by [deadline]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Queries: [Recruiter]  |  [email]  |  [mobile]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Countersigned by: [Client HR Authorized Signatory]</a:t>
            </a:r>
            <a:endParaRPr lang="en-US" sz="780" dirty="0"/>
          </a:p>
        </p:txBody>
      </p:sp>
      <p:sp>
        <p:nvSpPr>
          <p:cNvPr id="52" name="Shape 49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9962A"/>
          </a:solidFill>
          <a:ln w="12700">
            <a:solidFill>
              <a:srgbClr val="C9962A"/>
            </a:solidFill>
            <a:prstDash val="solid"/>
          </a:ln>
        </p:spPr>
      </p:sp>
      <p:pic>
        <p:nvPicPr>
          <p:cNvPr id="5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4846320"/>
            <a:ext cx="274320" cy="274320"/>
          </a:xfrm>
          <a:prstGeom prst="rect">
            <a:avLst/>
          </a:prstGeom>
        </p:spPr>
      </p:pic>
      <p:sp>
        <p:nvSpPr>
          <p:cNvPr id="54" name="Text 50"/>
          <p:cNvSpPr/>
          <p:nvPr/>
        </p:nvSpPr>
        <p:spPr>
          <a:xfrm>
            <a:off x="603504" y="4828032"/>
            <a:ext cx="123444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E0D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ROLE-PLAY:</a:t>
            </a:r>
            <a:endParaRPr lang="en-US" sz="1050" dirty="0"/>
          </a:p>
        </p:txBody>
      </p:sp>
      <p:sp>
        <p:nvSpPr>
          <p:cNvPr id="55" name="Text 51"/>
          <p:cNvSpPr/>
          <p:nvPr/>
        </p:nvSpPr>
        <p:spPr>
          <a:xfrm>
            <a:off x="1810512" y="4828032"/>
            <a:ext cx="71323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E0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Pairs: Recruiter extends offer at ₹28L. Candidate counters with ₹33L. Use Steps 01–04 to close within 10 minutes. Debrief: Which step felt hardest and why?</a:t>
            </a:r>
            <a:endParaRPr lang="en-US" sz="1000" dirty="0"/>
          </a:p>
        </p:txBody>
      </p:sp>
      <p:sp>
        <p:nvSpPr>
          <p:cNvPr id="56" name="Text 52"/>
          <p:cNvSpPr/>
          <p:nvPr/>
        </p:nvSpPr>
        <p:spPr>
          <a:xfrm>
            <a:off x="8321040" y="483717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E0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1336</Words>
  <Application>Microsoft Office PowerPoint</Application>
  <PresentationFormat>On-screen Show (16:9)</PresentationFormat>
  <Paragraphs>165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 Black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Salary Negotiation &amp; Offer Closing</dc:title>
  <dc:subject>PptxGenJS Presentation</dc:subject>
  <dc:creator>PptxGenJS</dc:creator>
  <cp:lastModifiedBy>JAGADISH JEEVAN SAI</cp:lastModifiedBy>
  <cp:revision>2</cp:revision>
  <dcterms:created xsi:type="dcterms:W3CDTF">2026-03-31T06:05:36Z</dcterms:created>
  <dcterms:modified xsi:type="dcterms:W3CDTF">2026-03-31T07:09:15Z</dcterms:modified>
</cp:coreProperties>
</file>