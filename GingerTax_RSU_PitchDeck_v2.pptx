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7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250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2.jpe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7.png"/><Relationship Id="rId4" Type="http://schemas.openxmlformats.org/officeDocument/2006/relationships/image" Target="../media/image2.jpe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AA0000">
              <a:alpha val="45000"/>
            </a:srgbClr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7498080" y="457200"/>
            <a:ext cx="2286000" cy="2286000"/>
          </a:xfrm>
          <a:prstGeom prst="ellipse">
            <a:avLst/>
          </a:prstGeom>
          <a:solidFill>
            <a:srgbClr val="FF3333">
              <a:alpha val="25000"/>
            </a:srgbClr>
          </a:solidFill>
          <a:ln w="12700">
            <a:solidFill>
              <a:srgbClr val="FF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5943600" y="3200400"/>
            <a:ext cx="2743200" cy="2743200"/>
          </a:xfrm>
          <a:prstGeom prst="ellipse">
            <a:avLst/>
          </a:prstGeom>
          <a:solidFill>
            <a:srgbClr val="880000">
              <a:alpha val="40000"/>
            </a:srgbClr>
          </a:solidFill>
          <a:ln w="12700">
            <a:solidFill>
              <a:srgbClr val="88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"/>
            <a:ext cx="2560320" cy="1280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1664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kern="0" spc="100" dirty="0">
                <a:solidFill>
                  <a:srgbClr val="FFB3B3"/>
                </a:solidFill>
              </a:rPr>
              <a:t>Simple and significant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02920" y="2084832"/>
            <a:ext cx="41148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502920" y="219456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RSU Taxation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Advisory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502920" y="397764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5D5"/>
                </a:solidFill>
              </a:rPr>
              <a:t>Navigating Restricted Stock Units for Indian Employees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FD5D5"/>
                </a:solidFill>
              </a:rPr>
              <a:t>with Confidence &amp; Full Compliance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858000" y="4736592"/>
            <a:ext cx="2148840" cy="2743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6858000" y="4736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 dirty="0">
                <a:solidFill>
                  <a:srgbClr val="FFFFFF"/>
                </a:solidFill>
              </a:rPr>
              <a:t>CONFIDENTIAL  ·  RSU ADVISORY</a:t>
            </a:r>
            <a:endParaRPr lang="en-US" sz="6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04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0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We'll Cover Today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91440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92608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960120"/>
            <a:ext cx="91440" cy="17830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75488" y="1097280"/>
            <a:ext cx="475488" cy="47548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/>
          <p:nvPr/>
        </p:nvSpPr>
        <p:spPr>
          <a:xfrm>
            <a:off x="475488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1078992" y="1097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</a:rPr>
              <a:t>What is an RSU?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457200" y="1673352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The basics — how RSUs work &amp; tax triggers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3218688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960120"/>
            <a:ext cx="91440" cy="178308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401568" y="1097280"/>
            <a:ext cx="475488" cy="47548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/>
          <p:nvPr/>
        </p:nvSpPr>
        <p:spPr>
          <a:xfrm>
            <a:off x="3401568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4005072" y="1097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</a:rPr>
              <a:t>The 25,000 Notices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3383280" y="1673352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Government crackdown &amp; why employees are at risk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6144768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960120"/>
            <a:ext cx="91440" cy="178308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7648" y="1097280"/>
            <a:ext cx="475488" cy="475488"/>
          </a:xfrm>
          <a:prstGeom prst="ellipse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/>
          <p:nvPr/>
        </p:nvSpPr>
        <p:spPr>
          <a:xfrm>
            <a:off x="6327648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6931152" y="1097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</a:rPr>
              <a:t>Ginger Tax Approach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6309360" y="1673352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Our 5-step proven RSU tax handling method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292608" y="2953512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2953512"/>
            <a:ext cx="91440" cy="178308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75488" y="3090672"/>
            <a:ext cx="475488" cy="475488"/>
          </a:xfrm>
          <a:prstGeom prst="ellipse">
            <a:avLst/>
          </a:prstGeom>
          <a:solidFill>
            <a:srgbClr val="AA2200"/>
          </a:solidFill>
          <a:ln w="12700">
            <a:solidFill>
              <a:srgbClr val="AA2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8"/>
          <p:cNvSpPr/>
          <p:nvPr/>
        </p:nvSpPr>
        <p:spPr>
          <a:xfrm>
            <a:off x="475488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078992" y="3090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</a:rPr>
              <a:t>Engagement Structure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457200" y="3666744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Our advisory tiers &amp; pricing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3218688" y="2953512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2953512"/>
            <a:ext cx="91440" cy="178308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3401568" y="3090672"/>
            <a:ext cx="475488" cy="47548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3"/>
          <p:cNvSpPr/>
          <p:nvPr/>
        </p:nvSpPr>
        <p:spPr>
          <a:xfrm>
            <a:off x="3401568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4005072" y="3090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</a:rPr>
              <a:t>Our Policy Framework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3383280" y="3666744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6 pillars of tax advisory &amp; compliance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6144768" y="2953512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2953512"/>
            <a:ext cx="91440" cy="178308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6327648" y="3090672"/>
            <a:ext cx="475488" cy="47548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28"/>
          <p:cNvSpPr/>
          <p:nvPr/>
        </p:nvSpPr>
        <p:spPr>
          <a:xfrm>
            <a:off x="6327648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9" name="Text 29"/>
          <p:cNvSpPr/>
          <p:nvPr/>
        </p:nvSpPr>
        <p:spPr>
          <a:xfrm>
            <a:off x="6931152" y="3090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</a:rPr>
              <a:t>Our Solution</a:t>
            </a:r>
            <a:endParaRPr lang="en-US" sz="1250" dirty="0"/>
          </a:p>
        </p:txBody>
      </p:sp>
      <p:sp>
        <p:nvSpPr>
          <p:cNvPr id="40" name="Text 30"/>
          <p:cNvSpPr/>
          <p:nvPr/>
        </p:nvSpPr>
        <p:spPr>
          <a:xfrm>
            <a:off x="6309360" y="3666744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End-to-end: from confusion to compliance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04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0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  |  What is a Restricted Stock Unit (RSU)?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185" y="91440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92608" y="960120"/>
            <a:ext cx="4846320" cy="1298448"/>
          </a:xfrm>
          <a:prstGeom prst="rect">
            <a:avLst/>
          </a:prstGeom>
          <a:solidFill>
            <a:srgbClr val="FFE8E8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960120"/>
            <a:ext cx="91440" cy="129844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2920" y="102412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CC0000"/>
                </a:solidFill>
              </a:rPr>
              <a:t>DEFINITION</a:t>
            </a:r>
            <a:endParaRPr lang="en-US" sz="800" dirty="0"/>
          </a:p>
        </p:txBody>
      </p:sp>
      <p:sp>
        <p:nvSpPr>
          <p:cNvPr id="8" name="Text 3"/>
          <p:cNvSpPr/>
          <p:nvPr/>
        </p:nvSpPr>
        <p:spPr>
          <a:xfrm>
            <a:off x="502920" y="1298448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An RSU is a company benefit where employees receive company shares at no cost, after fulfilling a vesting schedule — typically tied to continued employment or performance milestones.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292608" y="2377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6B6B"/>
                </a:solidFill>
              </a:rPr>
              <a:t>HOW IT WORKS — THE RSU LIFECYCLE</a:t>
            </a:r>
            <a:endParaRPr lang="en-US" sz="800" dirty="0"/>
          </a:p>
        </p:txBody>
      </p:sp>
      <p:sp>
        <p:nvSpPr>
          <p:cNvPr id="10" name="Shape 5"/>
          <p:cNvSpPr/>
          <p:nvPr/>
        </p:nvSpPr>
        <p:spPr>
          <a:xfrm>
            <a:off x="365760" y="2724912"/>
            <a:ext cx="475488" cy="47548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6"/>
          <p:cNvSpPr/>
          <p:nvPr/>
        </p:nvSpPr>
        <p:spPr>
          <a:xfrm>
            <a:off x="365760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926080"/>
            <a:ext cx="640080" cy="731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1168" y="32918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0000"/>
                </a:solidFill>
              </a:rPr>
              <a:t>Grant Date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182880" y="358444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</a:rPr>
              <a:t>RSU units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</a:rPr>
              <a:t>granted</a:t>
            </a:r>
            <a:endParaRPr lang="en-US" sz="700" dirty="0"/>
          </a:p>
        </p:txBody>
      </p:sp>
      <p:sp>
        <p:nvSpPr>
          <p:cNvPr id="15" name="Shape 9"/>
          <p:cNvSpPr/>
          <p:nvPr/>
        </p:nvSpPr>
        <p:spPr>
          <a:xfrm>
            <a:off x="1517904" y="2724912"/>
            <a:ext cx="475488" cy="47548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/>
          <p:nvPr/>
        </p:nvSpPr>
        <p:spPr>
          <a:xfrm>
            <a:off x="1517904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926080"/>
            <a:ext cx="640080" cy="731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53312" y="32918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0000"/>
                </a:solidFill>
              </a:rPr>
              <a:t>Vesting Period</a:t>
            </a:r>
            <a:endParaRPr lang="en-US" sz="800" dirty="0"/>
          </a:p>
        </p:txBody>
      </p:sp>
      <p:sp>
        <p:nvSpPr>
          <p:cNvPr id="19" name="Text 12"/>
          <p:cNvSpPr/>
          <p:nvPr/>
        </p:nvSpPr>
        <p:spPr>
          <a:xfrm>
            <a:off x="1335024" y="358444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</a:rPr>
              <a:t>Employment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</a:rPr>
              <a:t>condition met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2670048" y="2724912"/>
            <a:ext cx="475488" cy="47548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4"/>
          <p:cNvSpPr/>
          <p:nvPr/>
        </p:nvSpPr>
        <p:spPr>
          <a:xfrm>
            <a:off x="2615184" y="2670048"/>
            <a:ext cx="585216" cy="585216"/>
          </a:xfrm>
          <a:prstGeom prst="ellipse">
            <a:avLst/>
          </a:prstGeom>
          <a:solidFill>
            <a:srgbClr val="CC0000">
              <a:alpha val="30000"/>
            </a:srgbClr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5"/>
          <p:cNvSpPr/>
          <p:nvPr/>
        </p:nvSpPr>
        <p:spPr>
          <a:xfrm>
            <a:off x="2670048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824" y="2926080"/>
            <a:ext cx="640080" cy="7315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505456" y="32918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0000"/>
                </a:solidFill>
              </a:rPr>
              <a:t>Vesting Date</a:t>
            </a:r>
            <a:endParaRPr lang="en-US" sz="800" dirty="0"/>
          </a:p>
        </p:txBody>
      </p:sp>
      <p:sp>
        <p:nvSpPr>
          <p:cNvPr id="25" name="Text 17"/>
          <p:cNvSpPr/>
          <p:nvPr/>
        </p:nvSpPr>
        <p:spPr>
          <a:xfrm>
            <a:off x="2487168" y="358444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</a:rPr>
              <a:t>Shares transfer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</a:rPr>
              <a:t>— TAXABLE!</a:t>
            </a:r>
            <a:endParaRPr lang="en-US" sz="700" dirty="0"/>
          </a:p>
        </p:txBody>
      </p:sp>
      <p:sp>
        <p:nvSpPr>
          <p:cNvPr id="26" name="Shape 18"/>
          <p:cNvSpPr/>
          <p:nvPr/>
        </p:nvSpPr>
        <p:spPr>
          <a:xfrm>
            <a:off x="3822192" y="2724912"/>
            <a:ext cx="475488" cy="475488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9"/>
          <p:cNvSpPr/>
          <p:nvPr/>
        </p:nvSpPr>
        <p:spPr>
          <a:xfrm>
            <a:off x="3822192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3657600" y="32918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C0000"/>
                </a:solidFill>
              </a:rPr>
              <a:t>Sale Date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3639312" y="358444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</a:rPr>
              <a:t>Capital gain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B6B6B"/>
                </a:solidFill>
              </a:rPr>
              <a:t>or loss</a:t>
            </a:r>
            <a:endParaRPr lang="en-US" sz="7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932688"/>
            <a:ext cx="3566160" cy="39136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504688" y="10424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B3B3"/>
                </a:solidFill>
              </a:rPr>
              <a:t>KEY TAX FACTS FOR INDIA</a:t>
            </a:r>
            <a:endParaRPr lang="en-US" sz="8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1481328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806440" y="144475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Perquisite Tax</a:t>
            </a:r>
            <a:endParaRPr lang="en-US" sz="1000" dirty="0"/>
          </a:p>
        </p:txBody>
      </p:sp>
      <p:sp>
        <p:nvSpPr>
          <p:cNvPr id="34" name="Text 24"/>
          <p:cNvSpPr/>
          <p:nvPr/>
        </p:nvSpPr>
        <p:spPr>
          <a:xfrm>
            <a:off x="5806440" y="171907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D5"/>
                </a:solidFill>
              </a:rPr>
              <a:t>FMV of shares on vesting = salary income (Sec 17(2))</a:t>
            </a:r>
            <a:endParaRPr lang="en-US" sz="85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139696"/>
            <a:ext cx="182880" cy="18288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806440" y="210312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Capital Gains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5806440" y="237744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D5"/>
                </a:solidFill>
              </a:rPr>
              <a:t>STCG (≤24 mo) or LTCG (&gt;24 mo) on sale of shares</a:t>
            </a:r>
            <a:endParaRPr lang="en-US" sz="85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798064"/>
            <a:ext cx="182880" cy="18288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806440" y="276148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TDS Deduction</a:t>
            </a:r>
            <a:endParaRPr lang="en-US" sz="1000" dirty="0"/>
          </a:p>
        </p:txBody>
      </p:sp>
      <p:sp>
        <p:nvSpPr>
          <p:cNvPr id="40" name="Text 28"/>
          <p:cNvSpPr/>
          <p:nvPr/>
        </p:nvSpPr>
        <p:spPr>
          <a:xfrm>
            <a:off x="5806440" y="303580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D5"/>
                </a:solidFill>
              </a:rPr>
              <a:t>Employer must deduct TDS; reflected in Form 16</a:t>
            </a:r>
            <a:endParaRPr lang="en-US" sz="85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3456432"/>
            <a:ext cx="182880" cy="18288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5806440" y="341985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Schedule FA</a:t>
            </a:r>
            <a:endParaRPr lang="en-US" sz="1000" dirty="0"/>
          </a:p>
        </p:txBody>
      </p:sp>
      <p:sp>
        <p:nvSpPr>
          <p:cNvPr id="43" name="Text 30"/>
          <p:cNvSpPr/>
          <p:nvPr/>
        </p:nvSpPr>
        <p:spPr>
          <a:xfrm>
            <a:off x="5806440" y="369417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D5"/>
                </a:solidFill>
              </a:rPr>
              <a:t>Foreign asset disclosure mandatory in your ITR</a:t>
            </a:r>
            <a:endParaRPr lang="en-US" sz="85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4114800"/>
            <a:ext cx="182880" cy="18288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5806440" y="407822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FEMA Compliance</a:t>
            </a:r>
            <a:endParaRPr lang="en-US" sz="1000" dirty="0"/>
          </a:p>
        </p:txBody>
      </p:sp>
      <p:sp>
        <p:nvSpPr>
          <p:cNvPr id="46" name="Text 32"/>
          <p:cNvSpPr/>
          <p:nvPr/>
        </p:nvSpPr>
        <p:spPr>
          <a:xfrm>
            <a:off x="5806440" y="4352544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D5"/>
                </a:solidFill>
              </a:rPr>
              <a:t>RBI/FEMA rules apply on repatriation of proceeds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" y="164592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  |  The 25,000 Government Notices</a:t>
            </a: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1234440" y="67665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B3B3"/>
                </a:solidFill>
              </a:rPr>
              <a:t>A Wake-Up Call for Every RSU Holder in India</a:t>
            </a:r>
            <a:endParaRPr lang="en-US" sz="1100" b="1" dirty="0"/>
          </a:p>
        </p:txBody>
      </p:sp>
      <p:sp>
        <p:nvSpPr>
          <p:cNvPr id="6" name="Shape 2"/>
          <p:cNvSpPr/>
          <p:nvPr/>
        </p:nvSpPr>
        <p:spPr>
          <a:xfrm>
            <a:off x="347472" y="1078992"/>
            <a:ext cx="3154680" cy="2788920"/>
          </a:xfrm>
          <a:prstGeom prst="rect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457200" y="1170432"/>
            <a:ext cx="2926080" cy="2926080"/>
          </a:xfrm>
          <a:prstGeom prst="ellipse">
            <a:avLst/>
          </a:prstGeom>
          <a:solidFill>
            <a:srgbClr val="CC0000">
              <a:alpha val="40000"/>
            </a:srgbClr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347472" y="148132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25,000+</a:t>
            </a:r>
            <a:endParaRPr lang="en-US" sz="5400" dirty="0"/>
          </a:p>
        </p:txBody>
      </p:sp>
      <p:sp>
        <p:nvSpPr>
          <p:cNvPr id="9" name="Text 5"/>
          <p:cNvSpPr/>
          <p:nvPr/>
        </p:nvSpPr>
        <p:spPr>
          <a:xfrm>
            <a:off x="347472" y="261518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D5D5"/>
                </a:solidFill>
              </a:rPr>
              <a:t>Notices Issued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47472" y="298094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5D5"/>
                </a:solidFill>
              </a:rPr>
              <a:t>by Income Tax Dept.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7472" y="33375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9999"/>
                </a:solidFill>
              </a:rPr>
              <a:t>AY 2023–24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703320" y="1078992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078992"/>
            <a:ext cx="91440" cy="640080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768" y="128930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69664" y="1143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Unreported RSU Perquisites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169664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FMV of vested shares not declared as salary income in ITR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3703320" y="1792224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792224"/>
            <a:ext cx="91440" cy="640080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768" y="2002536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169664" y="1856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Missing Schedule FA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4169664" y="21305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Foreign asset disclosures omitted entirely from return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3703320" y="2505456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505456"/>
            <a:ext cx="91440" cy="640080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768" y="2715768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169664" y="25694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TDS/ITR Mismatch</a:t>
            </a:r>
            <a:endParaRPr lang="en-US" sz="1100" dirty="0"/>
          </a:p>
        </p:txBody>
      </p:sp>
      <p:sp>
        <p:nvSpPr>
          <p:cNvPr id="26" name="Text 16"/>
          <p:cNvSpPr/>
          <p:nvPr/>
        </p:nvSpPr>
        <p:spPr>
          <a:xfrm>
            <a:off x="4169664" y="28437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AIS data vs Form 16 mismatch flagged by automated AIS system</a:t>
            </a:r>
            <a:endParaRPr lang="en-US" sz="900" dirty="0"/>
          </a:p>
        </p:txBody>
      </p:sp>
      <p:sp>
        <p:nvSpPr>
          <p:cNvPr id="27" name="Shape 17"/>
          <p:cNvSpPr/>
          <p:nvPr/>
        </p:nvSpPr>
        <p:spPr>
          <a:xfrm>
            <a:off x="3703320" y="3218688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218688"/>
            <a:ext cx="91440" cy="640080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768" y="3429000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4169664" y="32826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Capital Gains Omission</a:t>
            </a:r>
            <a:endParaRPr lang="en-US" sz="1100" dirty="0"/>
          </a:p>
        </p:txBody>
      </p:sp>
      <p:sp>
        <p:nvSpPr>
          <p:cNvPr id="31" name="Text 19"/>
          <p:cNvSpPr/>
          <p:nvPr/>
        </p:nvSpPr>
        <p:spPr>
          <a:xfrm>
            <a:off x="4169664" y="35570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Gains/losses on RSU sales missing from Capital Gains schedule</a:t>
            </a:r>
            <a:endParaRPr lang="en-US" sz="900" dirty="0"/>
          </a:p>
        </p:txBody>
      </p:sp>
      <p:sp>
        <p:nvSpPr>
          <p:cNvPr id="32" name="Shape 20"/>
          <p:cNvSpPr/>
          <p:nvPr/>
        </p:nvSpPr>
        <p:spPr>
          <a:xfrm>
            <a:off x="0" y="4005072"/>
            <a:ext cx="9144000" cy="498348"/>
          </a:xfrm>
          <a:prstGeom prst="rect">
            <a:avLst/>
          </a:prstGeom>
          <a:solidFill>
            <a:srgbClr val="5B0000"/>
          </a:solidFill>
          <a:ln w="12700">
            <a:solidFill>
              <a:srgbClr val="5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1"/>
          <p:cNvSpPr/>
          <p:nvPr/>
        </p:nvSpPr>
        <p:spPr>
          <a:xfrm>
            <a:off x="0" y="4005072"/>
            <a:ext cx="9144000" cy="7315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2"/>
          <p:cNvSpPr/>
          <p:nvPr/>
        </p:nvSpPr>
        <p:spPr>
          <a:xfrm>
            <a:off x="274320" y="4005072"/>
            <a:ext cx="859536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D5"/>
                </a:solidFill>
              </a:rPr>
              <a:t>⚠   PENALTY EXPOSURE: 50%–200% of tax evaded + interest under Sections 270A, 234A/B/C — Don't wait.</a:t>
            </a:r>
            <a:endParaRPr lang="en-US" sz="1100" dirty="0"/>
          </a:p>
        </p:txBody>
      </p:sp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CEFF1C20-7F2E-2766-100E-0227395C00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9185" y="91440"/>
            <a:ext cx="1005840" cy="502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04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0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 |  How Ginger Tax Deals with RSU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91440"/>
            <a:ext cx="100584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4048" y="87782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6B6B6B"/>
                </a:solidFill>
              </a:rPr>
              <a:t>Our end-to-end RSU tax management process — from first document to final resolution:</a:t>
            </a:r>
            <a:endParaRPr lang="en-US" sz="1100" b="1" dirty="0"/>
          </a:p>
        </p:txBody>
      </p:sp>
      <p:sp>
        <p:nvSpPr>
          <p:cNvPr id="6" name="Shape 2"/>
          <p:cNvSpPr/>
          <p:nvPr/>
        </p:nvSpPr>
        <p:spPr>
          <a:xfrm>
            <a:off x="256032" y="1298448"/>
            <a:ext cx="1600200" cy="34290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298448"/>
            <a:ext cx="1600200" cy="80467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1417320"/>
            <a:ext cx="457200" cy="4572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56032" y="21579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CC0000"/>
                </a:solidFill>
              </a:rPr>
              <a:t>STEP 1</a:t>
            </a:r>
            <a:endParaRPr lang="en-US" sz="700" dirty="0"/>
          </a:p>
        </p:txBody>
      </p:sp>
      <p:sp>
        <p:nvSpPr>
          <p:cNvPr id="10" name="Text 4"/>
          <p:cNvSpPr/>
          <p:nvPr/>
        </p:nvSpPr>
        <p:spPr>
          <a:xfrm>
            <a:off x="310896" y="2395728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Deep Dive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Discovery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347472" y="29992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• </a:t>
            </a:r>
            <a:r>
              <a:rPr lang="en-US" sz="800" dirty="0">
                <a:solidFill>
                  <a:srgbClr val="6B6B6B"/>
                </a:solidFill>
              </a:rPr>
              <a:t>Collect RSU grant letters &amp; broker statements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347472" y="35478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• </a:t>
            </a:r>
            <a:r>
              <a:rPr lang="en-US" sz="800" dirty="0">
                <a:solidFill>
                  <a:srgbClr val="6B6B6B"/>
                </a:solidFill>
              </a:rPr>
              <a:t>Identify vesting &amp; sale events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347472" y="40965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• </a:t>
            </a:r>
            <a:r>
              <a:rPr lang="en-US" sz="800" dirty="0">
                <a:solidFill>
                  <a:srgbClr val="6B6B6B"/>
                </a:solidFill>
              </a:rPr>
              <a:t>Map AIS / Form 26AS data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520" y="2487168"/>
            <a:ext cx="109728" cy="128016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993392" y="1298448"/>
            <a:ext cx="1600200" cy="34290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1298448"/>
            <a:ext cx="1600200" cy="804672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1417320"/>
            <a:ext cx="457200" cy="4572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993392" y="21579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CC0000"/>
                </a:solidFill>
              </a:rPr>
              <a:t>STEP 2</a:t>
            </a:r>
            <a:endParaRPr lang="en-US" sz="700" dirty="0"/>
          </a:p>
        </p:txBody>
      </p:sp>
      <p:sp>
        <p:nvSpPr>
          <p:cNvPr id="19" name="Text 10"/>
          <p:cNvSpPr/>
          <p:nvPr/>
        </p:nvSpPr>
        <p:spPr>
          <a:xfrm>
            <a:off x="2048256" y="2395728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Perquisite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Computation</a:t>
            </a:r>
            <a:endParaRPr lang="en-US" sz="950" dirty="0"/>
          </a:p>
        </p:txBody>
      </p:sp>
      <p:sp>
        <p:nvSpPr>
          <p:cNvPr id="20" name="Text 11"/>
          <p:cNvSpPr/>
          <p:nvPr/>
        </p:nvSpPr>
        <p:spPr>
          <a:xfrm>
            <a:off x="2084832" y="29992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• </a:t>
            </a:r>
            <a:r>
              <a:rPr lang="en-US" sz="800" dirty="0">
                <a:solidFill>
                  <a:srgbClr val="6B6B6B"/>
                </a:solidFill>
              </a:rPr>
              <a:t>Compute FMV on each vesting date</a:t>
            </a:r>
            <a:endParaRPr lang="en-US" sz="800" dirty="0"/>
          </a:p>
        </p:txBody>
      </p:sp>
      <p:sp>
        <p:nvSpPr>
          <p:cNvPr id="21" name="Text 12"/>
          <p:cNvSpPr/>
          <p:nvPr/>
        </p:nvSpPr>
        <p:spPr>
          <a:xfrm>
            <a:off x="2084832" y="35478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• </a:t>
            </a:r>
            <a:r>
              <a:rPr lang="en-US" sz="800" dirty="0">
                <a:solidFill>
                  <a:srgbClr val="6B6B6B"/>
                </a:solidFill>
              </a:rPr>
              <a:t>Correct salary addition amount</a:t>
            </a:r>
            <a:endParaRPr lang="en-US" sz="800" dirty="0"/>
          </a:p>
        </p:txBody>
      </p:sp>
      <p:sp>
        <p:nvSpPr>
          <p:cNvPr id="22" name="Text 13"/>
          <p:cNvSpPr/>
          <p:nvPr/>
        </p:nvSpPr>
        <p:spPr>
          <a:xfrm>
            <a:off x="2084832" y="40965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• </a:t>
            </a:r>
            <a:r>
              <a:rPr lang="en-US" sz="800" dirty="0">
                <a:solidFill>
                  <a:srgbClr val="6B6B6B"/>
                </a:solidFill>
              </a:rPr>
              <a:t>Reconcile with Form 16</a:t>
            </a:r>
            <a:endParaRPr lang="en-US" sz="8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2487168"/>
            <a:ext cx="109728" cy="128016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3730752" y="1298448"/>
            <a:ext cx="1600200" cy="34290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752" y="1298448"/>
            <a:ext cx="1600200" cy="804672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1417320"/>
            <a:ext cx="457200" cy="4572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3730752" y="21579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CC0000"/>
                </a:solidFill>
              </a:rPr>
              <a:t>STEP 3</a:t>
            </a:r>
            <a:endParaRPr lang="en-US" sz="700" dirty="0"/>
          </a:p>
        </p:txBody>
      </p:sp>
      <p:sp>
        <p:nvSpPr>
          <p:cNvPr id="28" name="Text 16"/>
          <p:cNvSpPr/>
          <p:nvPr/>
        </p:nvSpPr>
        <p:spPr>
          <a:xfrm>
            <a:off x="3785616" y="2395728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Capital Gains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Analysis</a:t>
            </a:r>
            <a:endParaRPr lang="en-US" sz="950" dirty="0"/>
          </a:p>
        </p:txBody>
      </p:sp>
      <p:sp>
        <p:nvSpPr>
          <p:cNvPr id="29" name="Text 17"/>
          <p:cNvSpPr/>
          <p:nvPr/>
        </p:nvSpPr>
        <p:spPr>
          <a:xfrm>
            <a:off x="3822192" y="29992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• </a:t>
            </a:r>
            <a:r>
              <a:rPr lang="en-US" sz="800" dirty="0">
                <a:solidFill>
                  <a:srgbClr val="6B6B6B"/>
                </a:solidFill>
              </a:rPr>
              <a:t>STCG vs LTCG classification</a:t>
            </a:r>
            <a:endParaRPr lang="en-US" sz="800" dirty="0"/>
          </a:p>
        </p:txBody>
      </p:sp>
      <p:sp>
        <p:nvSpPr>
          <p:cNvPr id="30" name="Text 18"/>
          <p:cNvSpPr/>
          <p:nvPr/>
        </p:nvSpPr>
        <p:spPr>
          <a:xfrm>
            <a:off x="3822192" y="35478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• </a:t>
            </a:r>
            <a:r>
              <a:rPr lang="en-US" sz="800" dirty="0">
                <a:solidFill>
                  <a:srgbClr val="6B6B6B"/>
                </a:solidFill>
              </a:rPr>
              <a:t>Cost basis computation</a:t>
            </a:r>
            <a:endParaRPr lang="en-US" sz="800" dirty="0"/>
          </a:p>
        </p:txBody>
      </p:sp>
      <p:sp>
        <p:nvSpPr>
          <p:cNvPr id="31" name="Text 19"/>
          <p:cNvSpPr/>
          <p:nvPr/>
        </p:nvSpPr>
        <p:spPr>
          <a:xfrm>
            <a:off x="3822192" y="40965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• </a:t>
            </a:r>
            <a:r>
              <a:rPr lang="en-US" sz="800" dirty="0">
                <a:solidFill>
                  <a:srgbClr val="6B6B6B"/>
                </a:solidFill>
              </a:rPr>
              <a:t>Foreign vs domestic rules</a:t>
            </a:r>
            <a:endParaRPr lang="en-US" sz="8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2487168"/>
            <a:ext cx="109728" cy="128016"/>
          </a:xfrm>
          <a:prstGeom prst="rect">
            <a:avLst/>
          </a:prstGeom>
        </p:spPr>
      </p:pic>
      <p:sp>
        <p:nvSpPr>
          <p:cNvPr id="33" name="Shape 20"/>
          <p:cNvSpPr/>
          <p:nvPr/>
        </p:nvSpPr>
        <p:spPr>
          <a:xfrm>
            <a:off x="5468112" y="1298448"/>
            <a:ext cx="1600200" cy="34290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298448"/>
            <a:ext cx="1600200" cy="804672"/>
          </a:xfrm>
          <a:prstGeom prst="rect">
            <a:avLst/>
          </a:prstGeom>
        </p:spPr>
      </p:pic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1417320"/>
            <a:ext cx="457200" cy="45720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468112" y="21579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CC0000"/>
                </a:solidFill>
              </a:rPr>
              <a:t>STEP 4</a:t>
            </a:r>
            <a:endParaRPr lang="en-US" sz="700" dirty="0"/>
          </a:p>
        </p:txBody>
      </p:sp>
      <p:sp>
        <p:nvSpPr>
          <p:cNvPr id="37" name="Text 22"/>
          <p:cNvSpPr/>
          <p:nvPr/>
        </p:nvSpPr>
        <p:spPr>
          <a:xfrm>
            <a:off x="5522976" y="2395728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ITR Filing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FA Schedule</a:t>
            </a:r>
            <a:endParaRPr lang="en-US" sz="950" dirty="0"/>
          </a:p>
        </p:txBody>
      </p:sp>
      <p:sp>
        <p:nvSpPr>
          <p:cNvPr id="38" name="Text 23"/>
          <p:cNvSpPr/>
          <p:nvPr/>
        </p:nvSpPr>
        <p:spPr>
          <a:xfrm>
            <a:off x="5559552" y="29992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• </a:t>
            </a:r>
            <a:r>
              <a:rPr lang="en-US" sz="800" dirty="0">
                <a:solidFill>
                  <a:srgbClr val="6B6B6B"/>
                </a:solidFill>
              </a:rPr>
              <a:t>File correct ITR-2 / ITR-3</a:t>
            </a:r>
            <a:endParaRPr lang="en-US" sz="800" dirty="0"/>
          </a:p>
        </p:txBody>
      </p:sp>
      <p:sp>
        <p:nvSpPr>
          <p:cNvPr id="39" name="Text 24"/>
          <p:cNvSpPr/>
          <p:nvPr/>
        </p:nvSpPr>
        <p:spPr>
          <a:xfrm>
            <a:off x="5559552" y="35478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• </a:t>
            </a:r>
            <a:r>
              <a:rPr lang="en-US" sz="800" dirty="0">
                <a:solidFill>
                  <a:srgbClr val="6B6B6B"/>
                </a:solidFill>
              </a:rPr>
              <a:t>Schedule FA foreign assets</a:t>
            </a:r>
            <a:endParaRPr lang="en-US" sz="800" dirty="0"/>
          </a:p>
        </p:txBody>
      </p:sp>
      <p:sp>
        <p:nvSpPr>
          <p:cNvPr id="40" name="Text 25"/>
          <p:cNvSpPr/>
          <p:nvPr/>
        </p:nvSpPr>
        <p:spPr>
          <a:xfrm>
            <a:off x="5559552" y="40965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• </a:t>
            </a:r>
            <a:r>
              <a:rPr lang="en-US" sz="800" dirty="0">
                <a:solidFill>
                  <a:srgbClr val="6B6B6B"/>
                </a:solidFill>
              </a:rPr>
              <a:t>DTAA / FEMA compliance</a:t>
            </a:r>
            <a:endParaRPr lang="en-US" sz="8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487168"/>
            <a:ext cx="109728" cy="128016"/>
          </a:xfrm>
          <a:prstGeom prst="rect">
            <a:avLst/>
          </a:prstGeom>
        </p:spPr>
      </p:pic>
      <p:sp>
        <p:nvSpPr>
          <p:cNvPr id="42" name="Shape 26"/>
          <p:cNvSpPr/>
          <p:nvPr/>
        </p:nvSpPr>
        <p:spPr>
          <a:xfrm>
            <a:off x="7205472" y="1298448"/>
            <a:ext cx="1600200" cy="34290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298448"/>
            <a:ext cx="1600200" cy="804672"/>
          </a:xfrm>
          <a:prstGeom prst="rect">
            <a:avLst/>
          </a:prstGeom>
        </p:spPr>
      </p:pic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0" y="1417320"/>
            <a:ext cx="457200" cy="457200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7205472" y="21579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CC0000"/>
                </a:solidFill>
              </a:rPr>
              <a:t>STEP 5</a:t>
            </a:r>
            <a:endParaRPr lang="en-US" sz="700" dirty="0"/>
          </a:p>
        </p:txBody>
      </p:sp>
      <p:sp>
        <p:nvSpPr>
          <p:cNvPr id="46" name="Text 28"/>
          <p:cNvSpPr/>
          <p:nvPr/>
        </p:nvSpPr>
        <p:spPr>
          <a:xfrm>
            <a:off x="7260336" y="2395728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Notice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</a:rPr>
              <a:t>Handling</a:t>
            </a:r>
            <a:endParaRPr lang="en-US" sz="950" dirty="0"/>
          </a:p>
        </p:txBody>
      </p:sp>
      <p:sp>
        <p:nvSpPr>
          <p:cNvPr id="47" name="Text 29"/>
          <p:cNvSpPr/>
          <p:nvPr/>
        </p:nvSpPr>
        <p:spPr>
          <a:xfrm>
            <a:off x="7296912" y="29992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• </a:t>
            </a:r>
            <a:r>
              <a:rPr lang="en-US" sz="800" dirty="0">
                <a:solidFill>
                  <a:srgbClr val="6B6B6B"/>
                </a:solidFill>
              </a:rPr>
              <a:t>Draft notice responses</a:t>
            </a:r>
            <a:endParaRPr lang="en-US" sz="800" dirty="0"/>
          </a:p>
        </p:txBody>
      </p:sp>
      <p:sp>
        <p:nvSpPr>
          <p:cNvPr id="48" name="Text 30"/>
          <p:cNvSpPr/>
          <p:nvPr/>
        </p:nvSpPr>
        <p:spPr>
          <a:xfrm>
            <a:off x="7296912" y="35478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• </a:t>
            </a:r>
            <a:r>
              <a:rPr lang="en-US" sz="800" dirty="0">
                <a:solidFill>
                  <a:srgbClr val="6B6B6B"/>
                </a:solidFill>
              </a:rPr>
              <a:t>Support during scrutiny</a:t>
            </a:r>
            <a:endParaRPr lang="en-US" sz="800" dirty="0"/>
          </a:p>
        </p:txBody>
      </p:sp>
      <p:sp>
        <p:nvSpPr>
          <p:cNvPr id="49" name="Text 31"/>
          <p:cNvSpPr/>
          <p:nvPr/>
        </p:nvSpPr>
        <p:spPr>
          <a:xfrm>
            <a:off x="7296912" y="40965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• </a:t>
            </a:r>
            <a:r>
              <a:rPr lang="en-US" sz="800" dirty="0">
                <a:solidFill>
                  <a:srgbClr val="6B6B6B"/>
                </a:solidFill>
              </a:rPr>
              <a:t>Represent before AO</a:t>
            </a:r>
            <a:endParaRPr lang="en-US" sz="800" dirty="0"/>
          </a:p>
        </p:txBody>
      </p:sp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645152"/>
            <a:ext cx="1280160" cy="438912"/>
          </a:xfrm>
          <a:prstGeom prst="rect">
            <a:avLst/>
          </a:prstGeom>
        </p:spPr>
      </p:pic>
      <p:sp>
        <p:nvSpPr>
          <p:cNvPr id="51" name="Text 32"/>
          <p:cNvSpPr/>
          <p:nvPr/>
        </p:nvSpPr>
        <p:spPr>
          <a:xfrm>
            <a:off x="1600200" y="4709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6B6B"/>
                </a:solidFill>
              </a:rPr>
              <a:t>Simple and significant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04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0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 |  Engagement Structure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91440"/>
            <a:ext cx="1005840" cy="50292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7" y="932688"/>
            <a:ext cx="8641081" cy="123203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233" y="1078992"/>
            <a:ext cx="4385270" cy="3931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39005" y="109800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B3B3"/>
                </a:solidFill>
              </a:rPr>
              <a:t>TIER 1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1113158" y="16006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RSU Health Check and </a:t>
            </a:r>
            <a:endParaRPr lang="en-US" sz="20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Full RSU Filing</a:t>
            </a:r>
            <a:endParaRPr lang="en-US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052283" y="212911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D5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₹5,500 + Taxes</a:t>
            </a:r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356705" y="2835602"/>
            <a:ext cx="2244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5D5"/>
                </a:solidFill>
              </a:rPr>
              <a:t>✓  </a:t>
            </a:r>
            <a:r>
              <a:rPr lang="en-US" sz="900" b="1" dirty="0">
                <a:solidFill>
                  <a:srgbClr val="FFE8E8"/>
                </a:solidFill>
              </a:rPr>
              <a:t>Everything in Tier 1</a:t>
            </a:r>
            <a:endParaRPr lang="en-US" sz="900" b="1" dirty="0"/>
          </a:p>
        </p:txBody>
      </p:sp>
      <p:sp>
        <p:nvSpPr>
          <p:cNvPr id="24" name="Text 18"/>
          <p:cNvSpPr/>
          <p:nvPr/>
        </p:nvSpPr>
        <p:spPr>
          <a:xfrm>
            <a:off x="343139" y="3540175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5D5"/>
                </a:solidFill>
              </a:rPr>
              <a:t>✓  </a:t>
            </a:r>
            <a:r>
              <a:rPr lang="en-US" sz="900" b="1" dirty="0">
                <a:solidFill>
                  <a:srgbClr val="FFE8E8"/>
                </a:solidFill>
              </a:rPr>
              <a:t>Complete ITR-2 / 3 filing</a:t>
            </a:r>
            <a:endParaRPr lang="en-US" sz="900" b="1" dirty="0"/>
          </a:p>
        </p:txBody>
      </p:sp>
      <p:sp>
        <p:nvSpPr>
          <p:cNvPr id="25" name="Text 19"/>
          <p:cNvSpPr/>
          <p:nvPr/>
        </p:nvSpPr>
        <p:spPr>
          <a:xfrm>
            <a:off x="340734" y="31744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5D5"/>
                </a:solidFill>
              </a:rPr>
              <a:t>✓  </a:t>
            </a:r>
            <a:r>
              <a:rPr lang="en-US" sz="900" b="1" dirty="0">
                <a:solidFill>
                  <a:srgbClr val="FFE8E8"/>
                </a:solidFill>
              </a:rPr>
              <a:t>Schedule FA preparation</a:t>
            </a:r>
            <a:endParaRPr lang="en-US" sz="900" b="1" dirty="0"/>
          </a:p>
        </p:txBody>
      </p:sp>
      <p:sp>
        <p:nvSpPr>
          <p:cNvPr id="26" name="Text 20"/>
          <p:cNvSpPr/>
          <p:nvPr/>
        </p:nvSpPr>
        <p:spPr>
          <a:xfrm>
            <a:off x="359984" y="38587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5D5"/>
                </a:solidFill>
              </a:rPr>
              <a:t>✓  </a:t>
            </a:r>
            <a:r>
              <a:rPr lang="en-US" sz="900" b="1" dirty="0">
                <a:solidFill>
                  <a:srgbClr val="FFE8E8"/>
                </a:solidFill>
              </a:rPr>
              <a:t>Perquisite &amp; CG computation</a:t>
            </a:r>
            <a:endParaRPr lang="en-US" sz="900" b="1" dirty="0"/>
          </a:p>
        </p:txBody>
      </p:sp>
      <p:sp>
        <p:nvSpPr>
          <p:cNvPr id="27" name="Text 21"/>
          <p:cNvSpPr/>
          <p:nvPr/>
        </p:nvSpPr>
        <p:spPr>
          <a:xfrm>
            <a:off x="350362" y="42062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5D5"/>
                </a:solidFill>
              </a:rPr>
              <a:t>✓  </a:t>
            </a:r>
            <a:r>
              <a:rPr lang="en-US" sz="900" b="1" dirty="0">
                <a:solidFill>
                  <a:srgbClr val="FFE8E8"/>
                </a:solidFill>
              </a:rPr>
              <a:t>FEMA compliance review</a:t>
            </a:r>
            <a:endParaRPr lang="en-US" sz="900" b="1" dirty="0"/>
          </a:p>
        </p:txBody>
      </p:sp>
      <p:sp>
        <p:nvSpPr>
          <p:cNvPr id="28" name="Text 22"/>
          <p:cNvSpPr/>
          <p:nvPr/>
        </p:nvSpPr>
        <p:spPr>
          <a:xfrm>
            <a:off x="350364" y="45537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5D5"/>
                </a:solidFill>
              </a:rPr>
              <a:t>✓  </a:t>
            </a:r>
            <a:r>
              <a:rPr lang="en-US" sz="900" b="1" dirty="0">
                <a:solidFill>
                  <a:srgbClr val="FFE8E8"/>
                </a:solidFill>
              </a:rPr>
              <a:t>Priority support — 60 days</a:t>
            </a:r>
            <a:endParaRPr lang="en-US" sz="900" b="1" dirty="0"/>
          </a:p>
        </p:txBody>
      </p:sp>
      <p:sp>
        <p:nvSpPr>
          <p:cNvPr id="31" name="Text 24"/>
          <p:cNvSpPr/>
          <p:nvPr/>
        </p:nvSpPr>
        <p:spPr>
          <a:xfrm>
            <a:off x="5509500" y="1059741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6B6B6B"/>
                </a:solidFill>
              </a:rPr>
              <a:t>TIER 2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5599736" y="157180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Notice + Full Service + Further Complications</a:t>
            </a:r>
            <a:endParaRPr lang="en-US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5689974" y="212910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₹10,000 + Taxes</a:t>
            </a:r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5759756" y="28163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✓  </a:t>
            </a:r>
            <a:r>
              <a:rPr lang="en-US" sz="900" dirty="0">
                <a:solidFill>
                  <a:srgbClr val="6B6B6B"/>
                </a:solidFill>
              </a:rPr>
              <a:t>Everything in Tier 2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5779009" y="31638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✓  </a:t>
            </a:r>
            <a:r>
              <a:rPr lang="en-US" sz="900" dirty="0">
                <a:solidFill>
                  <a:srgbClr val="6B6B6B"/>
                </a:solidFill>
              </a:rPr>
              <a:t>Notice response drafting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5788632" y="351129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✓  </a:t>
            </a:r>
            <a:r>
              <a:rPr lang="en-US" sz="900" dirty="0">
                <a:solidFill>
                  <a:srgbClr val="6B6B6B"/>
                </a:solidFill>
              </a:rPr>
              <a:t>AO representation support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5788632" y="38587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✓  </a:t>
            </a:r>
            <a:r>
              <a:rPr lang="en-US" sz="900" dirty="0">
                <a:solidFill>
                  <a:srgbClr val="6B6B6B"/>
                </a:solidFill>
              </a:rPr>
              <a:t>Multi-year remediation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5807884" y="42062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✓  </a:t>
            </a:r>
            <a:r>
              <a:rPr lang="en-US" sz="900" dirty="0">
                <a:solidFill>
                  <a:srgbClr val="6B6B6B"/>
                </a:solidFill>
              </a:rPr>
              <a:t>Penalty mitigation strategy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5817510" y="45537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✓  </a:t>
            </a:r>
            <a:r>
              <a:rPr lang="en-US" sz="900" dirty="0">
                <a:solidFill>
                  <a:srgbClr val="6B6B6B"/>
                </a:solidFill>
              </a:rPr>
              <a:t>Dedicated case manager</a:t>
            </a:r>
            <a:endParaRPr lang="en-US" sz="9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5802DDE0-EECD-9AEF-02F4-B8BD355AB518}"/>
              </a:ext>
            </a:extLst>
          </p:cNvPr>
          <p:cNvSpPr/>
          <p:nvPr/>
        </p:nvSpPr>
        <p:spPr>
          <a:xfrm>
            <a:off x="2667641" y="282549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5D5"/>
                </a:solidFill>
              </a:rPr>
              <a:t>✓ RSU Tax Exposure assessment  </a:t>
            </a:r>
            <a:endParaRPr lang="en-US" sz="900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04EA348C-4304-5A30-87F5-0170A696030A}"/>
              </a:ext>
            </a:extLst>
          </p:cNvPr>
          <p:cNvSpPr/>
          <p:nvPr/>
        </p:nvSpPr>
        <p:spPr>
          <a:xfrm>
            <a:off x="2667640" y="31912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5D5"/>
                </a:solidFill>
              </a:rPr>
              <a:t>✓ AIS / FORM 26AS REVIEW</a:t>
            </a:r>
            <a:endParaRPr lang="en-US" sz="90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7CECF932-344F-0967-40D1-912FAB0FF81D}"/>
              </a:ext>
            </a:extLst>
          </p:cNvPr>
          <p:cNvSpPr/>
          <p:nvPr/>
        </p:nvSpPr>
        <p:spPr>
          <a:xfrm>
            <a:off x="2667641" y="352405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5D5"/>
                </a:solidFill>
              </a:rPr>
              <a:t>✓  </a:t>
            </a:r>
            <a:r>
              <a:rPr lang="en-US" sz="900" b="1" dirty="0">
                <a:solidFill>
                  <a:srgbClr val="FFE8E8"/>
                </a:solidFill>
              </a:rPr>
              <a:t>Gap analysis report</a:t>
            </a:r>
            <a:endParaRPr lang="en-US" sz="90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9EFA0892-CF2F-64E9-1F7F-275D44D52B8A}"/>
              </a:ext>
            </a:extLst>
          </p:cNvPr>
          <p:cNvSpPr/>
          <p:nvPr/>
        </p:nvSpPr>
        <p:spPr>
          <a:xfrm>
            <a:off x="2677268" y="3835667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5D5"/>
                </a:solidFill>
              </a:rPr>
              <a:t>✓  </a:t>
            </a:r>
            <a:r>
              <a:rPr lang="en-US" sz="900" b="1" dirty="0">
                <a:solidFill>
                  <a:srgbClr val="FFE8E8"/>
                </a:solidFill>
              </a:rPr>
              <a:t>Action plan document</a:t>
            </a:r>
            <a:endParaRPr lang="en-US" sz="9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44B5E7F1-5D8E-425C-508F-6E17977A4884}"/>
              </a:ext>
            </a:extLst>
          </p:cNvPr>
          <p:cNvSpPr/>
          <p:nvPr/>
        </p:nvSpPr>
        <p:spPr>
          <a:xfrm>
            <a:off x="2667638" y="41833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5D5"/>
                </a:solidFill>
              </a:rPr>
              <a:t>✓  1 Consultation call of 45 min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04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0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  |  Our Policy Framework for RSU Advisory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185" y="91440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92608" y="960120"/>
            <a:ext cx="4251960" cy="120700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960120"/>
            <a:ext cx="91440" cy="120700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1380744"/>
            <a:ext cx="402336" cy="40233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78992" y="10515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Accuracy-First Filing Policy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078992" y="130759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All RSU perquisite values computed using actual FMV from broker data. No estimates, no shortcuts.</a:t>
            </a:r>
            <a:endParaRPr lang="en-US" sz="9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960120"/>
            <a:ext cx="4251960" cy="1207008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4919472" y="1307592"/>
            <a:ext cx="475488" cy="47548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1335024"/>
            <a:ext cx="402336" cy="40233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541264" y="10515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 Disclosure Mandate</a:t>
            </a:r>
            <a:endParaRPr lang="en-US" sz="1100" dirty="0"/>
          </a:p>
        </p:txBody>
      </p:sp>
      <p:sp>
        <p:nvSpPr>
          <p:cNvPr id="15" name="Text 7"/>
          <p:cNvSpPr/>
          <p:nvPr/>
        </p:nvSpPr>
        <p:spPr>
          <a:xfrm>
            <a:off x="5541264" y="138074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D5"/>
                </a:solidFill>
              </a:rPr>
              <a:t>Every Schedule FA, DTAA benefit, and FEMA transaction documented. Zero tolerance for omissions.</a:t>
            </a:r>
            <a:endParaRPr lang="en-US" sz="900" dirty="0"/>
          </a:p>
        </p:txBody>
      </p:sp>
      <p:sp>
        <p:nvSpPr>
          <p:cNvPr id="16" name="Shape 8"/>
          <p:cNvSpPr/>
          <p:nvPr/>
        </p:nvSpPr>
        <p:spPr>
          <a:xfrm>
            <a:off x="292608" y="2313432"/>
            <a:ext cx="4251960" cy="120700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2313432"/>
            <a:ext cx="91440" cy="1207008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" y="2660904"/>
            <a:ext cx="402336" cy="402336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078992" y="24048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Proactive Notice Defense</a:t>
            </a:r>
            <a:endParaRPr lang="en-US" sz="1100" dirty="0"/>
          </a:p>
        </p:txBody>
      </p:sp>
      <p:sp>
        <p:nvSpPr>
          <p:cNvPr id="21" name="Text 11"/>
          <p:cNvSpPr/>
          <p:nvPr/>
        </p:nvSpPr>
        <p:spPr>
          <a:xfrm>
            <a:off x="1078992" y="258775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Detailed audit trails maintained for every filing. Documentation is ready before a notice arrives.</a:t>
            </a:r>
            <a:endParaRPr lang="en-US" sz="9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313432"/>
            <a:ext cx="4251960" cy="1207008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4919472" y="2660904"/>
            <a:ext cx="475488" cy="47548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6048" y="2688336"/>
            <a:ext cx="402336" cy="402336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541264" y="24048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 Confidentiality</a:t>
            </a:r>
            <a:endParaRPr lang="en-US" sz="1100" dirty="0"/>
          </a:p>
        </p:txBody>
      </p:sp>
      <p:sp>
        <p:nvSpPr>
          <p:cNvPr id="26" name="Text 14"/>
          <p:cNvSpPr/>
          <p:nvPr/>
        </p:nvSpPr>
        <p:spPr>
          <a:xfrm>
            <a:off x="5541264" y="273405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D5"/>
                </a:solidFill>
              </a:rPr>
              <a:t>All data handled under strict NDA. No sharing. Confidentiality protected across all engagement tiers.</a:t>
            </a:r>
            <a:endParaRPr lang="en-US" sz="900" dirty="0"/>
          </a:p>
        </p:txBody>
      </p:sp>
      <p:sp>
        <p:nvSpPr>
          <p:cNvPr id="27" name="Shape 15"/>
          <p:cNvSpPr/>
          <p:nvPr/>
        </p:nvSpPr>
        <p:spPr>
          <a:xfrm>
            <a:off x="292608" y="3666744"/>
            <a:ext cx="4251960" cy="120700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3666744"/>
            <a:ext cx="91440" cy="1207008"/>
          </a:xfrm>
          <a:prstGeom prst="rect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457200" y="4014216"/>
            <a:ext cx="475488" cy="47548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" y="4041648"/>
            <a:ext cx="402336" cy="402336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1078992" y="375818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Multi-Year Remediation</a:t>
            </a:r>
            <a:endParaRPr lang="en-US" sz="1100" dirty="0"/>
          </a:p>
        </p:txBody>
      </p:sp>
      <p:sp>
        <p:nvSpPr>
          <p:cNvPr id="32" name="Text 18"/>
          <p:cNvSpPr/>
          <p:nvPr/>
        </p:nvSpPr>
        <p:spPr>
          <a:xfrm>
            <a:off x="1078992" y="408736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For past non-compliance: revised returns, penalty mitigation strategies, clean slate going forward.</a:t>
            </a:r>
            <a:endParaRPr lang="en-US" sz="9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666744"/>
            <a:ext cx="4251960" cy="1207008"/>
          </a:xfrm>
          <a:prstGeom prst="rect">
            <a:avLst/>
          </a:prstGeom>
        </p:spPr>
      </p:pic>
      <p:sp>
        <p:nvSpPr>
          <p:cNvPr id="34" name="Shape 19"/>
          <p:cNvSpPr/>
          <p:nvPr/>
        </p:nvSpPr>
        <p:spPr>
          <a:xfrm>
            <a:off x="4919472" y="4014216"/>
            <a:ext cx="475488" cy="47548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6048" y="4041648"/>
            <a:ext cx="402336" cy="402336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5541264" y="375818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Continuous Regulatory Monitoring</a:t>
            </a:r>
            <a:endParaRPr lang="en-US" sz="1100" dirty="0"/>
          </a:p>
        </p:txBody>
      </p:sp>
      <p:sp>
        <p:nvSpPr>
          <p:cNvPr id="37" name="Text 21"/>
          <p:cNvSpPr/>
          <p:nvPr/>
        </p:nvSpPr>
        <p:spPr>
          <a:xfrm>
            <a:off x="5541264" y="408736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D5"/>
                </a:solidFill>
              </a:rPr>
              <a:t>Our team tracks CBDT circulars, FEMA amendments, and SEBI guidelines to keep filings current.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7472" y="12801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  |  Our Solution — Problem to Peace of Mind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2194560" y="6217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D5D5"/>
                </a:solidFill>
              </a:rPr>
              <a:t>A structured, 5-phase approach that transforms RSU confusion into confident compliance.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256032" y="1078992"/>
            <a:ext cx="1572768" cy="2971800"/>
          </a:xfrm>
          <a:prstGeom prst="rect">
            <a:avLst/>
          </a:prstGeom>
          <a:solidFill>
            <a:srgbClr val="AA0000">
              <a:alpha val="8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256032" y="1078992"/>
            <a:ext cx="1572768" cy="6400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256032" y="11704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256032" y="186537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B3B3"/>
                </a:solidFill>
              </a:rPr>
              <a:t>RECEIVE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329184" y="2139696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Documents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Data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47472" y="272491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5D5"/>
                </a:solidFill>
              </a:rPr>
              <a:t>RSU grants, broker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D5D5"/>
                </a:solidFill>
              </a:rPr>
              <a:t>statements, AIS, Form 16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1847088" y="2450592"/>
            <a:ext cx="128016" cy="9144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993392" y="1078992"/>
            <a:ext cx="1572768" cy="2971800"/>
          </a:xfrm>
          <a:prstGeom prst="rect">
            <a:avLst/>
          </a:prstGeom>
          <a:solidFill>
            <a:srgbClr val="AA0000">
              <a:alpha val="8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1993392" y="1078992"/>
            <a:ext cx="1572768" cy="6400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1993392" y="11704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1993392" y="186537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B3B3"/>
                </a:solidFill>
              </a:rPr>
              <a:t>ANALYZE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2066544" y="2139696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Computation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084832" y="272491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5D5"/>
                </a:solidFill>
              </a:rPr>
              <a:t>Perquisite + CG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D5D5"/>
                </a:solidFill>
              </a:rPr>
              <a:t>foreign asset mapping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584448" y="2450592"/>
            <a:ext cx="128016" cy="9144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3730752" y="1078992"/>
            <a:ext cx="1572768" cy="2971800"/>
          </a:xfrm>
          <a:prstGeom prst="rect">
            <a:avLst/>
          </a:prstGeom>
          <a:solidFill>
            <a:srgbClr val="AA0000">
              <a:alpha val="8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3730752" y="1078992"/>
            <a:ext cx="1572768" cy="6400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3730752" y="11704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3730752" y="186537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B3B3"/>
                </a:solidFill>
              </a:rPr>
              <a:t>FILE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3803904" y="2139696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Compliant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ITR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3822192" y="272491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5D5"/>
                </a:solidFill>
              </a:rPr>
              <a:t>ITR-2/3, Schedule FA,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D5D5"/>
                </a:solidFill>
              </a:rPr>
              <a:t>DTAA claims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321808" y="2450592"/>
            <a:ext cx="128016" cy="9144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5468112" y="1078992"/>
            <a:ext cx="1572768" cy="2971800"/>
          </a:xfrm>
          <a:prstGeom prst="rect">
            <a:avLst/>
          </a:prstGeom>
          <a:solidFill>
            <a:srgbClr val="AA0000">
              <a:alpha val="8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5468112" y="1078992"/>
            <a:ext cx="1572768" cy="6400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5468112" y="11704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🛡</a:t>
            </a:r>
            <a:endParaRPr lang="en-US" sz="3000" dirty="0"/>
          </a:p>
        </p:txBody>
      </p:sp>
      <p:sp>
        <p:nvSpPr>
          <p:cNvPr id="32" name="Text 28"/>
          <p:cNvSpPr/>
          <p:nvPr/>
        </p:nvSpPr>
        <p:spPr>
          <a:xfrm>
            <a:off x="5468112" y="186537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B3B3"/>
                </a:solidFill>
              </a:rPr>
              <a:t>DEFEND</a:t>
            </a:r>
            <a:endParaRPr lang="en-US" sz="700" dirty="0"/>
          </a:p>
        </p:txBody>
      </p:sp>
      <p:sp>
        <p:nvSpPr>
          <p:cNvPr id="33" name="Text 29"/>
          <p:cNvSpPr/>
          <p:nvPr/>
        </p:nvSpPr>
        <p:spPr>
          <a:xfrm>
            <a:off x="5541264" y="2139696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Resolution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559552" y="272491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5D5"/>
                </a:solidFill>
              </a:rPr>
              <a:t>Response, docs,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D5D5"/>
                </a:solidFill>
              </a:rPr>
              <a:t>representation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7059168" y="2450592"/>
            <a:ext cx="128016" cy="9144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2"/>
          <p:cNvSpPr/>
          <p:nvPr/>
        </p:nvSpPr>
        <p:spPr>
          <a:xfrm>
            <a:off x="7205472" y="1078992"/>
            <a:ext cx="1572768" cy="2971800"/>
          </a:xfrm>
          <a:prstGeom prst="rect">
            <a:avLst/>
          </a:prstGeom>
          <a:solidFill>
            <a:srgbClr val="AA0000">
              <a:alpha val="8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7205472" y="1078992"/>
            <a:ext cx="1572768" cy="64008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7205472" y="11704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39" name="Text 35"/>
          <p:cNvSpPr/>
          <p:nvPr/>
        </p:nvSpPr>
        <p:spPr>
          <a:xfrm>
            <a:off x="7205472" y="186537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B3B3"/>
                </a:solidFill>
              </a:rPr>
              <a:t>SECURE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7278624" y="2139696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Ongoing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7296912" y="272491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D5D5"/>
                </a:solidFill>
              </a:rPr>
              <a:t>Annual reviews,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D5D5"/>
                </a:solidFill>
              </a:rPr>
              <a:t>FEMA, future RSUs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0" y="4169664"/>
            <a:ext cx="9144000" cy="973836"/>
          </a:xfrm>
          <a:prstGeom prst="rect">
            <a:avLst/>
          </a:prstGeom>
          <a:solidFill>
            <a:srgbClr val="5B0000"/>
          </a:solidFill>
          <a:ln w="12700">
            <a:solidFill>
              <a:srgbClr val="5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9"/>
          <p:cNvSpPr/>
          <p:nvPr/>
        </p:nvSpPr>
        <p:spPr>
          <a:xfrm>
            <a:off x="347472" y="4251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B3B3"/>
                </a:solidFill>
              </a:rPr>
              <a:t>WHAT YOU GET: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347472" y="45537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E8E8"/>
                </a:solidFill>
              </a:rPr>
              <a:t>✓  Zero penalty exposure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2121408" y="45537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E8E8"/>
                </a:solidFill>
              </a:rPr>
              <a:t>✓  Full AIS/ITR reconciliation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3895344" y="45537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E8E8"/>
                </a:solidFill>
              </a:rPr>
              <a:t>✓  Foreign asset compliance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669280" y="45537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E8E8"/>
                </a:solidFill>
              </a:rPr>
              <a:t>✓  Notice-ready documentation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7443216" y="45537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E8E8"/>
                </a:solidFill>
              </a:rPr>
              <a:t>✓  Year-round advisory access</a:t>
            </a:r>
            <a:endParaRPr lang="en-US" sz="90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97B0F856-2634-BEEC-94A5-B0AD24242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185" y="91440"/>
            <a:ext cx="1005840" cy="502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04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0"/>
            <a:ext cx="7498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Ginger Tax?  —  Numbers That Speak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91440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92608" y="960120"/>
            <a:ext cx="1965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960120"/>
            <a:ext cx="1965960" cy="914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92608" y="11430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C0000"/>
                </a:solidFill>
              </a:rPr>
              <a:t>500+</a:t>
            </a:r>
            <a:endParaRPr lang="en-US" sz="3800" dirty="0"/>
          </a:p>
        </p:txBody>
      </p:sp>
      <p:sp>
        <p:nvSpPr>
          <p:cNvPr id="8" name="Text 3"/>
          <p:cNvSpPr/>
          <p:nvPr/>
        </p:nvSpPr>
        <p:spPr>
          <a:xfrm>
            <a:off x="292608" y="205740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RSU Cases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Handled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2468880" y="960120"/>
            <a:ext cx="1965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960120"/>
            <a:ext cx="1965960" cy="914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468880" y="11430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C0000"/>
                </a:solidFill>
              </a:rPr>
              <a:t>₹2 Cr+</a:t>
            </a:r>
            <a:endParaRPr lang="en-US" sz="3800" dirty="0"/>
          </a:p>
        </p:txBody>
      </p:sp>
      <p:sp>
        <p:nvSpPr>
          <p:cNvPr id="12" name="Text 6"/>
          <p:cNvSpPr/>
          <p:nvPr/>
        </p:nvSpPr>
        <p:spPr>
          <a:xfrm>
            <a:off x="2468880" y="205740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Penalties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Mitigated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4645152" y="960120"/>
            <a:ext cx="1965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960120"/>
            <a:ext cx="1965960" cy="914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645152" y="11430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C0000"/>
                </a:solidFill>
              </a:rPr>
              <a:t>98%</a:t>
            </a:r>
            <a:endParaRPr lang="en-US" sz="3800" dirty="0"/>
          </a:p>
        </p:txBody>
      </p:sp>
      <p:sp>
        <p:nvSpPr>
          <p:cNvPr id="16" name="Text 9"/>
          <p:cNvSpPr/>
          <p:nvPr/>
        </p:nvSpPr>
        <p:spPr>
          <a:xfrm>
            <a:off x="4645152" y="205740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Notice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Resolution Rate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6821424" y="960120"/>
            <a:ext cx="1965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960120"/>
            <a:ext cx="1965960" cy="914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21424" y="11430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C0000"/>
                </a:solidFill>
              </a:rPr>
              <a:t>5 Yrs</a:t>
            </a:r>
            <a:endParaRPr lang="en-US" sz="3800" dirty="0"/>
          </a:p>
        </p:txBody>
      </p:sp>
      <p:sp>
        <p:nvSpPr>
          <p:cNvPr id="20" name="Text 12"/>
          <p:cNvSpPr/>
          <p:nvPr/>
        </p:nvSpPr>
        <p:spPr>
          <a:xfrm>
            <a:off x="6821424" y="205740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Specialized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RSU Experience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2816352"/>
            <a:ext cx="3063240" cy="2029968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44368"/>
            <a:ext cx="2633472" cy="1325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02920" y="431596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D5D5"/>
                </a:solidFill>
              </a:rPr>
              <a:t>Simple and significant</a:t>
            </a:r>
            <a:endParaRPr lang="en-US" sz="1000" dirty="0"/>
          </a:p>
        </p:txBody>
      </p:sp>
      <p:sp>
        <p:nvSpPr>
          <p:cNvPr id="24" name="Shape 14"/>
          <p:cNvSpPr/>
          <p:nvPr/>
        </p:nvSpPr>
        <p:spPr>
          <a:xfrm>
            <a:off x="3520440" y="2816352"/>
            <a:ext cx="53035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2816352"/>
            <a:ext cx="91440" cy="138988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3730752" y="2889504"/>
            <a:ext cx="4983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1A"/>
                </a:solidFill>
              </a:rPr>
              <a:t>"Ginger Tax found RSU perquisite errors across 3 years and remediated everything before we received any notice. Exceptional work."</a:t>
            </a:r>
            <a:endParaRPr lang="en-US" sz="1050" dirty="0"/>
          </a:p>
        </p:txBody>
      </p:sp>
      <p:sp>
        <p:nvSpPr>
          <p:cNvPr id="27" name="Text 16"/>
          <p:cNvSpPr/>
          <p:nvPr/>
        </p:nvSpPr>
        <p:spPr>
          <a:xfrm>
            <a:off x="3730752" y="37673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0000"/>
                </a:solidFill>
              </a:rPr>
              <a:t>— Senior Engineer, US-listed Tech MNC, Bangalore</a:t>
            </a:r>
            <a:endParaRPr lang="en-US" sz="9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4343400"/>
            <a:ext cx="5303520" cy="6583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611880" y="43434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📞  Free 30-Min Consultation  →  www.gingertax.com  |  hello@gingertax.com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-457200"/>
            <a:ext cx="5486400" cy="5486400"/>
          </a:xfrm>
          <a:prstGeom prst="ellipse">
            <a:avLst/>
          </a:prstGeom>
          <a:solidFill>
            <a:srgbClr val="880000">
              <a:alpha val="40000"/>
            </a:srgbClr>
          </a:solidFill>
          <a:ln w="12700">
            <a:solidFill>
              <a:srgbClr val="88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AA0000">
              <a:alpha val="35000"/>
            </a:srgbClr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48640"/>
            <a:ext cx="4114800" cy="2057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2816352"/>
            <a:ext cx="41148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457200" y="2944368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D5D5"/>
                </a:solidFill>
              </a:rPr>
              <a:t>Your RSU compliance journey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FFD5D5"/>
                </a:solidFill>
              </a:rPr>
              <a:t>starts with one conversation.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3858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🌐  www.gingertax.com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4099401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📞  +91 9611190404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4335217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📍  Bangalore  |  Mumbai  |  Remote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303520" y="1097280"/>
            <a:ext cx="3566160" cy="3520440"/>
          </a:xfrm>
          <a:prstGeom prst="rect">
            <a:avLst/>
          </a:prstGeom>
          <a:solidFill>
            <a:srgbClr val="5B0000"/>
          </a:solidFill>
          <a:ln w="12700">
            <a:solidFill>
              <a:srgbClr val="880000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440680" y="12344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WHY CHOOSE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GINGER TAX?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486400" y="2029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B3"/>
                </a:solidFill>
              </a:rPr>
              <a:t>✓  </a:t>
            </a:r>
            <a:r>
              <a:rPr lang="en-US" sz="1000" dirty="0">
                <a:solidFill>
                  <a:srgbClr val="FFE8E8"/>
                </a:solidFill>
              </a:rPr>
              <a:t>RSU-specialized team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486400" y="24140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B3"/>
                </a:solidFill>
              </a:rPr>
              <a:t>✓  </a:t>
            </a:r>
            <a:r>
              <a:rPr lang="en-US" sz="1000" dirty="0">
                <a:solidFill>
                  <a:srgbClr val="FFE8E8"/>
                </a:solidFill>
              </a:rPr>
              <a:t>Full ITR + FEMA compliance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86400" y="27980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B3"/>
                </a:solidFill>
              </a:rPr>
              <a:t>✓  </a:t>
            </a:r>
            <a:r>
              <a:rPr lang="en-US" sz="1000" dirty="0">
                <a:solidFill>
                  <a:srgbClr val="FFE8E8"/>
                </a:solidFill>
              </a:rPr>
              <a:t>Notice defense included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486400" y="31821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B3"/>
                </a:solidFill>
              </a:rPr>
              <a:t>✓  </a:t>
            </a:r>
            <a:r>
              <a:rPr lang="en-US" sz="1000" dirty="0">
                <a:solidFill>
                  <a:srgbClr val="FFE8E8"/>
                </a:solidFill>
              </a:rPr>
              <a:t>Transparent fixed pricing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486400" y="35661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B3"/>
                </a:solidFill>
              </a:rPr>
              <a:t>✓  </a:t>
            </a:r>
            <a:r>
              <a:rPr lang="en-US" sz="1000" dirty="0">
                <a:solidFill>
                  <a:srgbClr val="FFE8E8"/>
                </a:solidFill>
              </a:rPr>
              <a:t>Multi-year remediation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486400" y="39502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B3"/>
                </a:solidFill>
              </a:rPr>
              <a:t>✓  </a:t>
            </a:r>
            <a:r>
              <a:rPr lang="en-US" sz="1000" dirty="0">
                <a:solidFill>
                  <a:srgbClr val="FFE8E8"/>
                </a:solidFill>
              </a:rPr>
              <a:t>5-star client track record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309360" y="4726004"/>
            <a:ext cx="2560320" cy="256032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6492240" y="4707235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FFFF"/>
                </a:solidFill>
              </a:rPr>
              <a:t>SIMPLE AND SIGNIFICANT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960</Words>
  <Application>Microsoft Office PowerPoint</Application>
  <PresentationFormat>On-screen Show (16:9)</PresentationFormat>
  <Paragraphs>221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ADLaM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Ginger Tax — RSU Advisory Pitch</dc:title>
  <dc:subject>PptxGenJS Presentation</dc:subject>
  <dc:creator>PptxGenJS</dc:creator>
  <cp:lastModifiedBy>JAGADISH JEEVAN SAI</cp:lastModifiedBy>
  <cp:revision>5</cp:revision>
  <dcterms:created xsi:type="dcterms:W3CDTF">2026-05-27T05:39:37Z</dcterms:created>
  <dcterms:modified xsi:type="dcterms:W3CDTF">2026-05-31T13:23:52Z</dcterms:modified>
</cp:coreProperties>
</file>