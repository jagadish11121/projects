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Funtastic" panose="020B0604020202020204" charset="0"/>
      <p:regular r:id="rId7"/>
    </p:embeddedFont>
    <p:embeddedFont>
      <p:font typeface="Open Sans" panose="020B0606030504020204" pitchFamily="34" charset="0"/>
      <p:regular r:id="rId8"/>
    </p:embeddedFont>
    <p:embeddedFont>
      <p:font typeface="Open Sans Bold" panose="020B0604020202020204" charset="0"/>
      <p:regular r:id="rId9"/>
    </p:embeddedFont>
    <p:embeddedFont>
      <p:font typeface="Open Sans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3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875563">
            <a:off x="13274988" y="-3042772"/>
            <a:ext cx="6315187" cy="6085544"/>
          </a:xfrm>
          <a:custGeom>
            <a:avLst/>
            <a:gdLst/>
            <a:ahLst/>
            <a:cxnLst/>
            <a:rect l="l" t="t" r="r" b="b"/>
            <a:pathLst>
              <a:path w="6315187" h="6085544">
                <a:moveTo>
                  <a:pt x="0" y="0"/>
                </a:moveTo>
                <a:lnTo>
                  <a:pt x="6315187" y="0"/>
                </a:lnTo>
                <a:lnTo>
                  <a:pt x="6315187" y="6085544"/>
                </a:lnTo>
                <a:lnTo>
                  <a:pt x="0" y="6085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544502">
            <a:off x="-3685855" y="-2287745"/>
            <a:ext cx="6315187" cy="6085544"/>
          </a:xfrm>
          <a:custGeom>
            <a:avLst/>
            <a:gdLst/>
            <a:ahLst/>
            <a:cxnLst/>
            <a:rect l="l" t="t" r="r" b="b"/>
            <a:pathLst>
              <a:path w="6315187" h="6085544">
                <a:moveTo>
                  <a:pt x="0" y="0"/>
                </a:moveTo>
                <a:lnTo>
                  <a:pt x="6315187" y="0"/>
                </a:lnTo>
                <a:lnTo>
                  <a:pt x="6315187" y="6085543"/>
                </a:lnTo>
                <a:lnTo>
                  <a:pt x="0" y="6085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11092">
            <a:off x="1873959" y="1028700"/>
            <a:ext cx="14540083" cy="8229600"/>
            <a:chOff x="0" y="0"/>
            <a:chExt cx="3829487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29487" cy="2167467"/>
            </a:xfrm>
            <a:custGeom>
              <a:avLst/>
              <a:gdLst/>
              <a:ahLst/>
              <a:cxnLst/>
              <a:rect l="l" t="t" r="r" b="b"/>
              <a:pathLst>
                <a:path w="3829487" h="2167467">
                  <a:moveTo>
                    <a:pt x="0" y="0"/>
                  </a:moveTo>
                  <a:lnTo>
                    <a:pt x="3829487" y="0"/>
                  </a:lnTo>
                  <a:lnTo>
                    <a:pt x="3829487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3829487" cy="212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 rot="-156517">
            <a:off x="1937950" y="3002114"/>
            <a:ext cx="14285701" cy="116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42"/>
              </a:lnSpc>
            </a:pPr>
            <a:r>
              <a:rPr lang="en-US" sz="6101">
                <a:solidFill>
                  <a:srgbClr val="3747C4"/>
                </a:solidFill>
                <a:latin typeface="Funtastic"/>
                <a:ea typeface="Funtastic"/>
                <a:cs typeface="Funtastic"/>
                <a:sym typeface="Funtastic"/>
              </a:rPr>
              <a:t>Day 7: AI Superheroes</a:t>
            </a:r>
          </a:p>
        </p:txBody>
      </p:sp>
      <p:sp>
        <p:nvSpPr>
          <p:cNvPr id="8" name="TextBox 8"/>
          <p:cNvSpPr txBox="1"/>
          <p:nvPr/>
        </p:nvSpPr>
        <p:spPr>
          <a:xfrm rot="-156517">
            <a:off x="2767407" y="4836781"/>
            <a:ext cx="12769511" cy="97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79"/>
              </a:lnSpc>
            </a:pPr>
            <a:r>
              <a:rPr lang="en-US" sz="5128">
                <a:solidFill>
                  <a:srgbClr val="3747C4"/>
                </a:solidFill>
                <a:latin typeface="Funtastic"/>
                <a:ea typeface="Funtastic"/>
                <a:cs typeface="Funtastic"/>
                <a:sym typeface="Funtastic"/>
              </a:rPr>
              <a:t>Ethics &amp; Safety</a:t>
            </a:r>
          </a:p>
        </p:txBody>
      </p:sp>
      <p:sp>
        <p:nvSpPr>
          <p:cNvPr id="9" name="Freeform 9"/>
          <p:cNvSpPr/>
          <p:nvPr/>
        </p:nvSpPr>
        <p:spPr>
          <a:xfrm rot="-266288">
            <a:off x="-448125" y="4392409"/>
            <a:ext cx="3864057" cy="6182490"/>
          </a:xfrm>
          <a:custGeom>
            <a:avLst/>
            <a:gdLst/>
            <a:ahLst/>
            <a:cxnLst/>
            <a:rect l="l" t="t" r="r" b="b"/>
            <a:pathLst>
              <a:path w="3864057" h="6182490">
                <a:moveTo>
                  <a:pt x="0" y="0"/>
                </a:moveTo>
                <a:lnTo>
                  <a:pt x="3864056" y="0"/>
                </a:lnTo>
                <a:lnTo>
                  <a:pt x="3864056" y="6182491"/>
                </a:lnTo>
                <a:lnTo>
                  <a:pt x="0" y="618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362046">
            <a:off x="14292364" y="3051999"/>
            <a:ext cx="5265960" cy="8309206"/>
          </a:xfrm>
          <a:custGeom>
            <a:avLst/>
            <a:gdLst/>
            <a:ahLst/>
            <a:cxnLst/>
            <a:rect l="l" t="t" r="r" b="b"/>
            <a:pathLst>
              <a:path w="5265960" h="8309206">
                <a:moveTo>
                  <a:pt x="0" y="0"/>
                </a:moveTo>
                <a:lnTo>
                  <a:pt x="5265960" y="0"/>
                </a:lnTo>
                <a:lnTo>
                  <a:pt x="5265960" y="8309206"/>
                </a:lnTo>
                <a:lnTo>
                  <a:pt x="0" y="8309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46402">
            <a:off x="4615978" y="6768952"/>
            <a:ext cx="9325497" cy="474753"/>
          </a:xfrm>
          <a:custGeom>
            <a:avLst/>
            <a:gdLst/>
            <a:ahLst/>
            <a:cxnLst/>
            <a:rect l="l" t="t" r="r" b="b"/>
            <a:pathLst>
              <a:path w="9325497" h="474753">
                <a:moveTo>
                  <a:pt x="0" y="0"/>
                </a:moveTo>
                <a:lnTo>
                  <a:pt x="9325497" y="0"/>
                </a:lnTo>
                <a:lnTo>
                  <a:pt x="9325497" y="474753"/>
                </a:lnTo>
                <a:lnTo>
                  <a:pt x="0" y="4747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 rot="-117357">
            <a:off x="2286821" y="1606759"/>
            <a:ext cx="3687787" cy="55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19"/>
              </a:lnSpc>
            </a:pPr>
            <a:r>
              <a:rPr lang="en-US" sz="1585" b="1">
                <a:solidFill>
                  <a:srgbClr val="232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to Use AI Responsibly and Stay Safe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246132" y="2548877"/>
            <a:ext cx="1347639" cy="1248251"/>
          </a:xfrm>
          <a:custGeom>
            <a:avLst/>
            <a:gdLst/>
            <a:ahLst/>
            <a:cxnLst/>
            <a:rect l="l" t="t" r="r" b="b"/>
            <a:pathLst>
              <a:path w="1347639" h="1248251">
                <a:moveTo>
                  <a:pt x="0" y="0"/>
                </a:moveTo>
                <a:lnTo>
                  <a:pt x="1347639" y="0"/>
                </a:lnTo>
                <a:lnTo>
                  <a:pt x="1347639" y="1248251"/>
                </a:lnTo>
                <a:lnTo>
                  <a:pt x="0" y="1248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77312" y="3256691"/>
            <a:ext cx="1166935" cy="1080873"/>
          </a:xfrm>
          <a:custGeom>
            <a:avLst/>
            <a:gdLst/>
            <a:ahLst/>
            <a:cxnLst/>
            <a:rect l="l" t="t" r="r" b="b"/>
            <a:pathLst>
              <a:path w="1166935" h="1080873">
                <a:moveTo>
                  <a:pt x="0" y="0"/>
                </a:moveTo>
                <a:lnTo>
                  <a:pt x="1166934" y="0"/>
                </a:lnTo>
                <a:lnTo>
                  <a:pt x="1166934" y="1080874"/>
                </a:lnTo>
                <a:lnTo>
                  <a:pt x="0" y="1080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BA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310" y="3526031"/>
            <a:ext cx="8201790" cy="4518440"/>
          </a:xfrm>
          <a:custGeom>
            <a:avLst/>
            <a:gdLst/>
            <a:ahLst/>
            <a:cxnLst/>
            <a:rect l="l" t="t" r="r" b="b"/>
            <a:pathLst>
              <a:path w="8201790" h="4518440">
                <a:moveTo>
                  <a:pt x="0" y="0"/>
                </a:moveTo>
                <a:lnTo>
                  <a:pt x="8201789" y="0"/>
                </a:lnTo>
                <a:lnTo>
                  <a:pt x="8201789" y="4518441"/>
                </a:lnTo>
                <a:lnTo>
                  <a:pt x="0" y="451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01901" y="3526031"/>
            <a:ext cx="8201790" cy="4518440"/>
          </a:xfrm>
          <a:custGeom>
            <a:avLst/>
            <a:gdLst/>
            <a:ahLst/>
            <a:cxnLst/>
            <a:rect l="l" t="t" r="r" b="b"/>
            <a:pathLst>
              <a:path w="8201790" h="4518440">
                <a:moveTo>
                  <a:pt x="0" y="0"/>
                </a:moveTo>
                <a:lnTo>
                  <a:pt x="8201789" y="0"/>
                </a:lnTo>
                <a:lnTo>
                  <a:pt x="8201789" y="4518441"/>
                </a:lnTo>
                <a:lnTo>
                  <a:pt x="0" y="4518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42269" y="5474984"/>
            <a:ext cx="6423590" cy="104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7"/>
              </a:lnSpc>
            </a:pPr>
            <a:r>
              <a:rPr lang="en-US" sz="1998">
                <a:solidFill>
                  <a:srgbClr val="232525"/>
                </a:solidFill>
                <a:latin typeface="Open Sans"/>
                <a:ea typeface="Open Sans"/>
                <a:cs typeface="Open Sans"/>
                <a:sym typeface="Open Sans"/>
              </a:rPr>
              <a:t>AI Ethics means knowing the difference between right and wrong when using AI. It helps us make smart, kind, and fair choices with technology!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45758" y="8566143"/>
            <a:ext cx="13044084" cy="33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Being an AI Superhero means using technology to help others and make good choices every day!</a:t>
            </a:r>
          </a:p>
        </p:txBody>
      </p:sp>
      <p:sp>
        <p:nvSpPr>
          <p:cNvPr id="6" name="Freeform 6"/>
          <p:cNvSpPr/>
          <p:nvPr/>
        </p:nvSpPr>
        <p:spPr>
          <a:xfrm rot="-318045">
            <a:off x="480000" y="6254869"/>
            <a:ext cx="2164584" cy="4054576"/>
          </a:xfrm>
          <a:custGeom>
            <a:avLst/>
            <a:gdLst/>
            <a:ahLst/>
            <a:cxnLst/>
            <a:rect l="l" t="t" r="r" b="b"/>
            <a:pathLst>
              <a:path w="3593492" h="6209057">
                <a:moveTo>
                  <a:pt x="0" y="0"/>
                </a:moveTo>
                <a:lnTo>
                  <a:pt x="3593492" y="0"/>
                </a:lnTo>
                <a:lnTo>
                  <a:pt x="3593492" y="6209057"/>
                </a:lnTo>
                <a:lnTo>
                  <a:pt x="0" y="6209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53315">
            <a:off x="14503770" y="1232607"/>
            <a:ext cx="4687550" cy="4475950"/>
          </a:xfrm>
          <a:custGeom>
            <a:avLst/>
            <a:gdLst/>
            <a:ahLst/>
            <a:cxnLst/>
            <a:rect l="l" t="t" r="r" b="b"/>
            <a:pathLst>
              <a:path w="5699131" h="5445666">
                <a:moveTo>
                  <a:pt x="0" y="0"/>
                </a:moveTo>
                <a:lnTo>
                  <a:pt x="5699131" y="0"/>
                </a:lnTo>
                <a:lnTo>
                  <a:pt x="5699131" y="5445665"/>
                </a:lnTo>
                <a:lnTo>
                  <a:pt x="0" y="5445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0"/>
            <a:ext cx="2005927" cy="1923182"/>
          </a:xfrm>
          <a:custGeom>
            <a:avLst/>
            <a:gdLst/>
            <a:ahLst/>
            <a:cxnLst/>
            <a:rect l="l" t="t" r="r" b="b"/>
            <a:pathLst>
              <a:path w="2005927" h="1923182">
                <a:moveTo>
                  <a:pt x="0" y="0"/>
                </a:moveTo>
                <a:lnTo>
                  <a:pt x="2005927" y="0"/>
                </a:lnTo>
                <a:lnTo>
                  <a:pt x="2005927" y="1923182"/>
                </a:lnTo>
                <a:lnTo>
                  <a:pt x="0" y="1923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6563769" y="8633894"/>
            <a:ext cx="1724231" cy="1653106"/>
          </a:xfrm>
          <a:custGeom>
            <a:avLst/>
            <a:gdLst/>
            <a:ahLst/>
            <a:cxnLst/>
            <a:rect l="l" t="t" r="r" b="b"/>
            <a:pathLst>
              <a:path w="1724231" h="1653106">
                <a:moveTo>
                  <a:pt x="0" y="0"/>
                </a:moveTo>
                <a:lnTo>
                  <a:pt x="1724231" y="0"/>
                </a:lnTo>
                <a:lnTo>
                  <a:pt x="1724231" y="1653106"/>
                </a:lnTo>
                <a:lnTo>
                  <a:pt x="0" y="16531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57700" y="799460"/>
            <a:ext cx="9220200" cy="1223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57"/>
              </a:lnSpc>
            </a:pPr>
            <a:r>
              <a:rPr lang="en-US" sz="8057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What is AI Ethics?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40180" y="5474984"/>
            <a:ext cx="6423590" cy="139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7"/>
              </a:lnSpc>
            </a:pPr>
            <a:r>
              <a:rPr lang="en-US" sz="1998">
                <a:solidFill>
                  <a:srgbClr val="232525"/>
                </a:solidFill>
                <a:latin typeface="Open Sans"/>
                <a:ea typeface="Open Sans"/>
                <a:cs typeface="Open Sans"/>
                <a:sym typeface="Open Sans"/>
              </a:rPr>
              <a:t>Fairness: Treat everyone equally</a:t>
            </a:r>
          </a:p>
          <a:p>
            <a:pPr marL="0" lvl="0" indent="0" algn="ctr">
              <a:lnSpc>
                <a:spcPts val="2797"/>
              </a:lnSpc>
            </a:pPr>
            <a:r>
              <a:rPr lang="en-US" sz="1998">
                <a:solidFill>
                  <a:srgbClr val="232525"/>
                </a:solidFill>
                <a:latin typeface="Open Sans"/>
                <a:ea typeface="Open Sans"/>
                <a:cs typeface="Open Sans"/>
                <a:sym typeface="Open Sans"/>
              </a:rPr>
              <a:t>Honesty: Always tell the truth</a:t>
            </a:r>
          </a:p>
          <a:p>
            <a:pPr marL="0" lvl="0" indent="0" algn="ctr">
              <a:lnSpc>
                <a:spcPts val="2797"/>
              </a:lnSpc>
            </a:pPr>
            <a:r>
              <a:rPr lang="en-US" sz="1998">
                <a:solidFill>
                  <a:srgbClr val="232525"/>
                </a:solidFill>
                <a:latin typeface="Open Sans"/>
                <a:ea typeface="Open Sans"/>
                <a:cs typeface="Open Sans"/>
                <a:sym typeface="Open Sans"/>
              </a:rPr>
              <a:t>Privacy: Keep secrets safe</a:t>
            </a:r>
          </a:p>
          <a:p>
            <a:pPr marL="0" lvl="0" indent="0" algn="ctr">
              <a:lnSpc>
                <a:spcPts val="2797"/>
              </a:lnSpc>
            </a:pPr>
            <a:r>
              <a:rPr lang="en-US" sz="1998">
                <a:solidFill>
                  <a:srgbClr val="232525"/>
                </a:solidFill>
                <a:latin typeface="Open Sans"/>
                <a:ea typeface="Open Sans"/>
                <a:cs typeface="Open Sans"/>
                <a:sym typeface="Open Sans"/>
              </a:rPr>
              <a:t>Kindness: Be nice to others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5758" y="4658558"/>
            <a:ext cx="4177250" cy="56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79"/>
              </a:lnSpc>
            </a:pPr>
            <a:r>
              <a:rPr lang="en-US" sz="3342" b="1">
                <a:solidFill>
                  <a:srgbClr val="232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Meaning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63349" y="4658558"/>
            <a:ext cx="4177250" cy="56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79"/>
              </a:lnSpc>
            </a:pPr>
            <a:r>
              <a:rPr lang="en-US" sz="3342" b="1">
                <a:solidFill>
                  <a:srgbClr val="23252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Values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7822603" y="2626347"/>
            <a:ext cx="2515823" cy="2881693"/>
          </a:xfrm>
          <a:custGeom>
            <a:avLst/>
            <a:gdLst/>
            <a:ahLst/>
            <a:cxnLst/>
            <a:rect l="l" t="t" r="r" b="b"/>
            <a:pathLst>
              <a:path w="2515823" h="2881693">
                <a:moveTo>
                  <a:pt x="0" y="0"/>
                </a:moveTo>
                <a:lnTo>
                  <a:pt x="2515823" y="0"/>
                </a:lnTo>
                <a:lnTo>
                  <a:pt x="2515823" y="2881693"/>
                </a:lnTo>
                <a:lnTo>
                  <a:pt x="0" y="2881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311145">
            <a:off x="15868127" y="7015252"/>
            <a:ext cx="1892966" cy="1797152"/>
          </a:xfrm>
          <a:custGeom>
            <a:avLst/>
            <a:gdLst/>
            <a:ahLst/>
            <a:cxnLst/>
            <a:rect l="l" t="t" r="r" b="b"/>
            <a:pathLst>
              <a:path w="1892966" h="1797152">
                <a:moveTo>
                  <a:pt x="0" y="0"/>
                </a:moveTo>
                <a:lnTo>
                  <a:pt x="1892965" y="0"/>
                </a:lnTo>
                <a:lnTo>
                  <a:pt x="1892965" y="1797152"/>
                </a:lnTo>
                <a:lnTo>
                  <a:pt x="0" y="1797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793269">
            <a:off x="983890" y="2591839"/>
            <a:ext cx="1603165" cy="2286154"/>
          </a:xfrm>
          <a:custGeom>
            <a:avLst/>
            <a:gdLst/>
            <a:ahLst/>
            <a:cxnLst/>
            <a:rect l="l" t="t" r="r" b="b"/>
            <a:pathLst>
              <a:path w="1603165" h="2286154">
                <a:moveTo>
                  <a:pt x="0" y="0"/>
                </a:moveTo>
                <a:lnTo>
                  <a:pt x="1603166" y="0"/>
                </a:lnTo>
                <a:lnTo>
                  <a:pt x="1603166" y="2286153"/>
                </a:lnTo>
                <a:lnTo>
                  <a:pt x="0" y="22861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4326910">
            <a:off x="13196310" y="-2783221"/>
            <a:ext cx="4341379" cy="4175617"/>
          </a:xfrm>
          <a:custGeom>
            <a:avLst/>
            <a:gdLst/>
            <a:ahLst/>
            <a:cxnLst/>
            <a:rect l="l" t="t" r="r" b="b"/>
            <a:pathLst>
              <a:path w="4341379" h="4175617">
                <a:moveTo>
                  <a:pt x="0" y="0"/>
                </a:moveTo>
                <a:lnTo>
                  <a:pt x="4341380" y="0"/>
                </a:lnTo>
                <a:lnTo>
                  <a:pt x="4341380" y="4175618"/>
                </a:lnTo>
                <a:lnTo>
                  <a:pt x="0" y="4175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A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2513" y="6785727"/>
            <a:ext cx="19697157" cy="3649364"/>
            <a:chOff x="0" y="0"/>
            <a:chExt cx="5187729" cy="961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7729" cy="961149"/>
            </a:xfrm>
            <a:custGeom>
              <a:avLst/>
              <a:gdLst/>
              <a:ahLst/>
              <a:cxnLst/>
              <a:rect l="l" t="t" r="r" b="b"/>
              <a:pathLst>
                <a:path w="5187729" h="961149">
                  <a:moveTo>
                    <a:pt x="0" y="0"/>
                  </a:moveTo>
                  <a:lnTo>
                    <a:pt x="5187729" y="0"/>
                  </a:lnTo>
                  <a:lnTo>
                    <a:pt x="5187729" y="961149"/>
                  </a:lnTo>
                  <a:lnTo>
                    <a:pt x="0" y="961149"/>
                  </a:lnTo>
                  <a:close/>
                </a:path>
              </a:pathLst>
            </a:custGeom>
            <a:solidFill>
              <a:srgbClr val="53BA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5187729" cy="923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384300" y="3667637"/>
            <a:ext cx="4762500" cy="4542545"/>
            <a:chOff x="0" y="0"/>
            <a:chExt cx="6324600" cy="6032500"/>
          </a:xfrm>
        </p:grpSpPr>
        <p:sp>
          <p:nvSpPr>
            <p:cNvPr id="6" name="Freeform 6"/>
            <p:cNvSpPr/>
            <p:nvPr/>
          </p:nvSpPr>
          <p:spPr>
            <a:xfrm>
              <a:off x="127000" y="127000"/>
              <a:ext cx="6070600" cy="5778500"/>
            </a:xfrm>
            <a:custGeom>
              <a:avLst/>
              <a:gdLst/>
              <a:ahLst/>
              <a:cxnLst/>
              <a:rect l="l" t="t" r="r" b="b"/>
              <a:pathLst>
                <a:path w="6070600" h="57785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2"/>
              <a:stretch>
                <a:fillRect t="-2527" b="-252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24600" cy="6032500"/>
            </a:xfrm>
            <a:custGeom>
              <a:avLst/>
              <a:gdLst/>
              <a:ahLst/>
              <a:cxnLst/>
              <a:rect l="l" t="t" r="r" b="b"/>
              <a:pathLst>
                <a:path w="6324600" h="60325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FFF9EB"/>
            </a:solidFill>
          </p:spPr>
        </p:sp>
      </p:grpSp>
      <p:sp>
        <p:nvSpPr>
          <p:cNvPr id="8" name="Freeform 8"/>
          <p:cNvSpPr/>
          <p:nvPr/>
        </p:nvSpPr>
        <p:spPr>
          <a:xfrm rot="8875563">
            <a:off x="9205702" y="-3630193"/>
            <a:ext cx="6315187" cy="6085544"/>
          </a:xfrm>
          <a:custGeom>
            <a:avLst/>
            <a:gdLst/>
            <a:ahLst/>
            <a:cxnLst/>
            <a:rect l="l" t="t" r="r" b="b"/>
            <a:pathLst>
              <a:path w="6315187" h="6085544">
                <a:moveTo>
                  <a:pt x="0" y="0"/>
                </a:moveTo>
                <a:lnTo>
                  <a:pt x="6315187" y="0"/>
                </a:lnTo>
                <a:lnTo>
                  <a:pt x="6315187" y="6085544"/>
                </a:lnTo>
                <a:lnTo>
                  <a:pt x="0" y="6085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300362">
            <a:off x="-4410380" y="5567637"/>
            <a:ext cx="6315187" cy="6085544"/>
          </a:xfrm>
          <a:custGeom>
            <a:avLst/>
            <a:gdLst/>
            <a:ahLst/>
            <a:cxnLst/>
            <a:rect l="l" t="t" r="r" b="b"/>
            <a:pathLst>
              <a:path w="6315187" h="6085544">
                <a:moveTo>
                  <a:pt x="0" y="0"/>
                </a:moveTo>
                <a:lnTo>
                  <a:pt x="6315187" y="0"/>
                </a:lnTo>
                <a:lnTo>
                  <a:pt x="6315187" y="6085544"/>
                </a:lnTo>
                <a:lnTo>
                  <a:pt x="0" y="6085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38950" y="3667637"/>
            <a:ext cx="4762500" cy="4542545"/>
            <a:chOff x="0" y="0"/>
            <a:chExt cx="6324600" cy="6032500"/>
          </a:xfrm>
        </p:grpSpPr>
        <p:sp>
          <p:nvSpPr>
            <p:cNvPr id="11" name="Freeform 11"/>
            <p:cNvSpPr/>
            <p:nvPr/>
          </p:nvSpPr>
          <p:spPr>
            <a:xfrm>
              <a:off x="127000" y="127000"/>
              <a:ext cx="6070600" cy="5778500"/>
            </a:xfrm>
            <a:custGeom>
              <a:avLst/>
              <a:gdLst/>
              <a:ahLst/>
              <a:cxnLst/>
              <a:rect l="l" t="t" r="r" b="b"/>
              <a:pathLst>
                <a:path w="6070600" h="57785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4"/>
              <a:stretch>
                <a:fillRect t="-2527" b="-2527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6324600" cy="6032500"/>
            </a:xfrm>
            <a:custGeom>
              <a:avLst/>
              <a:gdLst/>
              <a:ahLst/>
              <a:cxnLst/>
              <a:rect l="l" t="t" r="r" b="b"/>
              <a:pathLst>
                <a:path w="6324600" h="60325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FFF9EB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2293600" y="3667637"/>
            <a:ext cx="4762500" cy="4542545"/>
            <a:chOff x="0" y="0"/>
            <a:chExt cx="6324600" cy="6032500"/>
          </a:xfrm>
        </p:grpSpPr>
        <p:sp>
          <p:nvSpPr>
            <p:cNvPr id="14" name="Freeform 14"/>
            <p:cNvSpPr/>
            <p:nvPr/>
          </p:nvSpPr>
          <p:spPr>
            <a:xfrm>
              <a:off x="127000" y="127000"/>
              <a:ext cx="6070600" cy="5778500"/>
            </a:xfrm>
            <a:custGeom>
              <a:avLst/>
              <a:gdLst/>
              <a:ahLst/>
              <a:cxnLst/>
              <a:rect l="l" t="t" r="r" b="b"/>
              <a:pathLst>
                <a:path w="6070600" h="57785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5"/>
              <a:stretch>
                <a:fillRect t="-2527" b="-2527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324600" cy="6032500"/>
            </a:xfrm>
            <a:custGeom>
              <a:avLst/>
              <a:gdLst/>
              <a:ahLst/>
              <a:cxnLst/>
              <a:rect l="l" t="t" r="r" b="b"/>
              <a:pathLst>
                <a:path w="6324600" h="60325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FFF9EB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85722" y="7612988"/>
            <a:ext cx="3959655" cy="1022938"/>
            <a:chOff x="0" y="0"/>
            <a:chExt cx="1042872" cy="2694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2872" cy="269416"/>
            </a:xfrm>
            <a:custGeom>
              <a:avLst/>
              <a:gdLst/>
              <a:ahLst/>
              <a:cxnLst/>
              <a:rect l="l" t="t" r="r" b="b"/>
              <a:pathLst>
                <a:path w="1042872" h="269416">
                  <a:moveTo>
                    <a:pt x="0" y="0"/>
                  </a:moveTo>
                  <a:lnTo>
                    <a:pt x="1042872" y="0"/>
                  </a:lnTo>
                  <a:lnTo>
                    <a:pt x="1042872" y="269416"/>
                  </a:lnTo>
                  <a:lnTo>
                    <a:pt x="0" y="269416"/>
                  </a:lnTo>
                  <a:close/>
                </a:path>
              </a:pathLst>
            </a:custGeom>
            <a:solidFill>
              <a:srgbClr val="EF391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38100"/>
              <a:ext cx="1042872" cy="23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240372" y="7612988"/>
            <a:ext cx="3959655" cy="1022938"/>
            <a:chOff x="0" y="0"/>
            <a:chExt cx="1042872" cy="2694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2872" cy="269416"/>
            </a:xfrm>
            <a:custGeom>
              <a:avLst/>
              <a:gdLst/>
              <a:ahLst/>
              <a:cxnLst/>
              <a:rect l="l" t="t" r="r" b="b"/>
              <a:pathLst>
                <a:path w="1042872" h="269416">
                  <a:moveTo>
                    <a:pt x="0" y="0"/>
                  </a:moveTo>
                  <a:lnTo>
                    <a:pt x="1042872" y="0"/>
                  </a:lnTo>
                  <a:lnTo>
                    <a:pt x="1042872" y="269416"/>
                  </a:lnTo>
                  <a:lnTo>
                    <a:pt x="0" y="269416"/>
                  </a:lnTo>
                  <a:close/>
                </a:path>
              </a:pathLst>
            </a:custGeom>
            <a:solidFill>
              <a:srgbClr val="EF391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38100"/>
              <a:ext cx="1042872" cy="23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695022" y="7612988"/>
            <a:ext cx="3959655" cy="1022938"/>
            <a:chOff x="0" y="0"/>
            <a:chExt cx="1042872" cy="2694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2872" cy="269416"/>
            </a:xfrm>
            <a:custGeom>
              <a:avLst/>
              <a:gdLst/>
              <a:ahLst/>
              <a:cxnLst/>
              <a:rect l="l" t="t" r="r" b="b"/>
              <a:pathLst>
                <a:path w="1042872" h="269416">
                  <a:moveTo>
                    <a:pt x="0" y="0"/>
                  </a:moveTo>
                  <a:lnTo>
                    <a:pt x="1042872" y="0"/>
                  </a:lnTo>
                  <a:lnTo>
                    <a:pt x="1042872" y="269416"/>
                  </a:lnTo>
                  <a:lnTo>
                    <a:pt x="0" y="269416"/>
                  </a:lnTo>
                  <a:close/>
                </a:path>
              </a:pathLst>
            </a:custGeom>
            <a:solidFill>
              <a:srgbClr val="EF391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38100"/>
              <a:ext cx="1042872" cy="23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-2290978">
            <a:off x="14535593" y="-268277"/>
            <a:ext cx="5622472" cy="4950244"/>
          </a:xfrm>
          <a:custGeom>
            <a:avLst/>
            <a:gdLst/>
            <a:ahLst/>
            <a:cxnLst/>
            <a:rect l="l" t="t" r="r" b="b"/>
            <a:pathLst>
              <a:path w="6246119" h="5707392">
                <a:moveTo>
                  <a:pt x="0" y="0"/>
                </a:moveTo>
                <a:lnTo>
                  <a:pt x="6246120" y="0"/>
                </a:lnTo>
                <a:lnTo>
                  <a:pt x="6246120" y="5707392"/>
                </a:lnTo>
                <a:lnTo>
                  <a:pt x="0" y="5707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36700" y="923925"/>
            <a:ext cx="9417159" cy="224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51"/>
              </a:lnSpc>
            </a:pPr>
            <a:r>
              <a:rPr lang="en-US" sz="8051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AI Ethics in Real Life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85722" y="7872044"/>
            <a:ext cx="395965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3"/>
              </a:lnSpc>
            </a:pPr>
            <a:r>
              <a:rPr lang="en-US" sz="305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Protect Your Privacy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40372" y="7872044"/>
            <a:ext cx="395965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3"/>
              </a:lnSpc>
            </a:pPr>
            <a:r>
              <a:rPr lang="en-US" sz="305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 Kind Online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95022" y="7872044"/>
            <a:ext cx="395965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3"/>
              </a:lnSpc>
            </a:pPr>
            <a:r>
              <a:rPr lang="en-US" sz="305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Spot Fake News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BA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300" y="1459284"/>
            <a:ext cx="1409289" cy="140928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A84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90273" y="1459284"/>
            <a:ext cx="1409289" cy="14092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A8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4300" y="3938387"/>
            <a:ext cx="1409289" cy="140928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A84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90273" y="3938387"/>
            <a:ext cx="1409289" cy="14092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A84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466719">
            <a:off x="4688789" y="7742598"/>
            <a:ext cx="14717957" cy="4415387"/>
          </a:xfrm>
          <a:custGeom>
            <a:avLst/>
            <a:gdLst/>
            <a:ahLst/>
            <a:cxnLst/>
            <a:rect l="l" t="t" r="r" b="b"/>
            <a:pathLst>
              <a:path w="14717957" h="4415387">
                <a:moveTo>
                  <a:pt x="0" y="0"/>
                </a:moveTo>
                <a:lnTo>
                  <a:pt x="14717957" y="0"/>
                </a:lnTo>
                <a:lnTo>
                  <a:pt x="14717957" y="4415387"/>
                </a:lnTo>
                <a:lnTo>
                  <a:pt x="0" y="4415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84300" y="6496050"/>
            <a:ext cx="7304416" cy="224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51"/>
              </a:lnSpc>
            </a:pPr>
            <a:r>
              <a:rPr lang="en-US" sz="8051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How to Be an AI Superhero</a:t>
            </a:r>
          </a:p>
        </p:txBody>
      </p:sp>
      <p:sp>
        <p:nvSpPr>
          <p:cNvPr id="16" name="Freeform 16"/>
          <p:cNvSpPr/>
          <p:nvPr/>
        </p:nvSpPr>
        <p:spPr>
          <a:xfrm>
            <a:off x="8001000" y="5500255"/>
            <a:ext cx="4717621" cy="7158866"/>
          </a:xfrm>
          <a:custGeom>
            <a:avLst/>
            <a:gdLst/>
            <a:ahLst/>
            <a:cxnLst/>
            <a:rect l="l" t="t" r="r" b="b"/>
            <a:pathLst>
              <a:path w="6450579" h="8296565">
                <a:moveTo>
                  <a:pt x="0" y="0"/>
                </a:moveTo>
                <a:lnTo>
                  <a:pt x="6450579" y="0"/>
                </a:lnTo>
                <a:lnTo>
                  <a:pt x="6450579" y="8296565"/>
                </a:lnTo>
                <a:lnTo>
                  <a:pt x="0" y="8296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84300" y="1810045"/>
            <a:ext cx="1409289" cy="70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4"/>
              </a:lnSpc>
            </a:pPr>
            <a:r>
              <a:rPr lang="en-US" sz="4653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90273" y="1810045"/>
            <a:ext cx="1409289" cy="70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4"/>
              </a:lnSpc>
            </a:pPr>
            <a:r>
              <a:rPr lang="en-US" sz="4653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4300" y="4289147"/>
            <a:ext cx="1409289" cy="70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4"/>
              </a:lnSpc>
            </a:pPr>
            <a:r>
              <a:rPr lang="en-US" sz="4653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90273" y="4289147"/>
            <a:ext cx="1409289" cy="70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4"/>
              </a:lnSpc>
            </a:pPr>
            <a:r>
              <a:rPr lang="en-US" sz="4653" b="1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20434" y="1459284"/>
            <a:ext cx="6137362" cy="4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6"/>
              </a:lnSpc>
            </a:pPr>
            <a:r>
              <a:rPr lang="en-US" sz="303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 Fair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26407" y="1459284"/>
            <a:ext cx="6137362" cy="4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6"/>
              </a:lnSpc>
            </a:pPr>
            <a:r>
              <a:rPr lang="en-US" sz="303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 Honest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20434" y="3938387"/>
            <a:ext cx="6137362" cy="4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6"/>
              </a:lnSpc>
            </a:pPr>
            <a:r>
              <a:rPr lang="en-US" sz="303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Protect Privacy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26407" y="3938387"/>
            <a:ext cx="6137362" cy="4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6"/>
              </a:lnSpc>
            </a:pPr>
            <a:r>
              <a:rPr lang="en-US" sz="303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 Kind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20434" y="2208902"/>
            <a:ext cx="5364434" cy="139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Treat others how you want to be treated. Use AI to include everyone and make sure no one is left out. Fair superheroes share and play nice!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20434" y="4688902"/>
            <a:ext cx="5364434" cy="139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Keep your secrets safe and respect others' privacy too. Never share passwords or personal info. A true hero guards what's important!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28187" y="2208902"/>
            <a:ext cx="5364434" cy="104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Don't spread false information or rumors. Always check if something is true before sharing. Honest superheroes tell the truth!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28187" y="4688902"/>
            <a:ext cx="5364434" cy="104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AI to help and support friends and family. Spread positivity and encouragement online. Kind superheroes lift others up!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3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85099">
            <a:off x="-5679477" y="5080737"/>
            <a:ext cx="8261131" cy="8355126"/>
          </a:xfrm>
          <a:custGeom>
            <a:avLst/>
            <a:gdLst/>
            <a:ahLst/>
            <a:cxnLst/>
            <a:rect l="l" t="t" r="r" b="b"/>
            <a:pathLst>
              <a:path w="8261131" h="8355126">
                <a:moveTo>
                  <a:pt x="0" y="0"/>
                </a:moveTo>
                <a:lnTo>
                  <a:pt x="8261130" y="0"/>
                </a:lnTo>
                <a:lnTo>
                  <a:pt x="8261130" y="8355126"/>
                </a:lnTo>
                <a:lnTo>
                  <a:pt x="0" y="8355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040014">
            <a:off x="12081698" y="-5642852"/>
            <a:ext cx="8261131" cy="8355126"/>
          </a:xfrm>
          <a:custGeom>
            <a:avLst/>
            <a:gdLst/>
            <a:ahLst/>
            <a:cxnLst/>
            <a:rect l="l" t="t" r="r" b="b"/>
            <a:pathLst>
              <a:path w="8261131" h="8355126">
                <a:moveTo>
                  <a:pt x="0" y="0"/>
                </a:moveTo>
                <a:lnTo>
                  <a:pt x="8261131" y="0"/>
                </a:lnTo>
                <a:lnTo>
                  <a:pt x="8261131" y="8355126"/>
                </a:lnTo>
                <a:lnTo>
                  <a:pt x="0" y="8355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140">
            <a:off x="784663" y="882494"/>
            <a:ext cx="10957894" cy="4462851"/>
          </a:xfrm>
          <a:custGeom>
            <a:avLst/>
            <a:gdLst/>
            <a:ahLst/>
            <a:cxnLst/>
            <a:rect l="l" t="t" r="r" b="b"/>
            <a:pathLst>
              <a:path w="10957894" h="4462851">
                <a:moveTo>
                  <a:pt x="0" y="0"/>
                </a:moveTo>
                <a:lnTo>
                  <a:pt x="10957894" y="0"/>
                </a:lnTo>
                <a:lnTo>
                  <a:pt x="10957894" y="4462851"/>
                </a:lnTo>
                <a:lnTo>
                  <a:pt x="0" y="446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62630" y="1657596"/>
            <a:ext cx="6708393" cy="9829147"/>
          </a:xfrm>
          <a:custGeom>
            <a:avLst/>
            <a:gdLst/>
            <a:ahLst/>
            <a:cxnLst/>
            <a:rect l="l" t="t" r="r" b="b"/>
            <a:pathLst>
              <a:path w="6708393" h="9829147">
                <a:moveTo>
                  <a:pt x="0" y="0"/>
                </a:moveTo>
                <a:lnTo>
                  <a:pt x="6708393" y="0"/>
                </a:lnTo>
                <a:lnTo>
                  <a:pt x="6708393" y="9829147"/>
                </a:lnTo>
                <a:lnTo>
                  <a:pt x="0" y="9829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32274" y="1770967"/>
            <a:ext cx="1704388" cy="1704388"/>
          </a:xfrm>
          <a:custGeom>
            <a:avLst/>
            <a:gdLst/>
            <a:ahLst/>
            <a:cxnLst/>
            <a:rect l="l" t="t" r="r" b="b"/>
            <a:pathLst>
              <a:path w="1704388" h="1704388">
                <a:moveTo>
                  <a:pt x="0" y="0"/>
                </a:moveTo>
                <a:lnTo>
                  <a:pt x="1704388" y="0"/>
                </a:lnTo>
                <a:lnTo>
                  <a:pt x="1704388" y="1704389"/>
                </a:lnTo>
                <a:lnTo>
                  <a:pt x="0" y="1704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156517">
            <a:off x="768029" y="2362624"/>
            <a:ext cx="11480418" cy="225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42"/>
              </a:lnSpc>
            </a:pPr>
            <a:r>
              <a:rPr lang="en-US" sz="6101">
                <a:solidFill>
                  <a:srgbClr val="3747C4"/>
                </a:solidFill>
                <a:latin typeface="Funtastic"/>
                <a:ea typeface="Funtastic"/>
                <a:cs typeface="Funtastic"/>
                <a:sym typeface="Funtastic"/>
              </a:rPr>
              <a:t>Your Mission: Use AI Responsibly!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4300" y="6383074"/>
            <a:ext cx="6137362" cy="39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0"/>
              </a:lnSpc>
            </a:pPr>
            <a:r>
              <a:rPr lang="en-US" sz="260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 you ready to be an AI Superhero?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28874" y="7374888"/>
            <a:ext cx="391792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2"/>
              </a:lnSpc>
            </a:pPr>
            <a:r>
              <a:rPr lang="en-US" sz="1360" spc="6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 your powers to make the internet safe and fair for everyone!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37574" y="7474901"/>
            <a:ext cx="4762451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2"/>
              </a:lnSpc>
            </a:pPr>
            <a:r>
              <a:rPr lang="en-US" sz="1360" spc="6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Being responsible with AI is the coolest superpower!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8874" y="8414701"/>
            <a:ext cx="520697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32"/>
              </a:lnSpc>
            </a:pPr>
            <a:r>
              <a:rPr lang="en-US" sz="1360" spc="6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Let's be AI Superheroes together!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267</Words>
  <Application>Microsoft Office PowerPoint</Application>
  <PresentationFormat>Custom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</vt:lpstr>
      <vt:lpstr>Calibri</vt:lpstr>
      <vt:lpstr>Arial</vt:lpstr>
      <vt:lpstr>Open Sans Bold</vt:lpstr>
      <vt:lpstr>Funtastic</vt:lpstr>
      <vt:lpstr>Open Sans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Superhero Ethics Day 7</dc:title>
  <cp:lastModifiedBy>JAGADISH JEEVAN SAI</cp:lastModifiedBy>
  <cp:revision>2</cp:revision>
  <dcterms:created xsi:type="dcterms:W3CDTF">2006-08-16T00:00:00Z</dcterms:created>
  <dcterms:modified xsi:type="dcterms:W3CDTF">2026-04-24T07:49:44Z</dcterms:modified>
  <dc:identifier>DAHHv8iZU28</dc:identifier>
</cp:coreProperties>
</file>