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8288000" cy="10287000"/>
  <p:notesSz cx="6858000" cy="9144000"/>
  <p:embeddedFontLst>
    <p:embeddedFont>
      <p:font typeface="Childling" panose="020B0604020202020204" charset="0"/>
      <p:regular r:id="rId7"/>
    </p:embeddedFont>
    <p:embeddedFont>
      <p:font typeface="Childos Arabic" panose="020B0604020202020204" charset="-78"/>
      <p:regular r:id="rId8"/>
    </p:embeddedFont>
    <p:embeddedFont>
      <p:font typeface="Childos Arabic Light" panose="020B0604020202020204" charset="-78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1" d="100"/>
          <a:sy n="41" d="100"/>
        </p:scale>
        <p:origin x="820" y="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4E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168266" y="3758505"/>
            <a:ext cx="11766936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0768"/>
              </a:lnSpc>
              <a:spcBef>
                <a:spcPct val="0"/>
              </a:spcBef>
            </a:pPr>
            <a:r>
              <a:rPr lang="en-US" sz="10988" u="none" strike="noStrike" dirty="0">
                <a:solidFill>
                  <a:srgbClr val="202B56"/>
                </a:solidFill>
                <a:latin typeface="Childling"/>
                <a:ea typeface="Childling"/>
                <a:cs typeface="Childling"/>
                <a:sym typeface="Childling"/>
              </a:rPr>
              <a:t>TEACHING MACHINES – IMAGE CLASSIFICATION</a:t>
            </a:r>
          </a:p>
        </p:txBody>
      </p:sp>
      <p:sp>
        <p:nvSpPr>
          <p:cNvPr id="3" name="Freeform 3"/>
          <p:cNvSpPr/>
          <p:nvPr/>
        </p:nvSpPr>
        <p:spPr>
          <a:xfrm rot="-425662">
            <a:off x="271906" y="1420331"/>
            <a:ext cx="5583788" cy="6707253"/>
          </a:xfrm>
          <a:custGeom>
            <a:avLst/>
            <a:gdLst/>
            <a:ahLst/>
            <a:cxnLst/>
            <a:rect l="l" t="t" r="r" b="b"/>
            <a:pathLst>
              <a:path w="5583788" h="6707253">
                <a:moveTo>
                  <a:pt x="0" y="0"/>
                </a:moveTo>
                <a:lnTo>
                  <a:pt x="5583788" y="0"/>
                </a:lnTo>
                <a:lnTo>
                  <a:pt x="5583788" y="6707252"/>
                </a:lnTo>
                <a:lnTo>
                  <a:pt x="0" y="67072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659170" y="928760"/>
            <a:ext cx="2502638" cy="2188946"/>
          </a:xfrm>
          <a:custGeom>
            <a:avLst/>
            <a:gdLst/>
            <a:ahLst/>
            <a:cxnLst/>
            <a:rect l="l" t="t" r="r" b="b"/>
            <a:pathLst>
              <a:path w="2502638" h="2188946">
                <a:moveTo>
                  <a:pt x="0" y="0"/>
                </a:moveTo>
                <a:lnTo>
                  <a:pt x="2502638" y="0"/>
                </a:lnTo>
                <a:lnTo>
                  <a:pt x="2502638" y="2188946"/>
                </a:lnTo>
                <a:lnTo>
                  <a:pt x="0" y="21889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7168266" y="6587165"/>
            <a:ext cx="10344856" cy="848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696"/>
              </a:lnSpc>
            </a:pPr>
            <a:r>
              <a:rPr lang="en-US" sz="4783" dirty="0">
                <a:solidFill>
                  <a:srgbClr val="202B56"/>
                </a:solidFill>
                <a:latin typeface="Childos Arabic Light"/>
                <a:ea typeface="Childos Arabic Light"/>
                <a:cs typeface="Childos Arabic Light"/>
                <a:sym typeface="Childos Arabic Light"/>
              </a:rPr>
              <a:t>How Machines Learn to Recognize Pictures</a:t>
            </a:r>
          </a:p>
        </p:txBody>
      </p:sp>
      <p:sp>
        <p:nvSpPr>
          <p:cNvPr id="6" name="Freeform 6"/>
          <p:cNvSpPr/>
          <p:nvPr/>
        </p:nvSpPr>
        <p:spPr>
          <a:xfrm>
            <a:off x="15770663" y="8342120"/>
            <a:ext cx="2234242" cy="1636582"/>
          </a:xfrm>
          <a:custGeom>
            <a:avLst/>
            <a:gdLst/>
            <a:ahLst/>
            <a:cxnLst/>
            <a:rect l="l" t="t" r="r" b="b"/>
            <a:pathLst>
              <a:path w="2234242" h="1636582">
                <a:moveTo>
                  <a:pt x="0" y="0"/>
                </a:moveTo>
                <a:lnTo>
                  <a:pt x="2234242" y="0"/>
                </a:lnTo>
                <a:lnTo>
                  <a:pt x="2234242" y="1636583"/>
                </a:lnTo>
                <a:lnTo>
                  <a:pt x="0" y="16365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4E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 rot="536868">
            <a:off x="10731017" y="4053206"/>
            <a:ext cx="6603101" cy="5246370"/>
            <a:chOff x="0" y="0"/>
            <a:chExt cx="3901440" cy="3099816"/>
          </a:xfrm>
        </p:grpSpPr>
        <p:sp>
          <p:nvSpPr>
            <p:cNvPr id="3" name="Freeform 3"/>
            <p:cNvSpPr/>
            <p:nvPr/>
          </p:nvSpPr>
          <p:spPr>
            <a:xfrm>
              <a:off x="127000" y="190500"/>
              <a:ext cx="3657600" cy="2413000"/>
            </a:xfrm>
            <a:custGeom>
              <a:avLst/>
              <a:gdLst/>
              <a:ahLst/>
              <a:cxnLst/>
              <a:rect l="l" t="t" r="r" b="b"/>
              <a:pathLst>
                <a:path w="3657600" h="2413000">
                  <a:moveTo>
                    <a:pt x="3657600" y="2413000"/>
                  </a:moveTo>
                  <a:lnTo>
                    <a:pt x="0" y="2413000"/>
                  </a:lnTo>
                  <a:lnTo>
                    <a:pt x="0" y="0"/>
                  </a:lnTo>
                  <a:lnTo>
                    <a:pt x="3657600" y="0"/>
                  </a:lnTo>
                  <a:lnTo>
                    <a:pt x="3657600" y="2413000"/>
                  </a:lnTo>
                  <a:close/>
                </a:path>
              </a:pathLst>
            </a:custGeom>
            <a:blipFill>
              <a:blip r:embed="rId2"/>
              <a:stretch>
                <a:fillRect t="-1063" b="-1063"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3901440" cy="3099816"/>
            </a:xfrm>
            <a:custGeom>
              <a:avLst/>
              <a:gdLst/>
              <a:ahLst/>
              <a:cxnLst/>
              <a:rect l="l" t="t" r="r" b="b"/>
              <a:pathLst>
                <a:path w="3901440" h="3099816">
                  <a:moveTo>
                    <a:pt x="3901440" y="3099816"/>
                  </a:moveTo>
                  <a:lnTo>
                    <a:pt x="0" y="3099816"/>
                  </a:lnTo>
                  <a:lnTo>
                    <a:pt x="0" y="0"/>
                  </a:lnTo>
                  <a:lnTo>
                    <a:pt x="3901440" y="0"/>
                  </a:lnTo>
                  <a:lnTo>
                    <a:pt x="3901440" y="3099816"/>
                  </a:lnTo>
                  <a:close/>
                </a:path>
              </a:pathLst>
            </a:custGeom>
            <a:blipFill>
              <a:blip r:embed="rId3"/>
              <a:stretch>
                <a:fillRect t="-29" b="-29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>
            <a:off x="15468600" y="505842"/>
            <a:ext cx="2484306" cy="3521567"/>
          </a:xfrm>
          <a:custGeom>
            <a:avLst/>
            <a:gdLst/>
            <a:ahLst/>
            <a:cxnLst/>
            <a:rect l="l" t="t" r="r" b="b"/>
            <a:pathLst>
              <a:path w="2484306" h="3521567">
                <a:moveTo>
                  <a:pt x="0" y="0"/>
                </a:moveTo>
                <a:lnTo>
                  <a:pt x="2484306" y="0"/>
                </a:lnTo>
                <a:lnTo>
                  <a:pt x="2484306" y="3521568"/>
                </a:lnTo>
                <a:lnTo>
                  <a:pt x="0" y="3521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9014251" y="5981151"/>
            <a:ext cx="1218706" cy="3584430"/>
          </a:xfrm>
          <a:custGeom>
            <a:avLst/>
            <a:gdLst/>
            <a:ahLst/>
            <a:cxnLst/>
            <a:rect l="l" t="t" r="r" b="b"/>
            <a:pathLst>
              <a:path w="1218706" h="3584430">
                <a:moveTo>
                  <a:pt x="0" y="0"/>
                </a:moveTo>
                <a:lnTo>
                  <a:pt x="1218707" y="0"/>
                </a:lnTo>
                <a:lnTo>
                  <a:pt x="1218707" y="3584430"/>
                </a:lnTo>
                <a:lnTo>
                  <a:pt x="0" y="35844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28700" y="1270894"/>
            <a:ext cx="16277320" cy="1755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1467"/>
              </a:lnSpc>
              <a:spcBef>
                <a:spcPct val="0"/>
              </a:spcBef>
            </a:pPr>
            <a:r>
              <a:rPr lang="en-US" sz="11701" u="none" strike="noStrike">
                <a:solidFill>
                  <a:srgbClr val="202B56"/>
                </a:solidFill>
                <a:latin typeface="Childling"/>
                <a:ea typeface="Childling"/>
                <a:cs typeface="Childling"/>
                <a:sym typeface="Childling"/>
              </a:rPr>
              <a:t>WHAT IS IMAGE CLASSIFICATION?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134763"/>
            <a:ext cx="8421152" cy="4968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896"/>
              </a:lnSpc>
            </a:pPr>
            <a:r>
              <a:rPr lang="en-US" sz="3497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Image Classification means teaching a computer to look at pictures and decide what they show.</a:t>
            </a:r>
          </a:p>
          <a:p>
            <a:pPr marL="0" lvl="0" indent="0" algn="l">
              <a:lnSpc>
                <a:spcPts val="4896"/>
              </a:lnSpc>
            </a:pPr>
            <a:r>
              <a:rPr lang="en-US" sz="3497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Think of it like sorting photos into groups—cats in one pile, dogs in another!</a:t>
            </a:r>
          </a:p>
          <a:p>
            <a:pPr marL="0" lvl="0" indent="0" algn="l">
              <a:lnSpc>
                <a:spcPts val="4896"/>
              </a:lnSpc>
            </a:pPr>
            <a:r>
              <a:rPr lang="en-US" sz="3497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The computer learns to recognize patterns in pictures, just like you can tell the difference between a cat and a dog by looking at them.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EB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 rot="-468440">
            <a:off x="2066381" y="3354351"/>
            <a:ext cx="3179213" cy="4804493"/>
            <a:chOff x="0" y="0"/>
            <a:chExt cx="6790944" cy="1026261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90944" cy="10262616"/>
            </a:xfrm>
            <a:custGeom>
              <a:avLst/>
              <a:gdLst/>
              <a:ahLst/>
              <a:cxnLst/>
              <a:rect l="l" t="t" r="r" b="b"/>
              <a:pathLst>
                <a:path w="6790944" h="10262616">
                  <a:moveTo>
                    <a:pt x="6790944" y="10262616"/>
                  </a:moveTo>
                  <a:lnTo>
                    <a:pt x="0" y="10262616"/>
                  </a:lnTo>
                  <a:lnTo>
                    <a:pt x="0" y="0"/>
                  </a:lnTo>
                  <a:lnTo>
                    <a:pt x="6790944" y="0"/>
                  </a:lnTo>
                  <a:lnTo>
                    <a:pt x="6790944" y="10262616"/>
                  </a:lnTo>
                  <a:close/>
                </a:path>
              </a:pathLst>
            </a:custGeom>
            <a:blipFill>
              <a:blip r:embed="rId2"/>
              <a:stretch>
                <a:fillRect l="-311" r="-311"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99943" y="923837"/>
              <a:ext cx="6533961" cy="7709113"/>
            </a:xfrm>
            <a:custGeom>
              <a:avLst/>
              <a:gdLst/>
              <a:ahLst/>
              <a:cxnLst/>
              <a:rect l="l" t="t" r="r" b="b"/>
              <a:pathLst>
                <a:path w="6533961" h="7709113">
                  <a:moveTo>
                    <a:pt x="6533961" y="7683714"/>
                  </a:moveTo>
                  <a:lnTo>
                    <a:pt x="0" y="7709114"/>
                  </a:lnTo>
                  <a:lnTo>
                    <a:pt x="0" y="0"/>
                  </a:lnTo>
                  <a:lnTo>
                    <a:pt x="6533961" y="0"/>
                  </a:lnTo>
                  <a:lnTo>
                    <a:pt x="6533961" y="7683714"/>
                  </a:lnTo>
                  <a:close/>
                </a:path>
              </a:pathLst>
            </a:custGeom>
            <a:blipFill>
              <a:blip r:embed="rId3"/>
              <a:stretch>
                <a:fillRect t="-2399" b="-2399"/>
              </a:stretch>
            </a:blipFill>
          </p:spPr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 rot="351746">
            <a:off x="7554394" y="3487439"/>
            <a:ext cx="3179213" cy="4804493"/>
            <a:chOff x="0" y="0"/>
            <a:chExt cx="6790944" cy="1026261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790944" cy="10262616"/>
            </a:xfrm>
            <a:custGeom>
              <a:avLst/>
              <a:gdLst/>
              <a:ahLst/>
              <a:cxnLst/>
              <a:rect l="l" t="t" r="r" b="b"/>
              <a:pathLst>
                <a:path w="6790944" h="10262616">
                  <a:moveTo>
                    <a:pt x="6790944" y="10262616"/>
                  </a:moveTo>
                  <a:lnTo>
                    <a:pt x="0" y="10262616"/>
                  </a:lnTo>
                  <a:lnTo>
                    <a:pt x="0" y="0"/>
                  </a:lnTo>
                  <a:lnTo>
                    <a:pt x="6790944" y="0"/>
                  </a:lnTo>
                  <a:lnTo>
                    <a:pt x="6790944" y="10262616"/>
                  </a:lnTo>
                  <a:close/>
                </a:path>
              </a:pathLst>
            </a:custGeom>
            <a:blipFill>
              <a:blip r:embed="rId2"/>
              <a:stretch>
                <a:fillRect l="-311" r="-311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99943" y="923837"/>
              <a:ext cx="6533961" cy="7709113"/>
            </a:xfrm>
            <a:custGeom>
              <a:avLst/>
              <a:gdLst/>
              <a:ahLst/>
              <a:cxnLst/>
              <a:rect l="l" t="t" r="r" b="b"/>
              <a:pathLst>
                <a:path w="6533961" h="7709113">
                  <a:moveTo>
                    <a:pt x="6533961" y="7683714"/>
                  </a:moveTo>
                  <a:lnTo>
                    <a:pt x="0" y="7709114"/>
                  </a:lnTo>
                  <a:lnTo>
                    <a:pt x="0" y="0"/>
                  </a:lnTo>
                  <a:lnTo>
                    <a:pt x="6533961" y="0"/>
                  </a:lnTo>
                  <a:lnTo>
                    <a:pt x="6533961" y="7683714"/>
                  </a:lnTo>
                  <a:close/>
                </a:path>
              </a:pathLst>
            </a:custGeom>
            <a:blipFill>
              <a:blip r:embed="rId4"/>
              <a:stretch>
                <a:fillRect t="-2399" b="-2399"/>
              </a:stretch>
            </a:blipFill>
          </p:spPr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 rot="-314331">
            <a:off x="12337968" y="3412910"/>
            <a:ext cx="3179213" cy="4804493"/>
            <a:chOff x="0" y="0"/>
            <a:chExt cx="6790944" cy="1026261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790944" cy="10262616"/>
            </a:xfrm>
            <a:custGeom>
              <a:avLst/>
              <a:gdLst/>
              <a:ahLst/>
              <a:cxnLst/>
              <a:rect l="l" t="t" r="r" b="b"/>
              <a:pathLst>
                <a:path w="6790944" h="10262616">
                  <a:moveTo>
                    <a:pt x="6790944" y="10262616"/>
                  </a:moveTo>
                  <a:lnTo>
                    <a:pt x="0" y="10262616"/>
                  </a:lnTo>
                  <a:lnTo>
                    <a:pt x="0" y="0"/>
                  </a:lnTo>
                  <a:lnTo>
                    <a:pt x="6790944" y="0"/>
                  </a:lnTo>
                  <a:lnTo>
                    <a:pt x="6790944" y="10262616"/>
                  </a:lnTo>
                  <a:close/>
                </a:path>
              </a:pathLst>
            </a:custGeom>
            <a:blipFill>
              <a:blip r:embed="rId2"/>
              <a:stretch>
                <a:fillRect l="-311" r="-311"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99943" y="923837"/>
              <a:ext cx="6533961" cy="7709113"/>
            </a:xfrm>
            <a:custGeom>
              <a:avLst/>
              <a:gdLst/>
              <a:ahLst/>
              <a:cxnLst/>
              <a:rect l="l" t="t" r="r" b="b"/>
              <a:pathLst>
                <a:path w="6533961" h="7709113">
                  <a:moveTo>
                    <a:pt x="6533961" y="7683714"/>
                  </a:moveTo>
                  <a:lnTo>
                    <a:pt x="0" y="7709114"/>
                  </a:lnTo>
                  <a:lnTo>
                    <a:pt x="0" y="0"/>
                  </a:lnTo>
                  <a:lnTo>
                    <a:pt x="6533961" y="0"/>
                  </a:lnTo>
                  <a:lnTo>
                    <a:pt x="6533961" y="7683714"/>
                  </a:lnTo>
                  <a:close/>
                </a:path>
              </a:pathLst>
            </a:custGeom>
            <a:blipFill>
              <a:blip r:embed="rId5"/>
              <a:stretch>
                <a:fillRect t="-2399" b="-2399"/>
              </a:stretch>
            </a:blipFill>
          </p:spPr>
        </p:sp>
      </p:grpSp>
      <p:sp>
        <p:nvSpPr>
          <p:cNvPr id="11" name="Freeform 11"/>
          <p:cNvSpPr/>
          <p:nvPr/>
        </p:nvSpPr>
        <p:spPr>
          <a:xfrm>
            <a:off x="14521666" y="1556592"/>
            <a:ext cx="2808148" cy="725013"/>
          </a:xfrm>
          <a:custGeom>
            <a:avLst/>
            <a:gdLst/>
            <a:ahLst/>
            <a:cxnLst/>
            <a:rect l="l" t="t" r="r" b="b"/>
            <a:pathLst>
              <a:path w="2808148" h="725013">
                <a:moveTo>
                  <a:pt x="0" y="0"/>
                </a:moveTo>
                <a:lnTo>
                  <a:pt x="2808148" y="0"/>
                </a:lnTo>
                <a:lnTo>
                  <a:pt x="2808148" y="725013"/>
                </a:lnTo>
                <a:lnTo>
                  <a:pt x="0" y="7250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531638" y="1047750"/>
            <a:ext cx="11224725" cy="11957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863"/>
              </a:lnSpc>
              <a:spcBef>
                <a:spcPct val="0"/>
              </a:spcBef>
            </a:pPr>
            <a:r>
              <a:rPr lang="en-US" sz="8023" u="none" strike="noStrike">
                <a:solidFill>
                  <a:srgbClr val="202B56"/>
                </a:solidFill>
                <a:latin typeface="Childling"/>
                <a:ea typeface="Childling"/>
                <a:cs typeface="Childling"/>
                <a:sym typeface="Childling"/>
              </a:rPr>
              <a:t>REAL-WORLD EXAMPLES YOU KNOW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582030" y="8457287"/>
            <a:ext cx="2952811" cy="6235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20"/>
              </a:lnSpc>
            </a:pPr>
            <a:r>
              <a:rPr lang="en-US" sz="4796" spc="-388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Face Filters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76436" y="8457287"/>
            <a:ext cx="3564431" cy="6235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20"/>
              </a:lnSpc>
              <a:spcBef>
                <a:spcPct val="0"/>
              </a:spcBef>
            </a:pPr>
            <a:r>
              <a:rPr lang="en-US" sz="4796" spc="-388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Photo Sorting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61309" y="8457287"/>
            <a:ext cx="3564431" cy="6235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20"/>
              </a:lnSpc>
              <a:spcBef>
                <a:spcPct val="0"/>
              </a:spcBef>
            </a:pPr>
            <a:r>
              <a:rPr lang="en-US" sz="4796" spc="-388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Smile Detection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4E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973968" y="3513950"/>
            <a:ext cx="1418737" cy="141873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DD1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763309" y="5356251"/>
            <a:ext cx="4045436" cy="1491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10"/>
              </a:lnSpc>
            </a:pPr>
            <a:r>
              <a:rPr lang="en-US" sz="2793" dirty="0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Collect Pictures: Gather lots of photos of what you want the machine to learn!</a:t>
            </a:r>
          </a:p>
        </p:txBody>
      </p:sp>
      <p:sp>
        <p:nvSpPr>
          <p:cNvPr id="6" name="Freeform 6"/>
          <p:cNvSpPr/>
          <p:nvPr/>
        </p:nvSpPr>
        <p:spPr>
          <a:xfrm rot="6535751">
            <a:off x="5106156" y="3482795"/>
            <a:ext cx="1575279" cy="2349481"/>
          </a:xfrm>
          <a:custGeom>
            <a:avLst/>
            <a:gdLst/>
            <a:ahLst/>
            <a:cxnLst/>
            <a:rect l="l" t="t" r="r" b="b"/>
            <a:pathLst>
              <a:path w="1575279" h="2349481">
                <a:moveTo>
                  <a:pt x="0" y="0"/>
                </a:moveTo>
                <a:lnTo>
                  <a:pt x="1575278" y="0"/>
                </a:lnTo>
                <a:lnTo>
                  <a:pt x="1575278" y="2349481"/>
                </a:lnTo>
                <a:lnTo>
                  <a:pt x="0" y="23494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134747" r="-218759" b="-75136"/>
            </a:stretch>
          </a:blipFill>
        </p:spPr>
      </p:sp>
      <p:sp>
        <p:nvSpPr>
          <p:cNvPr id="7" name="Freeform 7"/>
          <p:cNvSpPr/>
          <p:nvPr/>
        </p:nvSpPr>
        <p:spPr>
          <a:xfrm rot="8955198">
            <a:off x="10554004" y="4119962"/>
            <a:ext cx="2080084" cy="1023538"/>
          </a:xfrm>
          <a:custGeom>
            <a:avLst/>
            <a:gdLst/>
            <a:ahLst/>
            <a:cxnLst/>
            <a:rect l="l" t="t" r="r" b="b"/>
            <a:pathLst>
              <a:path w="2080084" h="1023538">
                <a:moveTo>
                  <a:pt x="0" y="0"/>
                </a:moveTo>
                <a:lnTo>
                  <a:pt x="2080084" y="0"/>
                </a:lnTo>
                <a:lnTo>
                  <a:pt x="2080084" y="1023538"/>
                </a:lnTo>
                <a:lnTo>
                  <a:pt x="0" y="10235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364621" r="-296930"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8278858" y="4134642"/>
            <a:ext cx="1418737" cy="141873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DD1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9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575269" y="3321045"/>
            <a:ext cx="1418737" cy="141873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DD1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699913" y="7975261"/>
            <a:ext cx="4547617" cy="1372554"/>
          </a:xfrm>
          <a:custGeom>
            <a:avLst/>
            <a:gdLst/>
            <a:ahLst/>
            <a:cxnLst/>
            <a:rect l="l" t="t" r="r" b="b"/>
            <a:pathLst>
              <a:path w="4547617" h="1372554">
                <a:moveTo>
                  <a:pt x="0" y="0"/>
                </a:moveTo>
                <a:lnTo>
                  <a:pt x="4547617" y="0"/>
                </a:lnTo>
                <a:lnTo>
                  <a:pt x="4547617" y="1372554"/>
                </a:lnTo>
                <a:lnTo>
                  <a:pt x="0" y="13725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815096" y="1236798"/>
            <a:ext cx="14657807" cy="1623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506"/>
              </a:lnSpc>
              <a:spcBef>
                <a:spcPct val="0"/>
              </a:spcBef>
            </a:pPr>
            <a:r>
              <a:rPr lang="en-US" sz="10720" u="none" strike="noStrike" dirty="0">
                <a:solidFill>
                  <a:srgbClr val="202B56"/>
                </a:solidFill>
                <a:latin typeface="Childling"/>
                <a:ea typeface="Childling"/>
                <a:cs typeface="Childling"/>
                <a:sym typeface="Childling"/>
              </a:rPr>
              <a:t>HOW DO MACHINES LEARN TO SEE?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264289" y="3943430"/>
            <a:ext cx="830574" cy="1376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299"/>
              </a:lnSpc>
            </a:pPr>
            <a:r>
              <a:rPr lang="en-US" sz="10567" spc="-855" dirty="0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558434" y="4466794"/>
            <a:ext cx="830574" cy="1376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299"/>
              </a:lnSpc>
            </a:pPr>
            <a:r>
              <a:rPr lang="en-US" sz="10567" spc="-855" dirty="0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799083" y="3620399"/>
            <a:ext cx="830574" cy="1376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299"/>
              </a:lnSpc>
            </a:pPr>
            <a:r>
              <a:rPr lang="en-US" sz="10567" spc="-855" dirty="0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51003" y="5833542"/>
            <a:ext cx="4045436" cy="1491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10"/>
              </a:lnSpc>
            </a:pPr>
            <a:r>
              <a:rPr lang="en-US" sz="2793" dirty="0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Train the Model: Show the computer these pictures so it can learn patterns!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118094" y="5274436"/>
            <a:ext cx="4045436" cy="1491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10"/>
              </a:lnSpc>
            </a:pPr>
            <a:r>
              <a:rPr lang="en-US" sz="2793">
                <a:solidFill>
                  <a:srgbClr val="202B56"/>
                </a:solidFill>
                <a:latin typeface="Childos Arabic"/>
                <a:ea typeface="Childos Arabic"/>
                <a:cs typeface="Childos Arabic"/>
                <a:sym typeface="Childos Arabic"/>
              </a:rPr>
              <a:t>Test It Out: See if the machine can correctly guess new pictures!</a:t>
            </a:r>
          </a:p>
        </p:txBody>
      </p:sp>
      <p:sp>
        <p:nvSpPr>
          <p:cNvPr id="21" name="Freeform 21"/>
          <p:cNvSpPr/>
          <p:nvPr/>
        </p:nvSpPr>
        <p:spPr>
          <a:xfrm rot="-952115">
            <a:off x="14211498" y="7550401"/>
            <a:ext cx="3904064" cy="2432583"/>
          </a:xfrm>
          <a:custGeom>
            <a:avLst/>
            <a:gdLst/>
            <a:ahLst/>
            <a:cxnLst/>
            <a:rect l="l" t="t" r="r" b="b"/>
            <a:pathLst>
              <a:path w="3904064" h="2432583">
                <a:moveTo>
                  <a:pt x="0" y="0"/>
                </a:moveTo>
                <a:lnTo>
                  <a:pt x="3904064" y="0"/>
                </a:lnTo>
                <a:lnTo>
                  <a:pt x="3904064" y="2432583"/>
                </a:lnTo>
                <a:lnTo>
                  <a:pt x="0" y="24325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 rot="-8941876">
            <a:off x="15986202" y="74710"/>
            <a:ext cx="1802278" cy="2511067"/>
          </a:xfrm>
          <a:custGeom>
            <a:avLst/>
            <a:gdLst/>
            <a:ahLst/>
            <a:cxnLst/>
            <a:rect l="l" t="t" r="r" b="b"/>
            <a:pathLst>
              <a:path w="2800877" h="2921875">
                <a:moveTo>
                  <a:pt x="0" y="0"/>
                </a:moveTo>
                <a:lnTo>
                  <a:pt x="2800876" y="0"/>
                </a:lnTo>
                <a:lnTo>
                  <a:pt x="2800876" y="2921875"/>
                </a:lnTo>
                <a:lnTo>
                  <a:pt x="0" y="29218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EB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528339" y="3782555"/>
            <a:ext cx="9231322" cy="3372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065"/>
              </a:lnSpc>
              <a:spcBef>
                <a:spcPct val="0"/>
              </a:spcBef>
            </a:pPr>
            <a:r>
              <a:rPr lang="en-US" sz="12311" u="none" strike="noStrike">
                <a:solidFill>
                  <a:srgbClr val="202B56"/>
                </a:solidFill>
                <a:latin typeface="Childling"/>
                <a:ea typeface="Childling"/>
                <a:cs typeface="Childling"/>
                <a:sym typeface="Childling"/>
              </a:rPr>
              <a:t>YOUR TURN!</a:t>
            </a:r>
          </a:p>
          <a:p>
            <a:pPr marL="0" lvl="0" indent="0" algn="ctr">
              <a:lnSpc>
                <a:spcPts val="12065"/>
              </a:lnSpc>
              <a:spcBef>
                <a:spcPct val="0"/>
              </a:spcBef>
            </a:pPr>
            <a:r>
              <a:rPr lang="en-US" sz="12311" u="none" strike="noStrike">
                <a:solidFill>
                  <a:srgbClr val="202B56"/>
                </a:solidFill>
                <a:latin typeface="Childling"/>
                <a:ea typeface="Childling"/>
                <a:cs typeface="Childling"/>
                <a:sym typeface="Childling"/>
              </a:rPr>
              <a:t>TEACH A MACHINE!</a:t>
            </a:r>
          </a:p>
        </p:txBody>
      </p:sp>
      <p:sp>
        <p:nvSpPr>
          <p:cNvPr id="3" name="Freeform 3"/>
          <p:cNvSpPr/>
          <p:nvPr/>
        </p:nvSpPr>
        <p:spPr>
          <a:xfrm rot="664780">
            <a:off x="13776183" y="3663592"/>
            <a:ext cx="4657061" cy="6629268"/>
          </a:xfrm>
          <a:custGeom>
            <a:avLst/>
            <a:gdLst/>
            <a:ahLst/>
            <a:cxnLst/>
            <a:rect l="l" t="t" r="r" b="b"/>
            <a:pathLst>
              <a:path w="4657061" h="6629268">
                <a:moveTo>
                  <a:pt x="0" y="0"/>
                </a:moveTo>
                <a:lnTo>
                  <a:pt x="4657061" y="0"/>
                </a:lnTo>
                <a:lnTo>
                  <a:pt x="4657061" y="6629268"/>
                </a:lnTo>
                <a:lnTo>
                  <a:pt x="0" y="66292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2950" y="3314700"/>
            <a:ext cx="2935389" cy="5373710"/>
          </a:xfrm>
          <a:custGeom>
            <a:avLst/>
            <a:gdLst/>
            <a:ahLst/>
            <a:cxnLst/>
            <a:rect l="l" t="t" r="r" b="b"/>
            <a:pathLst>
              <a:path w="2935389" h="5373710">
                <a:moveTo>
                  <a:pt x="0" y="0"/>
                </a:moveTo>
                <a:lnTo>
                  <a:pt x="2935389" y="0"/>
                </a:lnTo>
                <a:lnTo>
                  <a:pt x="2935389" y="5373711"/>
                </a:lnTo>
                <a:lnTo>
                  <a:pt x="0" y="5373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7544822" y="1172617"/>
            <a:ext cx="2350576" cy="2530903"/>
          </a:xfrm>
          <a:custGeom>
            <a:avLst/>
            <a:gdLst/>
            <a:ahLst/>
            <a:cxnLst/>
            <a:rect l="l" t="t" r="r" b="b"/>
            <a:pathLst>
              <a:path w="2350576" h="2530903">
                <a:moveTo>
                  <a:pt x="0" y="0"/>
                </a:moveTo>
                <a:lnTo>
                  <a:pt x="2350575" y="0"/>
                </a:lnTo>
                <a:lnTo>
                  <a:pt x="2350575" y="2530902"/>
                </a:lnTo>
                <a:lnTo>
                  <a:pt x="0" y="25309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149</Words>
  <Application>Microsoft Office PowerPoint</Application>
  <PresentationFormat>Custom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Childos Arabic</vt:lpstr>
      <vt:lpstr>Childos Arabic Light</vt:lpstr>
      <vt:lpstr>Calibri</vt:lpstr>
      <vt:lpstr>Childling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2: Teaching Machines - Image Classification</dc:title>
  <cp:lastModifiedBy>JAGADISH JEEVAN SAI</cp:lastModifiedBy>
  <cp:revision>3</cp:revision>
  <dcterms:created xsi:type="dcterms:W3CDTF">2006-08-16T00:00:00Z</dcterms:created>
  <dcterms:modified xsi:type="dcterms:W3CDTF">2026-04-28T10:46:45Z</dcterms:modified>
  <dc:identifier>DAHIIjqpIFc</dc:identifier>
</cp:coreProperties>
</file>