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Montserrat" panose="00000500000000000000" pitchFamily="2" charset="0"/>
      <p:regular r:id="rId7"/>
    </p:embeddedFont>
    <p:embeddedFont>
      <p:font typeface="Raleway Ultra-Bold" panose="020B0604020202020204" charset="0"/>
      <p:regular r:id="rId8"/>
    </p:embeddedFont>
    <p:embeddedFont>
      <p:font typeface="TAN Headline"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9"/>
        </a:solidFill>
        <a:effectLst/>
      </p:bgPr>
    </p:bg>
    <p:spTree>
      <p:nvGrpSpPr>
        <p:cNvPr id="1" name=""/>
        <p:cNvGrpSpPr/>
        <p:nvPr/>
      </p:nvGrpSpPr>
      <p:grpSpPr>
        <a:xfrm>
          <a:off x="0" y="0"/>
          <a:ext cx="0" cy="0"/>
          <a:chOff x="0" y="0"/>
          <a:chExt cx="0" cy="0"/>
        </a:xfrm>
      </p:grpSpPr>
      <p:sp>
        <p:nvSpPr>
          <p:cNvPr id="2" name="Freeform 2"/>
          <p:cNvSpPr/>
          <p:nvPr/>
        </p:nvSpPr>
        <p:spPr>
          <a:xfrm>
            <a:off x="-462" y="0"/>
            <a:ext cx="3429177" cy="3429177"/>
          </a:xfrm>
          <a:custGeom>
            <a:avLst/>
            <a:gdLst/>
            <a:ahLst/>
            <a:cxnLst/>
            <a:rect l="l" t="t" r="r" b="b"/>
            <a:pathLst>
              <a:path w="3429177" h="3429177">
                <a:moveTo>
                  <a:pt x="0" y="0"/>
                </a:moveTo>
                <a:lnTo>
                  <a:pt x="3429177" y="0"/>
                </a:lnTo>
                <a:lnTo>
                  <a:pt x="3429177" y="3429177"/>
                </a:lnTo>
                <a:lnTo>
                  <a:pt x="0" y="34291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428715" y="0"/>
            <a:ext cx="3429177" cy="3429177"/>
          </a:xfrm>
          <a:custGeom>
            <a:avLst/>
            <a:gdLst/>
            <a:ahLst/>
            <a:cxnLst/>
            <a:rect l="l" t="t" r="r" b="b"/>
            <a:pathLst>
              <a:path w="3429177" h="3429177">
                <a:moveTo>
                  <a:pt x="0" y="0"/>
                </a:moveTo>
                <a:lnTo>
                  <a:pt x="3429177" y="0"/>
                </a:lnTo>
                <a:lnTo>
                  <a:pt x="3429177" y="3429177"/>
                </a:lnTo>
                <a:lnTo>
                  <a:pt x="0" y="342917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6857892" y="0"/>
            <a:ext cx="3435424" cy="3429177"/>
          </a:xfrm>
          <a:custGeom>
            <a:avLst/>
            <a:gdLst/>
            <a:ahLst/>
            <a:cxnLst/>
            <a:rect l="l" t="t" r="r" b="b"/>
            <a:pathLst>
              <a:path w="3435424" h="3429177">
                <a:moveTo>
                  <a:pt x="0" y="0"/>
                </a:moveTo>
                <a:lnTo>
                  <a:pt x="3435424" y="0"/>
                </a:lnTo>
                <a:lnTo>
                  <a:pt x="3435424" y="3429177"/>
                </a:lnTo>
                <a:lnTo>
                  <a:pt x="0" y="342917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0557" y="0"/>
            <a:ext cx="3435424" cy="3429177"/>
          </a:xfrm>
          <a:custGeom>
            <a:avLst/>
            <a:gdLst/>
            <a:ahLst/>
            <a:cxnLst/>
            <a:rect l="l" t="t" r="r" b="b"/>
            <a:pathLst>
              <a:path w="3435424" h="3429177">
                <a:moveTo>
                  <a:pt x="0" y="0"/>
                </a:moveTo>
                <a:lnTo>
                  <a:pt x="3435424" y="0"/>
                </a:lnTo>
                <a:lnTo>
                  <a:pt x="3435424" y="3429177"/>
                </a:lnTo>
                <a:lnTo>
                  <a:pt x="0" y="34291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7116317" y="6857823"/>
            <a:ext cx="3435424" cy="3429177"/>
          </a:xfrm>
          <a:custGeom>
            <a:avLst/>
            <a:gdLst/>
            <a:ahLst/>
            <a:cxnLst/>
            <a:rect l="l" t="t" r="r" b="b"/>
            <a:pathLst>
              <a:path w="3435424" h="3429177">
                <a:moveTo>
                  <a:pt x="0" y="0"/>
                </a:moveTo>
                <a:lnTo>
                  <a:pt x="3435423" y="0"/>
                </a:lnTo>
                <a:lnTo>
                  <a:pt x="3435423" y="3429177"/>
                </a:lnTo>
                <a:lnTo>
                  <a:pt x="0" y="342917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3709557" y="0"/>
            <a:ext cx="3435424" cy="3429177"/>
          </a:xfrm>
          <a:custGeom>
            <a:avLst/>
            <a:gdLst/>
            <a:ahLst/>
            <a:cxnLst/>
            <a:rect l="l" t="t" r="r" b="b"/>
            <a:pathLst>
              <a:path w="3435424" h="3429177">
                <a:moveTo>
                  <a:pt x="0" y="0"/>
                </a:moveTo>
                <a:lnTo>
                  <a:pt x="3435424" y="0"/>
                </a:lnTo>
                <a:lnTo>
                  <a:pt x="3435424" y="3429177"/>
                </a:lnTo>
                <a:lnTo>
                  <a:pt x="0" y="342917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196" y="3429177"/>
            <a:ext cx="3428911" cy="3428911"/>
          </a:xfrm>
          <a:custGeom>
            <a:avLst/>
            <a:gdLst/>
            <a:ahLst/>
            <a:cxnLst/>
            <a:rect l="l" t="t" r="r" b="b"/>
            <a:pathLst>
              <a:path w="3428911" h="3428911">
                <a:moveTo>
                  <a:pt x="0" y="0"/>
                </a:moveTo>
                <a:lnTo>
                  <a:pt x="3428911" y="0"/>
                </a:lnTo>
                <a:lnTo>
                  <a:pt x="3428911" y="3428912"/>
                </a:lnTo>
                <a:lnTo>
                  <a:pt x="0" y="342891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96" y="6858089"/>
            <a:ext cx="3428911" cy="3428911"/>
          </a:xfrm>
          <a:custGeom>
            <a:avLst/>
            <a:gdLst/>
            <a:ahLst/>
            <a:cxnLst/>
            <a:rect l="l" t="t" r="r" b="b"/>
            <a:pathLst>
              <a:path w="3428911" h="3428911">
                <a:moveTo>
                  <a:pt x="0" y="0"/>
                </a:moveTo>
                <a:lnTo>
                  <a:pt x="3428911" y="0"/>
                </a:lnTo>
                <a:lnTo>
                  <a:pt x="3428911" y="3428911"/>
                </a:lnTo>
                <a:lnTo>
                  <a:pt x="0" y="342891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3428715" y="6857823"/>
            <a:ext cx="3429177" cy="3429177"/>
          </a:xfrm>
          <a:custGeom>
            <a:avLst/>
            <a:gdLst/>
            <a:ahLst/>
            <a:cxnLst/>
            <a:rect l="l" t="t" r="r" b="b"/>
            <a:pathLst>
              <a:path w="3429177" h="3429177">
                <a:moveTo>
                  <a:pt x="0" y="0"/>
                </a:moveTo>
                <a:lnTo>
                  <a:pt x="3429177" y="0"/>
                </a:lnTo>
                <a:lnTo>
                  <a:pt x="3429177" y="3429177"/>
                </a:lnTo>
                <a:lnTo>
                  <a:pt x="0" y="3429177"/>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a:off x="6857892" y="6858089"/>
            <a:ext cx="3428911" cy="3428911"/>
          </a:xfrm>
          <a:custGeom>
            <a:avLst/>
            <a:gdLst/>
            <a:ahLst/>
            <a:cxnLst/>
            <a:rect l="l" t="t" r="r" b="b"/>
            <a:pathLst>
              <a:path w="3428911" h="3428911">
                <a:moveTo>
                  <a:pt x="0" y="0"/>
                </a:moveTo>
                <a:lnTo>
                  <a:pt x="3428912" y="0"/>
                </a:lnTo>
                <a:lnTo>
                  <a:pt x="3428912" y="3428911"/>
                </a:lnTo>
                <a:lnTo>
                  <a:pt x="0" y="342891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Freeform 12"/>
          <p:cNvSpPr/>
          <p:nvPr/>
        </p:nvSpPr>
        <p:spPr>
          <a:xfrm>
            <a:off x="10280557" y="6857823"/>
            <a:ext cx="3429177" cy="3429177"/>
          </a:xfrm>
          <a:custGeom>
            <a:avLst/>
            <a:gdLst/>
            <a:ahLst/>
            <a:cxnLst/>
            <a:rect l="l" t="t" r="r" b="b"/>
            <a:pathLst>
              <a:path w="3429177" h="3429177">
                <a:moveTo>
                  <a:pt x="0" y="0"/>
                </a:moveTo>
                <a:lnTo>
                  <a:pt x="3429178" y="0"/>
                </a:lnTo>
                <a:lnTo>
                  <a:pt x="3429178" y="3429177"/>
                </a:lnTo>
                <a:lnTo>
                  <a:pt x="0" y="342917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7135456" y="0"/>
            <a:ext cx="3429177" cy="3429177"/>
          </a:xfrm>
          <a:custGeom>
            <a:avLst/>
            <a:gdLst/>
            <a:ahLst/>
            <a:cxnLst/>
            <a:rect l="l" t="t" r="r" b="b"/>
            <a:pathLst>
              <a:path w="3429177" h="3429177">
                <a:moveTo>
                  <a:pt x="0" y="0"/>
                </a:moveTo>
                <a:lnTo>
                  <a:pt x="3429177" y="0"/>
                </a:lnTo>
                <a:lnTo>
                  <a:pt x="3429177" y="3429177"/>
                </a:lnTo>
                <a:lnTo>
                  <a:pt x="0" y="342917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Freeform 14"/>
          <p:cNvSpPr/>
          <p:nvPr/>
        </p:nvSpPr>
        <p:spPr>
          <a:xfrm>
            <a:off x="13690685" y="6858089"/>
            <a:ext cx="3435157" cy="3428911"/>
          </a:xfrm>
          <a:custGeom>
            <a:avLst/>
            <a:gdLst/>
            <a:ahLst/>
            <a:cxnLst/>
            <a:rect l="l" t="t" r="r" b="b"/>
            <a:pathLst>
              <a:path w="3435157" h="3428911">
                <a:moveTo>
                  <a:pt x="0" y="0"/>
                </a:moveTo>
                <a:lnTo>
                  <a:pt x="3435157" y="0"/>
                </a:lnTo>
                <a:lnTo>
                  <a:pt x="3435157" y="3428911"/>
                </a:lnTo>
                <a:lnTo>
                  <a:pt x="0" y="3428911"/>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4705048" y="4035768"/>
            <a:ext cx="12554252" cy="1817572"/>
          </a:xfrm>
          <a:prstGeom prst="rect">
            <a:avLst/>
          </a:prstGeom>
        </p:spPr>
        <p:txBody>
          <a:bodyPr lIns="0" tIns="0" rIns="0" bIns="0" rtlCol="0" anchor="t">
            <a:spAutoFit/>
          </a:bodyPr>
          <a:lstStyle/>
          <a:p>
            <a:pPr marL="0" lvl="0" indent="0" algn="ctr">
              <a:lnSpc>
                <a:spcPts val="7249"/>
              </a:lnSpc>
              <a:spcBef>
                <a:spcPct val="0"/>
              </a:spcBef>
            </a:pPr>
            <a:r>
              <a:rPr lang="en-US" sz="5619">
                <a:gradFill>
                  <a:gsLst>
                    <a:gs pos="0">
                      <a:srgbClr val="000000">
                        <a:alpha val="100000"/>
                      </a:srgbClr>
                    </a:gs>
                    <a:gs pos="100000">
                      <a:srgbClr val="696666">
                        <a:alpha val="100000"/>
                      </a:srgbClr>
                    </a:gs>
                  </a:gsLst>
                  <a:lin ang="5400000"/>
                </a:gradFill>
                <a:latin typeface="TAN Headline"/>
                <a:ea typeface="TAN Headline"/>
                <a:cs typeface="TAN Headline"/>
                <a:sym typeface="TAN Headline"/>
              </a:rPr>
              <a:t>DAY 4: AI AS AN ARTIST – GENERATIVE ART</a:t>
            </a:r>
          </a:p>
        </p:txBody>
      </p:sp>
      <p:sp>
        <p:nvSpPr>
          <p:cNvPr id="16" name="TextBox 16"/>
          <p:cNvSpPr txBox="1"/>
          <p:nvPr/>
        </p:nvSpPr>
        <p:spPr>
          <a:xfrm>
            <a:off x="6664041" y="5783272"/>
            <a:ext cx="8514460" cy="521426"/>
          </a:xfrm>
          <a:prstGeom prst="rect">
            <a:avLst/>
          </a:prstGeom>
        </p:spPr>
        <p:txBody>
          <a:bodyPr lIns="0" tIns="0" rIns="0" bIns="0" rtlCol="0" anchor="t">
            <a:spAutoFit/>
          </a:bodyPr>
          <a:lstStyle/>
          <a:p>
            <a:pPr marL="0" lvl="0" indent="0" algn="ctr">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How AI Creates Cool Art and Images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9"/>
        </a:solidFill>
        <a:effectLst/>
      </p:bgPr>
    </p:bg>
    <p:spTree>
      <p:nvGrpSpPr>
        <p:cNvPr id="1" name=""/>
        <p:cNvGrpSpPr/>
        <p:nvPr/>
      </p:nvGrpSpPr>
      <p:grpSpPr>
        <a:xfrm>
          <a:off x="0" y="0"/>
          <a:ext cx="0" cy="0"/>
          <a:chOff x="0" y="0"/>
          <a:chExt cx="0" cy="0"/>
        </a:xfrm>
      </p:grpSpPr>
      <p:sp>
        <p:nvSpPr>
          <p:cNvPr id="2" name="Freeform 2"/>
          <p:cNvSpPr/>
          <p:nvPr/>
        </p:nvSpPr>
        <p:spPr>
          <a:xfrm>
            <a:off x="-410276" y="-237344"/>
            <a:ext cx="7478316" cy="6954834"/>
          </a:xfrm>
          <a:custGeom>
            <a:avLst/>
            <a:gdLst/>
            <a:ahLst/>
            <a:cxnLst/>
            <a:rect l="l" t="t" r="r" b="b"/>
            <a:pathLst>
              <a:path w="7478316" h="6954834">
                <a:moveTo>
                  <a:pt x="0" y="0"/>
                </a:moveTo>
                <a:lnTo>
                  <a:pt x="7478316" y="0"/>
                </a:lnTo>
                <a:lnTo>
                  <a:pt x="7478316" y="6954834"/>
                </a:lnTo>
                <a:lnTo>
                  <a:pt x="0" y="6954834"/>
                </a:lnTo>
                <a:lnTo>
                  <a:pt x="0" y="0"/>
                </a:lnTo>
                <a:close/>
              </a:path>
            </a:pathLst>
          </a:custGeom>
          <a:blipFill>
            <a:blip r:embed="rId2"/>
            <a:stretch>
              <a:fillRect/>
            </a:stretch>
          </a:blipFill>
        </p:spPr>
      </p:sp>
      <p:sp>
        <p:nvSpPr>
          <p:cNvPr id="3" name="Freeform 3"/>
          <p:cNvSpPr/>
          <p:nvPr/>
        </p:nvSpPr>
        <p:spPr>
          <a:xfrm>
            <a:off x="0" y="6858000"/>
            <a:ext cx="3429000" cy="3429000"/>
          </a:xfrm>
          <a:custGeom>
            <a:avLst/>
            <a:gdLst/>
            <a:ahLst/>
            <a:cxnLst/>
            <a:rect l="l" t="t" r="r" b="b"/>
            <a:pathLst>
              <a:path w="3429000" h="3429000">
                <a:moveTo>
                  <a:pt x="0" y="0"/>
                </a:moveTo>
                <a:lnTo>
                  <a:pt x="3429000" y="0"/>
                </a:lnTo>
                <a:lnTo>
                  <a:pt x="3429000" y="3429000"/>
                </a:lnTo>
                <a:lnTo>
                  <a:pt x="0" y="34290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504721" y="6931818"/>
            <a:ext cx="3270174" cy="3270174"/>
          </a:xfrm>
          <a:custGeom>
            <a:avLst/>
            <a:gdLst/>
            <a:ahLst/>
            <a:cxnLst/>
            <a:rect l="l" t="t" r="r" b="b"/>
            <a:pathLst>
              <a:path w="3270174" h="3270174">
                <a:moveTo>
                  <a:pt x="0" y="0"/>
                </a:moveTo>
                <a:lnTo>
                  <a:pt x="3270173" y="0"/>
                </a:lnTo>
                <a:lnTo>
                  <a:pt x="3270173" y="3270174"/>
                </a:lnTo>
                <a:lnTo>
                  <a:pt x="0" y="3270174"/>
                </a:lnTo>
                <a:lnTo>
                  <a:pt x="0" y="0"/>
                </a:lnTo>
                <a:close/>
              </a:path>
            </a:pathLst>
          </a:custGeom>
          <a:blipFill>
            <a:blip r:embed="rId4"/>
            <a:stretch>
              <a:fillRect/>
            </a:stretch>
          </a:blipFill>
        </p:spPr>
      </p:sp>
      <p:sp>
        <p:nvSpPr>
          <p:cNvPr id="5" name="TextBox 5"/>
          <p:cNvSpPr txBox="1"/>
          <p:nvPr/>
        </p:nvSpPr>
        <p:spPr>
          <a:xfrm>
            <a:off x="7706632" y="2310799"/>
            <a:ext cx="9908118" cy="2244939"/>
          </a:xfrm>
          <a:prstGeom prst="rect">
            <a:avLst/>
          </a:prstGeom>
        </p:spPr>
        <p:txBody>
          <a:bodyPr lIns="0" tIns="0" rIns="0" bIns="0" rtlCol="0" anchor="t">
            <a:spAutoFit/>
          </a:bodyPr>
          <a:lstStyle/>
          <a:p>
            <a:pPr marL="0" lvl="0" indent="0" algn="l">
              <a:lnSpc>
                <a:spcPts val="8934"/>
              </a:lnSpc>
            </a:pPr>
            <a:r>
              <a:rPr lang="en-US" sz="6925" dirty="0">
                <a:gradFill>
                  <a:gsLst>
                    <a:gs pos="0">
                      <a:srgbClr val="000000">
                        <a:alpha val="100000"/>
                      </a:srgbClr>
                    </a:gs>
                    <a:gs pos="100000">
                      <a:srgbClr val="696666">
                        <a:alpha val="100000"/>
                      </a:srgbClr>
                    </a:gs>
                  </a:gsLst>
                  <a:lin ang="5400000"/>
                </a:gradFill>
                <a:latin typeface="TAN Headline"/>
                <a:ea typeface="TAN Headline"/>
                <a:cs typeface="TAN Headline"/>
                <a:sym typeface="TAN Headline"/>
              </a:rPr>
              <a:t>WHAT IS GENERATIVE ART?</a:t>
            </a:r>
          </a:p>
        </p:txBody>
      </p:sp>
      <p:sp>
        <p:nvSpPr>
          <p:cNvPr id="6" name="TextBox 6"/>
          <p:cNvSpPr txBox="1"/>
          <p:nvPr/>
        </p:nvSpPr>
        <p:spPr>
          <a:xfrm>
            <a:off x="7706632" y="5172098"/>
            <a:ext cx="9908118" cy="521426"/>
          </a:xfrm>
          <a:prstGeom prst="rect">
            <a:avLst/>
          </a:prstGeom>
        </p:spPr>
        <p:txBody>
          <a:bodyPr lIns="0" tIns="0" rIns="0" bIns="0" rtlCol="0" anchor="t">
            <a:spAutoFit/>
          </a:bodyPr>
          <a:lstStyle/>
          <a:p>
            <a:pPr marL="0" lvl="0" indent="0" algn="just">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Art Made by Computers!</a:t>
            </a:r>
          </a:p>
        </p:txBody>
      </p:sp>
      <p:sp>
        <p:nvSpPr>
          <p:cNvPr id="7" name="TextBox 7"/>
          <p:cNvSpPr txBox="1"/>
          <p:nvPr/>
        </p:nvSpPr>
        <p:spPr>
          <a:xfrm>
            <a:off x="7706632" y="6395480"/>
            <a:ext cx="9908118" cy="1737494"/>
          </a:xfrm>
          <a:prstGeom prst="rect">
            <a:avLst/>
          </a:prstGeom>
        </p:spPr>
        <p:txBody>
          <a:bodyPr lIns="0" tIns="0" rIns="0" bIns="0" rtlCol="0" anchor="t">
            <a:spAutoFit/>
          </a:bodyPr>
          <a:lstStyle/>
          <a:p>
            <a:pPr marL="0" lvl="0" indent="0" algn="l">
              <a:lnSpc>
                <a:spcPts val="3468"/>
              </a:lnSpc>
              <a:spcBef>
                <a:spcPct val="0"/>
              </a:spcBef>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Generative art is art made by computers using special programs called AI. The AI uses rules and creativity to make pictures, music, or stories! It's like having a robot friend who loves to paint, draw, and create amazing things with you!</a:t>
            </a:r>
          </a:p>
        </p:txBody>
      </p:sp>
      <p:grpSp>
        <p:nvGrpSpPr>
          <p:cNvPr id="8" name="Group 8"/>
          <p:cNvGrpSpPr/>
          <p:nvPr/>
        </p:nvGrpSpPr>
        <p:grpSpPr>
          <a:xfrm>
            <a:off x="7720801" y="1396344"/>
            <a:ext cx="4283154" cy="487313"/>
            <a:chOff x="138625" y="28575"/>
            <a:chExt cx="5710871" cy="649750"/>
          </a:xfrm>
        </p:grpSpPr>
        <p:sp>
          <p:nvSpPr>
            <p:cNvPr id="9" name="Freeform 9"/>
            <p:cNvSpPr/>
            <p:nvPr/>
          </p:nvSpPr>
          <p:spPr>
            <a:xfrm>
              <a:off x="138625" y="96161"/>
              <a:ext cx="570490" cy="541012"/>
            </a:xfrm>
            <a:custGeom>
              <a:avLst/>
              <a:gdLst/>
              <a:ahLst/>
              <a:cxnLst/>
              <a:rect l="l" t="t" r="r" b="b"/>
              <a:pathLst>
                <a:path w="570490" h="541012">
                  <a:moveTo>
                    <a:pt x="0" y="0"/>
                  </a:moveTo>
                  <a:lnTo>
                    <a:pt x="570490" y="0"/>
                  </a:lnTo>
                  <a:lnTo>
                    <a:pt x="570490" y="541012"/>
                  </a:lnTo>
                  <a:lnTo>
                    <a:pt x="0" y="541012"/>
                  </a:lnTo>
                  <a:lnTo>
                    <a:pt x="0" y="0"/>
                  </a:lnTo>
                  <a:close/>
                </a:path>
              </a:pathLst>
            </a:custGeom>
            <a:blipFill>
              <a:blip r:embed="rId5"/>
              <a:stretch>
                <a:fillRect/>
              </a:stretch>
            </a:blipFill>
          </p:spPr>
        </p:sp>
        <p:sp>
          <p:nvSpPr>
            <p:cNvPr id="10" name="TextBox 10"/>
            <p:cNvSpPr txBox="1"/>
            <p:nvPr/>
          </p:nvSpPr>
          <p:spPr>
            <a:xfrm>
              <a:off x="847740" y="28575"/>
              <a:ext cx="5001756" cy="649750"/>
            </a:xfrm>
            <a:prstGeom prst="rect">
              <a:avLst/>
            </a:prstGeom>
          </p:spPr>
          <p:txBody>
            <a:bodyPr lIns="0" tIns="0" rIns="0" bIns="0" rtlCol="0" anchor="t">
              <a:spAutoFit/>
            </a:bodyPr>
            <a:lstStyle/>
            <a:p>
              <a:pPr marL="0" lvl="0" indent="0" algn="just">
                <a:lnSpc>
                  <a:spcPts val="3828"/>
                </a:lnSpc>
                <a:spcBef>
                  <a:spcPct val="0"/>
                </a:spcBef>
              </a:pPr>
              <a:r>
                <a:rPr lang="en-US" sz="3612" b="1" dirty="0">
                  <a:solidFill>
                    <a:srgbClr val="FF7F63"/>
                  </a:solidFill>
                  <a:latin typeface="Raleway Ultra-Bold"/>
                  <a:ea typeface="Raleway Ultra-Bold"/>
                  <a:cs typeface="Raleway Ultra-Bold"/>
                  <a:sym typeface="Raleway Ultra-Bold"/>
                </a:rPr>
                <a:t> AI Artist</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9"/>
        </a:solidFill>
        <a:effectLst/>
      </p:bgPr>
    </p:bg>
    <p:spTree>
      <p:nvGrpSpPr>
        <p:cNvPr id="1" name=""/>
        <p:cNvGrpSpPr/>
        <p:nvPr/>
      </p:nvGrpSpPr>
      <p:grpSpPr>
        <a:xfrm>
          <a:off x="0" y="0"/>
          <a:ext cx="0" cy="0"/>
          <a:chOff x="0" y="0"/>
          <a:chExt cx="0" cy="0"/>
        </a:xfrm>
      </p:grpSpPr>
      <p:sp>
        <p:nvSpPr>
          <p:cNvPr id="2" name="Freeform 2"/>
          <p:cNvSpPr/>
          <p:nvPr/>
        </p:nvSpPr>
        <p:spPr>
          <a:xfrm>
            <a:off x="3636" y="-218813"/>
            <a:ext cx="6792189" cy="6957428"/>
          </a:xfrm>
          <a:custGeom>
            <a:avLst/>
            <a:gdLst/>
            <a:ahLst/>
            <a:cxnLst/>
            <a:rect l="l" t="t" r="r" b="b"/>
            <a:pathLst>
              <a:path w="6792189" h="6957428">
                <a:moveTo>
                  <a:pt x="0" y="0"/>
                </a:moveTo>
                <a:lnTo>
                  <a:pt x="6792189" y="0"/>
                </a:lnTo>
                <a:lnTo>
                  <a:pt x="6792189" y="6957428"/>
                </a:lnTo>
                <a:lnTo>
                  <a:pt x="0" y="6957428"/>
                </a:lnTo>
                <a:lnTo>
                  <a:pt x="0" y="0"/>
                </a:lnTo>
                <a:close/>
              </a:path>
            </a:pathLst>
          </a:custGeom>
          <a:blipFill>
            <a:blip r:embed="rId2"/>
            <a:stretch>
              <a:fillRect/>
            </a:stretch>
          </a:blipFill>
        </p:spPr>
      </p:sp>
      <p:sp>
        <p:nvSpPr>
          <p:cNvPr id="3" name="Freeform 3"/>
          <p:cNvSpPr/>
          <p:nvPr/>
        </p:nvSpPr>
        <p:spPr>
          <a:xfrm>
            <a:off x="-125992" y="6773007"/>
            <a:ext cx="3668607" cy="3668607"/>
          </a:xfrm>
          <a:custGeom>
            <a:avLst/>
            <a:gdLst/>
            <a:ahLst/>
            <a:cxnLst/>
            <a:rect l="l" t="t" r="r" b="b"/>
            <a:pathLst>
              <a:path w="3668607" h="3668607">
                <a:moveTo>
                  <a:pt x="0" y="0"/>
                </a:moveTo>
                <a:lnTo>
                  <a:pt x="3668607" y="0"/>
                </a:lnTo>
                <a:lnTo>
                  <a:pt x="3668607" y="3668607"/>
                </a:lnTo>
                <a:lnTo>
                  <a:pt x="0" y="3668607"/>
                </a:lnTo>
                <a:lnTo>
                  <a:pt x="0" y="0"/>
                </a:lnTo>
                <a:close/>
              </a:path>
            </a:pathLst>
          </a:custGeom>
          <a:blipFill>
            <a:blip r:embed="rId3"/>
            <a:stretch>
              <a:fillRect/>
            </a:stretch>
          </a:blipFill>
        </p:spPr>
      </p:sp>
      <p:sp>
        <p:nvSpPr>
          <p:cNvPr id="4" name="Freeform 4"/>
          <p:cNvSpPr/>
          <p:nvPr/>
        </p:nvSpPr>
        <p:spPr>
          <a:xfrm>
            <a:off x="3511980" y="6933832"/>
            <a:ext cx="3268553" cy="3268553"/>
          </a:xfrm>
          <a:custGeom>
            <a:avLst/>
            <a:gdLst/>
            <a:ahLst/>
            <a:cxnLst/>
            <a:rect l="l" t="t" r="r" b="b"/>
            <a:pathLst>
              <a:path w="3268553" h="3268553">
                <a:moveTo>
                  <a:pt x="0" y="0"/>
                </a:moveTo>
                <a:lnTo>
                  <a:pt x="3268553" y="0"/>
                </a:lnTo>
                <a:lnTo>
                  <a:pt x="3268553" y="3268553"/>
                </a:lnTo>
                <a:lnTo>
                  <a:pt x="0" y="3268553"/>
                </a:lnTo>
                <a:lnTo>
                  <a:pt x="0" y="0"/>
                </a:lnTo>
                <a:close/>
              </a:path>
            </a:pathLst>
          </a:custGeom>
          <a:blipFill>
            <a:blip r:embed="rId4"/>
            <a:stretch>
              <a:fillRect/>
            </a:stretch>
          </a:blipFill>
        </p:spPr>
      </p:sp>
      <p:sp>
        <p:nvSpPr>
          <p:cNvPr id="5" name="TextBox 5"/>
          <p:cNvSpPr txBox="1"/>
          <p:nvPr/>
        </p:nvSpPr>
        <p:spPr>
          <a:xfrm>
            <a:off x="7910725" y="5529685"/>
            <a:ext cx="8322876" cy="3156731"/>
          </a:xfrm>
          <a:prstGeom prst="rect">
            <a:avLst/>
          </a:prstGeom>
        </p:spPr>
        <p:txBody>
          <a:bodyPr lIns="0" tIns="0" rIns="0" bIns="0" rtlCol="0" anchor="t">
            <a:spAutoFit/>
          </a:bodyPr>
          <a:lstStyle/>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AI learns from many pictures or artworks</a:t>
            </a:r>
          </a:p>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It finds patterns and styles in them</a:t>
            </a:r>
          </a:p>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AI mixes these ideas to create new images</a:t>
            </a:r>
          </a:p>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The result is unique art made by the computer!</a:t>
            </a:r>
          </a:p>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Every AI artwork is one-of-a-kind!</a:t>
            </a:r>
          </a:p>
          <a:p>
            <a:pPr marL="0" lvl="0" indent="0" algn="l">
              <a:lnSpc>
                <a:spcPts val="4249"/>
              </a:lnSpc>
            </a:pPr>
            <a:r>
              <a:rPr lang="en-US" sz="2442"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You can guide AI with your ideas!</a:t>
            </a:r>
          </a:p>
        </p:txBody>
      </p:sp>
      <p:sp>
        <p:nvSpPr>
          <p:cNvPr id="6" name="TextBox 6"/>
          <p:cNvSpPr txBox="1"/>
          <p:nvPr/>
        </p:nvSpPr>
        <p:spPr>
          <a:xfrm>
            <a:off x="7910725" y="2376617"/>
            <a:ext cx="8172359" cy="2244757"/>
          </a:xfrm>
          <a:prstGeom prst="rect">
            <a:avLst/>
          </a:prstGeom>
        </p:spPr>
        <p:txBody>
          <a:bodyPr lIns="0" tIns="0" rIns="0" bIns="0" rtlCol="0" anchor="t">
            <a:spAutoFit/>
          </a:bodyPr>
          <a:lstStyle/>
          <a:p>
            <a:pPr marL="0" lvl="0" indent="0" algn="l">
              <a:lnSpc>
                <a:spcPts val="8954"/>
              </a:lnSpc>
              <a:spcBef>
                <a:spcPct val="0"/>
              </a:spcBef>
            </a:pPr>
            <a:r>
              <a:rPr lang="en-US" sz="6941">
                <a:gradFill>
                  <a:gsLst>
                    <a:gs pos="0">
                      <a:srgbClr val="000000">
                        <a:alpha val="100000"/>
                      </a:srgbClr>
                    </a:gs>
                    <a:gs pos="100000">
                      <a:srgbClr val="696666">
                        <a:alpha val="100000"/>
                      </a:srgbClr>
                    </a:gs>
                  </a:gsLst>
                  <a:lin ang="5400000"/>
                </a:gradFill>
                <a:latin typeface="TAN Headline"/>
                <a:ea typeface="TAN Headline"/>
                <a:cs typeface="TAN Headline"/>
                <a:sym typeface="TAN Headline"/>
              </a:rPr>
              <a:t>HOW DOES AI MAKE ART?</a:t>
            </a:r>
          </a:p>
        </p:txBody>
      </p:sp>
      <p:sp>
        <p:nvSpPr>
          <p:cNvPr id="7" name="TextBox 7"/>
          <p:cNvSpPr txBox="1"/>
          <p:nvPr/>
        </p:nvSpPr>
        <p:spPr>
          <a:xfrm>
            <a:off x="7910725" y="4933087"/>
            <a:ext cx="8127592" cy="521471"/>
          </a:xfrm>
          <a:prstGeom prst="rect">
            <a:avLst/>
          </a:prstGeom>
        </p:spPr>
        <p:txBody>
          <a:bodyPr lIns="0" tIns="0" rIns="0" bIns="0" rtlCol="0" anchor="t">
            <a:spAutoFit/>
          </a:bodyPr>
          <a:lstStyle/>
          <a:p>
            <a:pPr marL="0" lvl="0" indent="0" algn="just">
              <a:lnSpc>
                <a:spcPts val="3831"/>
              </a:lnSpc>
              <a:spcBef>
                <a:spcPct val="0"/>
              </a:spcBef>
            </a:pPr>
            <a:r>
              <a:rPr lang="en-US" sz="3614" b="1" u="none" strike="noStrike">
                <a:solidFill>
                  <a:srgbClr val="009651"/>
                </a:solidFill>
                <a:latin typeface="Raleway Ultra-Bold"/>
                <a:ea typeface="Raleway Ultra-Bold"/>
                <a:cs typeface="Raleway Ultra-Bold"/>
                <a:sym typeface="Raleway Ultra-Bold"/>
              </a:rPr>
              <a:t>Easy Steps to AI Art!</a:t>
            </a:r>
          </a:p>
        </p:txBody>
      </p:sp>
      <p:grpSp>
        <p:nvGrpSpPr>
          <p:cNvPr id="8" name="Group 8"/>
          <p:cNvGrpSpPr/>
          <p:nvPr/>
        </p:nvGrpSpPr>
        <p:grpSpPr>
          <a:xfrm>
            <a:off x="7910725" y="1683697"/>
            <a:ext cx="4387122" cy="550046"/>
            <a:chOff x="0" y="0"/>
            <a:chExt cx="5849495" cy="733394"/>
          </a:xfrm>
        </p:grpSpPr>
        <p:sp>
          <p:nvSpPr>
            <p:cNvPr id="9" name="Freeform 9"/>
            <p:cNvSpPr/>
            <p:nvPr/>
          </p:nvSpPr>
          <p:spPr>
            <a:xfrm>
              <a:off x="0" y="96191"/>
              <a:ext cx="847740" cy="541012"/>
            </a:xfrm>
            <a:custGeom>
              <a:avLst/>
              <a:gdLst/>
              <a:ahLst/>
              <a:cxnLst/>
              <a:rect l="l" t="t" r="r" b="b"/>
              <a:pathLst>
                <a:path w="847740" h="541012">
                  <a:moveTo>
                    <a:pt x="0" y="0"/>
                  </a:moveTo>
                  <a:lnTo>
                    <a:pt x="847740" y="0"/>
                  </a:lnTo>
                  <a:lnTo>
                    <a:pt x="847740" y="541012"/>
                  </a:lnTo>
                  <a:lnTo>
                    <a:pt x="0" y="54101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847740" y="28575"/>
              <a:ext cx="5001756" cy="704819"/>
            </a:xfrm>
            <a:prstGeom prst="rect">
              <a:avLst/>
            </a:prstGeom>
          </p:spPr>
          <p:txBody>
            <a:bodyPr lIns="0" tIns="0" rIns="0" bIns="0" rtlCol="0" anchor="t">
              <a:spAutoFit/>
            </a:bodyPr>
            <a:lstStyle/>
            <a:p>
              <a:pPr marL="0" lvl="0" indent="0" algn="just">
                <a:lnSpc>
                  <a:spcPts val="3831"/>
                </a:lnSpc>
                <a:spcBef>
                  <a:spcPct val="0"/>
                </a:spcBef>
              </a:pPr>
              <a:r>
                <a:rPr lang="en-US" sz="3614" b="1">
                  <a:solidFill>
                    <a:srgbClr val="FF7F63"/>
                  </a:solidFill>
                  <a:latin typeface="Raleway Ultra-Bold"/>
                  <a:ea typeface="Raleway Ultra-Bold"/>
                  <a:cs typeface="Raleway Ultra-Bold"/>
                  <a:sym typeface="Raleway Ultra-Bold"/>
                </a:rPr>
                <a:t>AI Art Studio</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9"/>
        </a:solidFill>
        <a:effectLst/>
      </p:bgPr>
    </p:bg>
    <p:spTree>
      <p:nvGrpSpPr>
        <p:cNvPr id="1" name=""/>
        <p:cNvGrpSpPr/>
        <p:nvPr/>
      </p:nvGrpSpPr>
      <p:grpSpPr>
        <a:xfrm>
          <a:off x="0" y="0"/>
          <a:ext cx="0" cy="0"/>
          <a:chOff x="0" y="0"/>
          <a:chExt cx="0" cy="0"/>
        </a:xfrm>
      </p:grpSpPr>
      <p:sp>
        <p:nvSpPr>
          <p:cNvPr id="2" name="Freeform 2"/>
          <p:cNvSpPr/>
          <p:nvPr/>
        </p:nvSpPr>
        <p:spPr>
          <a:xfrm>
            <a:off x="31" y="0"/>
            <a:ext cx="3428425" cy="3428425"/>
          </a:xfrm>
          <a:custGeom>
            <a:avLst/>
            <a:gdLst/>
            <a:ahLst/>
            <a:cxnLst/>
            <a:rect l="l" t="t" r="r" b="b"/>
            <a:pathLst>
              <a:path w="3428425" h="3428425">
                <a:moveTo>
                  <a:pt x="0" y="0"/>
                </a:moveTo>
                <a:lnTo>
                  <a:pt x="3428425" y="0"/>
                </a:lnTo>
                <a:lnTo>
                  <a:pt x="3428425" y="3428425"/>
                </a:lnTo>
                <a:lnTo>
                  <a:pt x="0" y="342842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952" y="3428425"/>
            <a:ext cx="3432408" cy="3426167"/>
          </a:xfrm>
          <a:custGeom>
            <a:avLst/>
            <a:gdLst/>
            <a:ahLst/>
            <a:cxnLst/>
            <a:rect l="l" t="t" r="r" b="b"/>
            <a:pathLst>
              <a:path w="3432408" h="3426167">
                <a:moveTo>
                  <a:pt x="0" y="0"/>
                </a:moveTo>
                <a:lnTo>
                  <a:pt x="3432408" y="0"/>
                </a:lnTo>
                <a:lnTo>
                  <a:pt x="3432408" y="3426167"/>
                </a:lnTo>
                <a:lnTo>
                  <a:pt x="0" y="342616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31" y="6854592"/>
            <a:ext cx="3432408" cy="3432408"/>
          </a:xfrm>
          <a:custGeom>
            <a:avLst/>
            <a:gdLst/>
            <a:ahLst/>
            <a:cxnLst/>
            <a:rect l="l" t="t" r="r" b="b"/>
            <a:pathLst>
              <a:path w="3432408" h="3432408">
                <a:moveTo>
                  <a:pt x="0" y="0"/>
                </a:moveTo>
                <a:lnTo>
                  <a:pt x="3432408" y="0"/>
                </a:lnTo>
                <a:lnTo>
                  <a:pt x="3432408" y="3432408"/>
                </a:lnTo>
                <a:lnTo>
                  <a:pt x="0" y="343240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854839" y="-4737"/>
            <a:ext cx="3433161" cy="3433161"/>
          </a:xfrm>
          <a:custGeom>
            <a:avLst/>
            <a:gdLst/>
            <a:ahLst/>
            <a:cxnLst/>
            <a:rect l="l" t="t" r="r" b="b"/>
            <a:pathLst>
              <a:path w="3433161" h="3433161">
                <a:moveTo>
                  <a:pt x="0" y="0"/>
                </a:moveTo>
                <a:lnTo>
                  <a:pt x="3433161" y="0"/>
                </a:lnTo>
                <a:lnTo>
                  <a:pt x="3433161" y="3433162"/>
                </a:lnTo>
                <a:lnTo>
                  <a:pt x="0" y="343316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4855592" y="3428425"/>
            <a:ext cx="3432408" cy="3426167"/>
          </a:xfrm>
          <a:custGeom>
            <a:avLst/>
            <a:gdLst/>
            <a:ahLst/>
            <a:cxnLst/>
            <a:rect l="l" t="t" r="r" b="b"/>
            <a:pathLst>
              <a:path w="3432408" h="3426167">
                <a:moveTo>
                  <a:pt x="0" y="0"/>
                </a:moveTo>
                <a:lnTo>
                  <a:pt x="3432408" y="0"/>
                </a:lnTo>
                <a:lnTo>
                  <a:pt x="3432408" y="3426167"/>
                </a:lnTo>
                <a:lnTo>
                  <a:pt x="0" y="342616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4855592" y="6855345"/>
            <a:ext cx="3429287" cy="3429287"/>
          </a:xfrm>
          <a:custGeom>
            <a:avLst/>
            <a:gdLst/>
            <a:ahLst/>
            <a:cxnLst/>
            <a:rect l="l" t="t" r="r" b="b"/>
            <a:pathLst>
              <a:path w="3429287" h="3429287">
                <a:moveTo>
                  <a:pt x="0" y="0"/>
                </a:moveTo>
                <a:lnTo>
                  <a:pt x="3429287" y="0"/>
                </a:lnTo>
                <a:lnTo>
                  <a:pt x="3429287" y="3429287"/>
                </a:lnTo>
                <a:lnTo>
                  <a:pt x="0" y="342928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4599927" y="1086977"/>
            <a:ext cx="9087423" cy="777503"/>
          </a:xfrm>
          <a:prstGeom prst="rect">
            <a:avLst/>
          </a:prstGeom>
        </p:spPr>
        <p:txBody>
          <a:bodyPr lIns="0" tIns="0" rIns="0" bIns="0" rtlCol="0" anchor="t">
            <a:spAutoFit/>
          </a:bodyPr>
          <a:lstStyle/>
          <a:p>
            <a:pPr marL="0" lvl="0" indent="0" algn="ctr">
              <a:lnSpc>
                <a:spcPts val="6207"/>
              </a:lnSpc>
              <a:spcBef>
                <a:spcPct val="0"/>
              </a:spcBef>
            </a:pPr>
            <a:r>
              <a:rPr lang="en-US" sz="4811">
                <a:gradFill>
                  <a:gsLst>
                    <a:gs pos="0">
                      <a:srgbClr val="000000">
                        <a:alpha val="100000"/>
                      </a:srgbClr>
                    </a:gs>
                    <a:gs pos="100000">
                      <a:srgbClr val="696666">
                        <a:alpha val="100000"/>
                      </a:srgbClr>
                    </a:gs>
                  </a:gsLst>
                  <a:lin ang="5400000"/>
                </a:gradFill>
                <a:latin typeface="TAN Headline"/>
                <a:ea typeface="TAN Headline"/>
                <a:cs typeface="TAN Headline"/>
                <a:sym typeface="TAN Headline"/>
              </a:rPr>
              <a:t>COOL AI ART YOU KNOW!</a:t>
            </a:r>
          </a:p>
        </p:txBody>
      </p:sp>
      <p:sp>
        <p:nvSpPr>
          <p:cNvPr id="9" name="TextBox 9"/>
          <p:cNvSpPr txBox="1"/>
          <p:nvPr/>
        </p:nvSpPr>
        <p:spPr>
          <a:xfrm>
            <a:off x="4740801" y="3951493"/>
            <a:ext cx="3756003" cy="1695116"/>
          </a:xfrm>
          <a:prstGeom prst="rect">
            <a:avLst/>
          </a:prstGeom>
        </p:spPr>
        <p:txBody>
          <a:bodyPr lIns="0" tIns="0" rIns="0" bIns="0" rtlCol="0" anchor="t">
            <a:spAutoFit/>
          </a:bodyPr>
          <a:lstStyle/>
          <a:p>
            <a:pPr marL="0" lvl="0" indent="0" algn="ctr">
              <a:lnSpc>
                <a:spcPts val="3405"/>
              </a:lnSpc>
              <a:spcBef>
                <a:spcPct val="0"/>
              </a:spcBef>
            </a:pPr>
            <a:r>
              <a:rPr lang="en-US" sz="2398"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Websites and apps that turn your words into amazing pictures! Just type what you imagine!</a:t>
            </a:r>
          </a:p>
        </p:txBody>
      </p:sp>
      <p:sp>
        <p:nvSpPr>
          <p:cNvPr id="10" name="TextBox 10"/>
          <p:cNvSpPr txBox="1"/>
          <p:nvPr/>
        </p:nvSpPr>
        <p:spPr>
          <a:xfrm>
            <a:off x="4868073" y="2488170"/>
            <a:ext cx="3501459" cy="1007201"/>
          </a:xfrm>
          <a:prstGeom prst="rect">
            <a:avLst/>
          </a:prstGeom>
        </p:spPr>
        <p:txBody>
          <a:bodyPr lIns="0" tIns="0" rIns="0" bIns="0" rtlCol="0" anchor="t">
            <a:spAutoFit/>
          </a:bodyPr>
          <a:lstStyle/>
          <a:p>
            <a:pPr marL="0" lvl="0" indent="0" algn="ctr">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AI Art Generators</a:t>
            </a:r>
          </a:p>
        </p:txBody>
      </p:sp>
      <p:sp>
        <p:nvSpPr>
          <p:cNvPr id="11" name="TextBox 11"/>
          <p:cNvSpPr txBox="1"/>
          <p:nvPr/>
        </p:nvSpPr>
        <p:spPr>
          <a:xfrm>
            <a:off x="4740801" y="7777520"/>
            <a:ext cx="3756003" cy="1266491"/>
          </a:xfrm>
          <a:prstGeom prst="rect">
            <a:avLst/>
          </a:prstGeom>
        </p:spPr>
        <p:txBody>
          <a:bodyPr lIns="0" tIns="0" rIns="0" bIns="0" rtlCol="0" anchor="t">
            <a:spAutoFit/>
          </a:bodyPr>
          <a:lstStyle/>
          <a:p>
            <a:pPr marL="0" lvl="0" indent="0" algn="ctr">
              <a:lnSpc>
                <a:spcPts val="3405"/>
              </a:lnSpc>
              <a:spcBef>
                <a:spcPct val="0"/>
              </a:spcBef>
            </a:pPr>
            <a:r>
              <a:rPr lang="en-US" sz="2398"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Tools that help you draw and paint with AI as your creative helper!</a:t>
            </a:r>
          </a:p>
        </p:txBody>
      </p:sp>
      <p:sp>
        <p:nvSpPr>
          <p:cNvPr id="12" name="TextBox 12"/>
          <p:cNvSpPr txBox="1"/>
          <p:nvPr/>
        </p:nvSpPr>
        <p:spPr>
          <a:xfrm>
            <a:off x="4868073" y="6557432"/>
            <a:ext cx="3501459" cy="521426"/>
          </a:xfrm>
          <a:prstGeom prst="rect">
            <a:avLst/>
          </a:prstGeom>
        </p:spPr>
        <p:txBody>
          <a:bodyPr lIns="0" tIns="0" rIns="0" bIns="0" rtlCol="0" anchor="t">
            <a:spAutoFit/>
          </a:bodyPr>
          <a:lstStyle/>
          <a:p>
            <a:pPr marL="0" lvl="0" indent="0" algn="ctr">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Creative Apps</a:t>
            </a:r>
          </a:p>
        </p:txBody>
      </p:sp>
      <p:sp>
        <p:nvSpPr>
          <p:cNvPr id="13" name="TextBox 13"/>
          <p:cNvSpPr txBox="1"/>
          <p:nvPr/>
        </p:nvSpPr>
        <p:spPr>
          <a:xfrm>
            <a:off x="9458334" y="3736833"/>
            <a:ext cx="4088866" cy="1695116"/>
          </a:xfrm>
          <a:prstGeom prst="rect">
            <a:avLst/>
          </a:prstGeom>
        </p:spPr>
        <p:txBody>
          <a:bodyPr lIns="0" tIns="0" rIns="0" bIns="0" rtlCol="0" anchor="t">
            <a:spAutoFit/>
          </a:bodyPr>
          <a:lstStyle/>
          <a:p>
            <a:pPr marL="0" lvl="0" indent="0" algn="ctr">
              <a:lnSpc>
                <a:spcPts val="3405"/>
              </a:lnSpc>
              <a:spcBef>
                <a:spcPct val="0"/>
              </a:spcBef>
            </a:pPr>
            <a:r>
              <a:rPr lang="en-US" sz="2398"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Apps like Snapchat and Instagram use AI to add cool effects to your photos!</a:t>
            </a:r>
          </a:p>
        </p:txBody>
      </p:sp>
      <p:sp>
        <p:nvSpPr>
          <p:cNvPr id="14" name="TextBox 14"/>
          <p:cNvSpPr txBox="1"/>
          <p:nvPr/>
        </p:nvSpPr>
        <p:spPr>
          <a:xfrm>
            <a:off x="9598846" y="2731058"/>
            <a:ext cx="3807841" cy="521426"/>
          </a:xfrm>
          <a:prstGeom prst="rect">
            <a:avLst/>
          </a:prstGeom>
        </p:spPr>
        <p:txBody>
          <a:bodyPr lIns="0" tIns="0" rIns="0" bIns="0" rtlCol="0" anchor="t">
            <a:spAutoFit/>
          </a:bodyPr>
          <a:lstStyle/>
          <a:p>
            <a:pPr marL="0" lvl="0" indent="0" algn="ctr">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Fun Filters</a:t>
            </a:r>
          </a:p>
        </p:txBody>
      </p:sp>
      <p:sp>
        <p:nvSpPr>
          <p:cNvPr id="15" name="TextBox 15"/>
          <p:cNvSpPr txBox="1"/>
          <p:nvPr/>
        </p:nvSpPr>
        <p:spPr>
          <a:xfrm>
            <a:off x="9458334" y="7563207"/>
            <a:ext cx="4088866" cy="1695116"/>
          </a:xfrm>
          <a:prstGeom prst="rect">
            <a:avLst/>
          </a:prstGeom>
        </p:spPr>
        <p:txBody>
          <a:bodyPr lIns="0" tIns="0" rIns="0" bIns="0" rtlCol="0" anchor="t">
            <a:spAutoFit/>
          </a:bodyPr>
          <a:lstStyle/>
          <a:p>
            <a:pPr marL="0" lvl="0" indent="0" algn="ctr">
              <a:lnSpc>
                <a:spcPts val="3405"/>
              </a:lnSpc>
              <a:spcBef>
                <a:spcPct val="0"/>
              </a:spcBef>
            </a:pPr>
            <a:r>
              <a:rPr lang="en-US" sz="2398" spc="14">
                <a:gradFill>
                  <a:gsLst>
                    <a:gs pos="0">
                      <a:srgbClr val="000000">
                        <a:alpha val="100000"/>
                      </a:srgbClr>
                    </a:gs>
                    <a:gs pos="100000">
                      <a:srgbClr val="696666">
                        <a:alpha val="100000"/>
                      </a:srgbClr>
                    </a:gs>
                  </a:gsLst>
                  <a:lin ang="5400000"/>
                </a:gradFill>
                <a:latin typeface="Montserrat"/>
                <a:ea typeface="Montserrat"/>
                <a:cs typeface="Montserrat"/>
                <a:sym typeface="Montserrat"/>
              </a:rPr>
              <a:t>AI creates amazing images in your favorite video games and animated movies!</a:t>
            </a:r>
          </a:p>
        </p:txBody>
      </p:sp>
      <p:sp>
        <p:nvSpPr>
          <p:cNvPr id="16" name="TextBox 16"/>
          <p:cNvSpPr txBox="1"/>
          <p:nvPr/>
        </p:nvSpPr>
        <p:spPr>
          <a:xfrm>
            <a:off x="9598846" y="6557432"/>
            <a:ext cx="3807841" cy="521426"/>
          </a:xfrm>
          <a:prstGeom prst="rect">
            <a:avLst/>
          </a:prstGeom>
        </p:spPr>
        <p:txBody>
          <a:bodyPr lIns="0" tIns="0" rIns="0" bIns="0" rtlCol="0" anchor="t">
            <a:spAutoFit/>
          </a:bodyPr>
          <a:lstStyle/>
          <a:p>
            <a:pPr marL="0" lvl="0" indent="0" algn="ctr">
              <a:lnSpc>
                <a:spcPts val="3828"/>
              </a:lnSpc>
              <a:spcBef>
                <a:spcPct val="0"/>
              </a:spcBef>
            </a:pPr>
            <a:r>
              <a:rPr lang="en-US" sz="3612" b="1" u="none" strike="noStrike">
                <a:solidFill>
                  <a:srgbClr val="009651"/>
                </a:solidFill>
                <a:latin typeface="Raleway Ultra-Bold"/>
                <a:ea typeface="Raleway Ultra-Bold"/>
                <a:cs typeface="Raleway Ultra-Bold"/>
                <a:sym typeface="Raleway Ultra-Bold"/>
              </a:rPr>
              <a:t>Games &amp; Movies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9"/>
        </a:solidFill>
        <a:effectLst/>
      </p:bgPr>
    </p:bg>
    <p:spTree>
      <p:nvGrpSpPr>
        <p:cNvPr id="1" name=""/>
        <p:cNvGrpSpPr/>
        <p:nvPr/>
      </p:nvGrpSpPr>
      <p:grpSpPr>
        <a:xfrm>
          <a:off x="0" y="0"/>
          <a:ext cx="0" cy="0"/>
          <a:chOff x="0" y="0"/>
          <a:chExt cx="0" cy="0"/>
        </a:xfrm>
      </p:grpSpPr>
      <p:sp>
        <p:nvSpPr>
          <p:cNvPr id="2" name="Freeform 2"/>
          <p:cNvSpPr/>
          <p:nvPr/>
        </p:nvSpPr>
        <p:spPr>
          <a:xfrm>
            <a:off x="11278346" y="-168578"/>
            <a:ext cx="7197713" cy="7279608"/>
          </a:xfrm>
          <a:custGeom>
            <a:avLst/>
            <a:gdLst/>
            <a:ahLst/>
            <a:cxnLst/>
            <a:rect l="l" t="t" r="r" b="b"/>
            <a:pathLst>
              <a:path w="7197713" h="7279608">
                <a:moveTo>
                  <a:pt x="0" y="0"/>
                </a:moveTo>
                <a:lnTo>
                  <a:pt x="7197713" y="0"/>
                </a:lnTo>
                <a:lnTo>
                  <a:pt x="7197713" y="7279609"/>
                </a:lnTo>
                <a:lnTo>
                  <a:pt x="0" y="7279609"/>
                </a:lnTo>
                <a:lnTo>
                  <a:pt x="0" y="0"/>
                </a:lnTo>
                <a:close/>
              </a:path>
            </a:pathLst>
          </a:custGeom>
          <a:blipFill>
            <a:blip r:embed="rId2"/>
            <a:stretch>
              <a:fillRect/>
            </a:stretch>
          </a:blipFill>
        </p:spPr>
      </p:sp>
      <p:sp>
        <p:nvSpPr>
          <p:cNvPr id="3" name="Freeform 3"/>
          <p:cNvSpPr/>
          <p:nvPr/>
        </p:nvSpPr>
        <p:spPr>
          <a:xfrm>
            <a:off x="14925301" y="6930575"/>
            <a:ext cx="3273803" cy="3273803"/>
          </a:xfrm>
          <a:custGeom>
            <a:avLst/>
            <a:gdLst/>
            <a:ahLst/>
            <a:cxnLst/>
            <a:rect l="l" t="t" r="r" b="b"/>
            <a:pathLst>
              <a:path w="3273803" h="3273803">
                <a:moveTo>
                  <a:pt x="0" y="0"/>
                </a:moveTo>
                <a:lnTo>
                  <a:pt x="3273804" y="0"/>
                </a:lnTo>
                <a:lnTo>
                  <a:pt x="3273804" y="3273804"/>
                </a:lnTo>
                <a:lnTo>
                  <a:pt x="0" y="3273804"/>
                </a:lnTo>
                <a:lnTo>
                  <a:pt x="0" y="0"/>
                </a:lnTo>
                <a:close/>
              </a:path>
            </a:pathLst>
          </a:custGeom>
          <a:blipFill>
            <a:blip r:embed="rId3"/>
            <a:stretch>
              <a:fillRect/>
            </a:stretch>
          </a:blipFill>
        </p:spPr>
      </p:sp>
      <p:sp>
        <p:nvSpPr>
          <p:cNvPr id="4" name="Freeform 4"/>
          <p:cNvSpPr/>
          <p:nvPr/>
        </p:nvSpPr>
        <p:spPr>
          <a:xfrm>
            <a:off x="10969210" y="6072771"/>
            <a:ext cx="4146429" cy="4800497"/>
          </a:xfrm>
          <a:custGeom>
            <a:avLst/>
            <a:gdLst/>
            <a:ahLst/>
            <a:cxnLst/>
            <a:rect l="l" t="t" r="r" b="b"/>
            <a:pathLst>
              <a:path w="4146429" h="4800497">
                <a:moveTo>
                  <a:pt x="0" y="0"/>
                </a:moveTo>
                <a:lnTo>
                  <a:pt x="4146429" y="0"/>
                </a:lnTo>
                <a:lnTo>
                  <a:pt x="4146429" y="4800497"/>
                </a:lnTo>
                <a:lnTo>
                  <a:pt x="0" y="4800497"/>
                </a:lnTo>
                <a:lnTo>
                  <a:pt x="0" y="0"/>
                </a:lnTo>
                <a:close/>
              </a:path>
            </a:pathLst>
          </a:custGeom>
          <a:blipFill>
            <a:blip r:embed="rId4"/>
            <a:stretch>
              <a:fillRect/>
            </a:stretch>
          </a:blipFill>
        </p:spPr>
      </p:sp>
      <p:sp>
        <p:nvSpPr>
          <p:cNvPr id="5" name="TextBox 5"/>
          <p:cNvSpPr txBox="1"/>
          <p:nvPr/>
        </p:nvSpPr>
        <p:spPr>
          <a:xfrm>
            <a:off x="1479446" y="3341830"/>
            <a:ext cx="8511334" cy="2838469"/>
          </a:xfrm>
          <a:prstGeom prst="rect">
            <a:avLst/>
          </a:prstGeom>
        </p:spPr>
        <p:txBody>
          <a:bodyPr lIns="0" tIns="0" rIns="0" bIns="0" rtlCol="0" anchor="t">
            <a:spAutoFit/>
          </a:bodyPr>
          <a:lstStyle/>
          <a:p>
            <a:pPr marL="0" lvl="0" indent="0" algn="ctr">
              <a:lnSpc>
                <a:spcPts val="7522"/>
              </a:lnSpc>
              <a:spcBef>
                <a:spcPct val="0"/>
              </a:spcBef>
            </a:pPr>
            <a:r>
              <a:rPr lang="en-US" sz="5831" u="none">
                <a:gradFill>
                  <a:gsLst>
                    <a:gs pos="0">
                      <a:srgbClr val="000000">
                        <a:alpha val="100000"/>
                      </a:srgbClr>
                    </a:gs>
                    <a:gs pos="100000">
                      <a:srgbClr val="696666">
                        <a:alpha val="100000"/>
                      </a:srgbClr>
                    </a:gs>
                  </a:gsLst>
                  <a:lin ang="5400000"/>
                </a:gradFill>
                <a:latin typeface="TAN Headline"/>
                <a:ea typeface="TAN Headline"/>
                <a:cs typeface="TAN Headline"/>
                <a:sym typeface="TAN Headline"/>
              </a:rPr>
              <a:t>WHAT KIND OF ART WOULD YOU LIKE AI TO CREATE?</a:t>
            </a:r>
          </a:p>
        </p:txBody>
      </p:sp>
      <p:sp>
        <p:nvSpPr>
          <p:cNvPr id="6" name="TextBox 6"/>
          <p:cNvSpPr txBox="1"/>
          <p:nvPr/>
        </p:nvSpPr>
        <p:spPr>
          <a:xfrm>
            <a:off x="1479446" y="6985540"/>
            <a:ext cx="8511334" cy="1204976"/>
          </a:xfrm>
          <a:prstGeom prst="rect">
            <a:avLst/>
          </a:prstGeom>
        </p:spPr>
        <p:txBody>
          <a:bodyPr lIns="0" tIns="0" rIns="0" bIns="0" rtlCol="0" anchor="t">
            <a:spAutoFit/>
          </a:bodyPr>
          <a:lstStyle/>
          <a:p>
            <a:pPr marL="0" lvl="0" indent="0" algn="ctr">
              <a:lnSpc>
                <a:spcPts val="3127"/>
              </a:lnSpc>
              <a:spcBef>
                <a:spcPct val="0"/>
              </a:spcBef>
            </a:pPr>
            <a:r>
              <a:rPr lang="en-US" sz="2950" b="1" u="none" strike="noStrike">
                <a:solidFill>
                  <a:srgbClr val="009651"/>
                </a:solidFill>
                <a:latin typeface="Raleway Ultra-Bold"/>
                <a:ea typeface="Raleway Ultra-Bold"/>
                <a:cs typeface="Raleway Ultra-Bold"/>
                <a:sym typeface="Raleway Ultra-Bold"/>
              </a:rPr>
              <a:t>Try an AI art app or filter at home and see what you can make! AI can help you be an artist too! Get creative and share your AI art with friends!</a:t>
            </a:r>
          </a:p>
        </p:txBody>
      </p:sp>
      <p:grpSp>
        <p:nvGrpSpPr>
          <p:cNvPr id="7" name="Group 7"/>
          <p:cNvGrpSpPr/>
          <p:nvPr/>
        </p:nvGrpSpPr>
        <p:grpSpPr>
          <a:xfrm>
            <a:off x="3541552" y="2010663"/>
            <a:ext cx="4387122" cy="442976"/>
            <a:chOff x="0" y="0"/>
            <a:chExt cx="5849495" cy="590635"/>
          </a:xfrm>
        </p:grpSpPr>
        <p:sp>
          <p:nvSpPr>
            <p:cNvPr id="8" name="Freeform 8"/>
            <p:cNvSpPr/>
            <p:nvPr/>
          </p:nvSpPr>
          <p:spPr>
            <a:xfrm>
              <a:off x="144638" y="24811"/>
              <a:ext cx="558464" cy="541012"/>
            </a:xfrm>
            <a:custGeom>
              <a:avLst/>
              <a:gdLst/>
              <a:ahLst/>
              <a:cxnLst/>
              <a:rect l="l" t="t" r="r" b="b"/>
              <a:pathLst>
                <a:path w="558464" h="541012">
                  <a:moveTo>
                    <a:pt x="0" y="0"/>
                  </a:moveTo>
                  <a:lnTo>
                    <a:pt x="558464" y="0"/>
                  </a:lnTo>
                  <a:lnTo>
                    <a:pt x="558464" y="541012"/>
                  </a:lnTo>
                  <a:lnTo>
                    <a:pt x="0" y="541012"/>
                  </a:lnTo>
                  <a:lnTo>
                    <a:pt x="0" y="0"/>
                  </a:lnTo>
                  <a:close/>
                </a:path>
              </a:pathLst>
            </a:custGeom>
            <a:blipFill>
              <a:blip r:embed="rId5"/>
              <a:stretch>
                <a:fillRect/>
              </a:stretch>
            </a:blipFill>
          </p:spPr>
        </p:sp>
        <p:sp>
          <p:nvSpPr>
            <p:cNvPr id="9" name="TextBox 9"/>
            <p:cNvSpPr txBox="1"/>
            <p:nvPr/>
          </p:nvSpPr>
          <p:spPr>
            <a:xfrm>
              <a:off x="847740" y="19050"/>
              <a:ext cx="5001756" cy="571585"/>
            </a:xfrm>
            <a:prstGeom prst="rect">
              <a:avLst/>
            </a:prstGeom>
          </p:spPr>
          <p:txBody>
            <a:bodyPr lIns="0" tIns="0" rIns="0" bIns="0" rtlCol="0" anchor="t">
              <a:spAutoFit/>
            </a:bodyPr>
            <a:lstStyle/>
            <a:p>
              <a:pPr marL="0" lvl="0" indent="0" algn="just">
                <a:lnSpc>
                  <a:spcPts val="3127"/>
                </a:lnSpc>
                <a:spcBef>
                  <a:spcPct val="0"/>
                </a:spcBef>
              </a:pPr>
              <a:r>
                <a:rPr lang="en-US" sz="2950" b="1">
                  <a:solidFill>
                    <a:srgbClr val="FF7F63"/>
                  </a:solidFill>
                  <a:latin typeface="Raleway Ultra-Bold"/>
                  <a:ea typeface="Raleway Ultra-Bold"/>
                  <a:cs typeface="Raleway Ultra-Bold"/>
                  <a:sym typeface="Raleway Ultra-Bold"/>
                </a:rPr>
                <a:t>Your Turn!</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263</Words>
  <Application>Microsoft Office PowerPoint</Application>
  <PresentationFormat>Custom</PresentationFormat>
  <Paragraphs>27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Calibri</vt:lpstr>
      <vt:lpstr>Raleway Ultra-Bold</vt:lpstr>
      <vt:lpstr>Arial</vt:lpstr>
      <vt:lpstr>Montserrat</vt:lpstr>
      <vt:lpstr>TAN Headline</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Art Day 4: Generative Art</dc:title>
  <cp:lastModifiedBy>JAGADISH JEEVAN SAI</cp:lastModifiedBy>
  <cp:revision>3</cp:revision>
  <dcterms:created xsi:type="dcterms:W3CDTF">2006-08-16T00:00:00Z</dcterms:created>
  <dcterms:modified xsi:type="dcterms:W3CDTF">2026-04-23T11:11:16Z</dcterms:modified>
  <dc:identifier>DAHHq8tlM6U</dc:identifier>
</cp:coreProperties>
</file>