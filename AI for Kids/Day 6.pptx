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grandir" panose="020B0604020202020204" charset="0"/>
      <p:regular r:id="rId8"/>
    </p:embeddedFont>
    <p:embeddedFont>
      <p:font typeface="Agrandir Bold" panose="020B0604020202020204" charset="0"/>
      <p:regular r:id="rId9"/>
    </p:embeddedFont>
    <p:embeddedFont>
      <p:font typeface="Agrandir Medium" panose="020B0604020202020204" charset="0"/>
      <p:regular r:id="rId10"/>
    </p:embeddedFont>
    <p:embeddedFont>
      <p:font typeface="Mulled Wine Season" panose="020B0604020202020204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6688D-7FDE-46A2-95ED-EBDC5C61AE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B90FB-04B5-4570-A62D-30A6EAB3CB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59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9B90FB-04B5-4570-A62D-30A6EAB3CB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71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16.jpeg"/><Relationship Id="rId4" Type="http://schemas.openxmlformats.org/officeDocument/2006/relationships/image" Target="../media/image15.jpe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079901" y="-207800"/>
            <a:ext cx="20447802" cy="6383228"/>
            <a:chOff x="0" y="0"/>
            <a:chExt cx="4207367" cy="13134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07367" cy="1313421"/>
            </a:xfrm>
            <a:custGeom>
              <a:avLst/>
              <a:gdLst/>
              <a:ahLst/>
              <a:cxnLst/>
              <a:rect l="l" t="t" r="r" b="b"/>
              <a:pathLst>
                <a:path w="4207367" h="1313421">
                  <a:moveTo>
                    <a:pt x="0" y="0"/>
                  </a:moveTo>
                  <a:lnTo>
                    <a:pt x="4207367" y="0"/>
                  </a:lnTo>
                  <a:lnTo>
                    <a:pt x="4207367" y="1313421"/>
                  </a:lnTo>
                  <a:lnTo>
                    <a:pt x="0" y="1313421"/>
                  </a:lnTo>
                  <a:close/>
                </a:path>
              </a:pathLst>
            </a:custGeom>
            <a:solidFill>
              <a:srgbClr val="1D2B5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4207367" cy="1437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693194" y="3836088"/>
            <a:ext cx="2772779" cy="2772779"/>
          </a:xfrm>
          <a:custGeom>
            <a:avLst/>
            <a:gdLst/>
            <a:ahLst/>
            <a:cxnLst/>
            <a:rect l="l" t="t" r="r" b="b"/>
            <a:pathLst>
              <a:path w="2772779" h="2772779">
                <a:moveTo>
                  <a:pt x="0" y="0"/>
                </a:moveTo>
                <a:lnTo>
                  <a:pt x="2772780" y="0"/>
                </a:lnTo>
                <a:lnTo>
                  <a:pt x="2772780" y="2772780"/>
                </a:lnTo>
                <a:lnTo>
                  <a:pt x="0" y="2772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748692" y="-652715"/>
            <a:ext cx="3021216" cy="3015723"/>
          </a:xfrm>
          <a:custGeom>
            <a:avLst/>
            <a:gdLst/>
            <a:ahLst/>
            <a:cxnLst/>
            <a:rect l="l" t="t" r="r" b="b"/>
            <a:pathLst>
              <a:path w="3021216" h="3015723">
                <a:moveTo>
                  <a:pt x="0" y="0"/>
                </a:moveTo>
                <a:lnTo>
                  <a:pt x="3021216" y="0"/>
                </a:lnTo>
                <a:lnTo>
                  <a:pt x="3021216" y="3015723"/>
                </a:lnTo>
                <a:lnTo>
                  <a:pt x="0" y="30157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926199" y="-652715"/>
            <a:ext cx="6944034" cy="6931409"/>
          </a:xfrm>
          <a:custGeom>
            <a:avLst/>
            <a:gdLst/>
            <a:ahLst/>
            <a:cxnLst/>
            <a:rect l="l" t="t" r="r" b="b"/>
            <a:pathLst>
              <a:path w="6944034" h="6931409">
                <a:moveTo>
                  <a:pt x="0" y="0"/>
                </a:moveTo>
                <a:lnTo>
                  <a:pt x="6944034" y="0"/>
                </a:lnTo>
                <a:lnTo>
                  <a:pt x="6944034" y="6931409"/>
                </a:lnTo>
                <a:lnTo>
                  <a:pt x="0" y="6931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04019" y="4632378"/>
            <a:ext cx="9357728" cy="3086100"/>
            <a:chOff x="0" y="0"/>
            <a:chExt cx="2464587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64587" cy="812800"/>
            </a:xfrm>
            <a:custGeom>
              <a:avLst/>
              <a:gdLst/>
              <a:ahLst/>
              <a:cxnLst/>
              <a:rect l="l" t="t" r="r" b="b"/>
              <a:pathLst>
                <a:path w="2464587" h="812800">
                  <a:moveTo>
                    <a:pt x="42194" y="0"/>
                  </a:moveTo>
                  <a:lnTo>
                    <a:pt x="2422393" y="0"/>
                  </a:lnTo>
                  <a:cubicBezTo>
                    <a:pt x="2445696" y="0"/>
                    <a:pt x="2464587" y="18891"/>
                    <a:pt x="2464587" y="42194"/>
                  </a:cubicBezTo>
                  <a:lnTo>
                    <a:pt x="2464587" y="770606"/>
                  </a:lnTo>
                  <a:cubicBezTo>
                    <a:pt x="2464587" y="781797"/>
                    <a:pt x="2460141" y="792529"/>
                    <a:pt x="2452228" y="800442"/>
                  </a:cubicBezTo>
                  <a:cubicBezTo>
                    <a:pt x="2444316" y="808355"/>
                    <a:pt x="2433583" y="812800"/>
                    <a:pt x="2422393" y="812800"/>
                  </a:cubicBezTo>
                  <a:lnTo>
                    <a:pt x="42194" y="812800"/>
                  </a:lnTo>
                  <a:cubicBezTo>
                    <a:pt x="31003" y="812800"/>
                    <a:pt x="20271" y="808355"/>
                    <a:pt x="12358" y="800442"/>
                  </a:cubicBezTo>
                  <a:cubicBezTo>
                    <a:pt x="4445" y="792529"/>
                    <a:pt x="0" y="781797"/>
                    <a:pt x="0" y="770606"/>
                  </a:cubicBezTo>
                  <a:lnTo>
                    <a:pt x="0" y="42194"/>
                  </a:lnTo>
                  <a:cubicBezTo>
                    <a:pt x="0" y="31003"/>
                    <a:pt x="4445" y="20271"/>
                    <a:pt x="12358" y="12358"/>
                  </a:cubicBezTo>
                  <a:cubicBezTo>
                    <a:pt x="20271" y="4445"/>
                    <a:pt x="31003" y="0"/>
                    <a:pt x="4219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2464587" cy="9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409989" y="476170"/>
            <a:ext cx="3359919" cy="3359919"/>
          </a:xfrm>
          <a:custGeom>
            <a:avLst/>
            <a:gdLst/>
            <a:ahLst/>
            <a:cxnLst/>
            <a:rect l="l" t="t" r="r" b="b"/>
            <a:pathLst>
              <a:path w="3359919" h="3359919">
                <a:moveTo>
                  <a:pt x="0" y="0"/>
                </a:moveTo>
                <a:lnTo>
                  <a:pt x="3359919" y="0"/>
                </a:lnTo>
                <a:lnTo>
                  <a:pt x="3359919" y="3359918"/>
                </a:lnTo>
                <a:lnTo>
                  <a:pt x="0" y="33599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98887">
            <a:off x="8867741" y="985880"/>
            <a:ext cx="10435765" cy="7967229"/>
          </a:xfrm>
          <a:custGeom>
            <a:avLst/>
            <a:gdLst/>
            <a:ahLst/>
            <a:cxnLst/>
            <a:rect l="l" t="t" r="r" b="b"/>
            <a:pathLst>
              <a:path w="10435765" h="7967229">
                <a:moveTo>
                  <a:pt x="0" y="0"/>
                </a:moveTo>
                <a:lnTo>
                  <a:pt x="10435765" y="0"/>
                </a:lnTo>
                <a:lnTo>
                  <a:pt x="10435765" y="7967229"/>
                </a:lnTo>
                <a:lnTo>
                  <a:pt x="0" y="79672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0" y="-652715"/>
            <a:ext cx="4382903" cy="4374934"/>
          </a:xfrm>
          <a:custGeom>
            <a:avLst/>
            <a:gdLst/>
            <a:ahLst/>
            <a:cxnLst/>
            <a:rect l="l" t="t" r="r" b="b"/>
            <a:pathLst>
              <a:path w="4382903" h="4374934">
                <a:moveTo>
                  <a:pt x="0" y="0"/>
                </a:moveTo>
                <a:lnTo>
                  <a:pt x="4382903" y="0"/>
                </a:lnTo>
                <a:lnTo>
                  <a:pt x="4382903" y="4374934"/>
                </a:lnTo>
                <a:lnTo>
                  <a:pt x="0" y="4374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476499" y="1892892"/>
            <a:ext cx="1505199" cy="1505199"/>
          </a:xfrm>
          <a:custGeom>
            <a:avLst/>
            <a:gdLst/>
            <a:ahLst/>
            <a:cxnLst/>
            <a:rect l="l" t="t" r="r" b="b"/>
            <a:pathLst>
              <a:path w="1505199" h="1505199">
                <a:moveTo>
                  <a:pt x="0" y="0"/>
                </a:moveTo>
                <a:lnTo>
                  <a:pt x="1505199" y="0"/>
                </a:lnTo>
                <a:lnTo>
                  <a:pt x="1505199" y="1505199"/>
                </a:lnTo>
                <a:lnTo>
                  <a:pt x="0" y="1505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71600" y="4942122"/>
            <a:ext cx="7585483" cy="2652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795"/>
              </a:lnSpc>
            </a:pPr>
            <a:r>
              <a:rPr lang="en-US" sz="6000" b="1" spc="-373" dirty="0">
                <a:solidFill>
                  <a:srgbClr val="1D2B53"/>
                </a:solidFill>
                <a:latin typeface="Mulled Wine Season"/>
                <a:ea typeface="Mulled Wine Season"/>
                <a:cs typeface="Mulled Wine Season"/>
                <a:sym typeface="Mulled Wine Season"/>
              </a:rPr>
              <a:t>Day 6: AI Game Developer – Model Integration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9517" y="1458552"/>
            <a:ext cx="4361213" cy="30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1"/>
              </a:lnSpc>
            </a:pPr>
            <a:r>
              <a:rPr lang="en-US" sz="1544" b="1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AI Makes Games Smarter and More Fun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39517" y="3712263"/>
            <a:ext cx="4361213" cy="48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AI Game Developer Series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15366" y="6031701"/>
            <a:ext cx="15457269" cy="2958907"/>
            <a:chOff x="0" y="0"/>
            <a:chExt cx="4071050" cy="7793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71050" cy="779301"/>
            </a:xfrm>
            <a:custGeom>
              <a:avLst/>
              <a:gdLst/>
              <a:ahLst/>
              <a:cxnLst/>
              <a:rect l="l" t="t" r="r" b="b"/>
              <a:pathLst>
                <a:path w="4071050" h="779301">
                  <a:moveTo>
                    <a:pt x="25544" y="0"/>
                  </a:moveTo>
                  <a:lnTo>
                    <a:pt x="4045507" y="0"/>
                  </a:lnTo>
                  <a:cubicBezTo>
                    <a:pt x="4059614" y="0"/>
                    <a:pt x="4071050" y="11436"/>
                    <a:pt x="4071050" y="25544"/>
                  </a:cubicBezTo>
                  <a:lnTo>
                    <a:pt x="4071050" y="753757"/>
                  </a:lnTo>
                  <a:cubicBezTo>
                    <a:pt x="4071050" y="760531"/>
                    <a:pt x="4068359" y="767029"/>
                    <a:pt x="4063569" y="771819"/>
                  </a:cubicBezTo>
                  <a:cubicBezTo>
                    <a:pt x="4058778" y="776609"/>
                    <a:pt x="4052281" y="779301"/>
                    <a:pt x="4045507" y="779301"/>
                  </a:cubicBezTo>
                  <a:lnTo>
                    <a:pt x="25544" y="779301"/>
                  </a:lnTo>
                  <a:cubicBezTo>
                    <a:pt x="18769" y="779301"/>
                    <a:pt x="12272" y="776609"/>
                    <a:pt x="7482" y="771819"/>
                  </a:cubicBezTo>
                  <a:cubicBezTo>
                    <a:pt x="2691" y="767029"/>
                    <a:pt x="0" y="760531"/>
                    <a:pt x="0" y="753757"/>
                  </a:cubicBezTo>
                  <a:lnTo>
                    <a:pt x="0" y="25544"/>
                  </a:lnTo>
                  <a:cubicBezTo>
                    <a:pt x="0" y="11436"/>
                    <a:pt x="11436" y="0"/>
                    <a:pt x="2554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4071050" cy="90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15366" y="-375456"/>
            <a:ext cx="15457269" cy="6140458"/>
            <a:chOff x="0" y="0"/>
            <a:chExt cx="2348535" cy="9329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48535" cy="932964"/>
            </a:xfrm>
            <a:custGeom>
              <a:avLst/>
              <a:gdLst/>
              <a:ahLst/>
              <a:cxnLst/>
              <a:rect l="l" t="t" r="r" b="b"/>
              <a:pathLst>
                <a:path w="2348535" h="932964">
                  <a:moveTo>
                    <a:pt x="26045" y="0"/>
                  </a:moveTo>
                  <a:lnTo>
                    <a:pt x="2322491" y="0"/>
                  </a:lnTo>
                  <a:cubicBezTo>
                    <a:pt x="2336875" y="0"/>
                    <a:pt x="2348535" y="11661"/>
                    <a:pt x="2348535" y="26045"/>
                  </a:cubicBezTo>
                  <a:lnTo>
                    <a:pt x="2348535" y="906920"/>
                  </a:lnTo>
                  <a:cubicBezTo>
                    <a:pt x="2348535" y="921304"/>
                    <a:pt x="2336875" y="932964"/>
                    <a:pt x="2322491" y="932964"/>
                  </a:cubicBezTo>
                  <a:lnTo>
                    <a:pt x="26045" y="932964"/>
                  </a:lnTo>
                  <a:cubicBezTo>
                    <a:pt x="11661" y="932964"/>
                    <a:pt x="0" y="921304"/>
                    <a:pt x="0" y="906920"/>
                  </a:cubicBezTo>
                  <a:lnTo>
                    <a:pt x="0" y="26045"/>
                  </a:lnTo>
                  <a:cubicBezTo>
                    <a:pt x="0" y="11661"/>
                    <a:pt x="11661" y="0"/>
                    <a:pt x="26045" y="0"/>
                  </a:cubicBezTo>
                  <a:close/>
                </a:path>
              </a:pathLst>
            </a:custGeom>
            <a:blipFill>
              <a:blip r:embed="rId3"/>
              <a:stretch>
                <a:fillRect t="-21742" b="-2174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15366" y="9085859"/>
            <a:ext cx="15457269" cy="851335"/>
            <a:chOff x="0" y="0"/>
            <a:chExt cx="3180508" cy="1751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80508" cy="175172"/>
            </a:xfrm>
            <a:custGeom>
              <a:avLst/>
              <a:gdLst/>
              <a:ahLst/>
              <a:cxnLst/>
              <a:rect l="l" t="t" r="r" b="b"/>
              <a:pathLst>
                <a:path w="3180508" h="175172">
                  <a:moveTo>
                    <a:pt x="39130" y="0"/>
                  </a:moveTo>
                  <a:lnTo>
                    <a:pt x="3141378" y="0"/>
                  </a:lnTo>
                  <a:cubicBezTo>
                    <a:pt x="3162989" y="0"/>
                    <a:pt x="3180508" y="17519"/>
                    <a:pt x="3180508" y="39130"/>
                  </a:cubicBezTo>
                  <a:lnTo>
                    <a:pt x="3180508" y="136042"/>
                  </a:lnTo>
                  <a:cubicBezTo>
                    <a:pt x="3180508" y="146420"/>
                    <a:pt x="3176385" y="156373"/>
                    <a:pt x="3169047" y="163711"/>
                  </a:cubicBezTo>
                  <a:cubicBezTo>
                    <a:pt x="3161709" y="171049"/>
                    <a:pt x="3151756" y="175172"/>
                    <a:pt x="3141378" y="175172"/>
                  </a:cubicBezTo>
                  <a:lnTo>
                    <a:pt x="39130" y="175172"/>
                  </a:lnTo>
                  <a:cubicBezTo>
                    <a:pt x="17519" y="175172"/>
                    <a:pt x="0" y="157653"/>
                    <a:pt x="0" y="136042"/>
                  </a:cubicBezTo>
                  <a:lnTo>
                    <a:pt x="0" y="39130"/>
                  </a:lnTo>
                  <a:cubicBezTo>
                    <a:pt x="0" y="17519"/>
                    <a:pt x="17519" y="0"/>
                    <a:pt x="39130" y="0"/>
                  </a:cubicBezTo>
                  <a:close/>
                </a:path>
              </a:pathLst>
            </a:custGeom>
            <a:solidFill>
              <a:srgbClr val="1D2B5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3180508" cy="29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95802" y="7086768"/>
            <a:ext cx="6547343" cy="145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1998">
                <a:solidFill>
                  <a:srgbClr val="1D2B53"/>
                </a:solidFill>
                <a:latin typeface="Agrandir"/>
                <a:ea typeface="Agrandir"/>
                <a:cs typeface="Agrandir"/>
                <a:sym typeface="Agrandir"/>
              </a:rPr>
              <a:t>AI Model Integration means putting smart AI brains into games so characters and opponents can think and learn! It's like giving your game characters superpowers to act smart!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1542" y="6691370"/>
            <a:ext cx="6725864" cy="163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2"/>
              </a:lnSpc>
            </a:pPr>
            <a:r>
              <a:rPr lang="en-US" sz="6332" b="1" spc="-348">
                <a:solidFill>
                  <a:srgbClr val="1D2B53"/>
                </a:solidFill>
                <a:latin typeface="Mulled Wine Season"/>
                <a:ea typeface="Mulled Wine Season"/>
                <a:cs typeface="Mulled Wine Season"/>
                <a:sym typeface="Mulled Wine Season"/>
              </a:rPr>
              <a:t>What is AI Model Integration?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95802" y="6432529"/>
            <a:ext cx="4361213" cy="48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</a:pPr>
            <a:r>
              <a:rPr lang="en-US" sz="2398" b="1">
                <a:solidFill>
                  <a:srgbClr val="1D2B53"/>
                </a:solidFill>
                <a:latin typeface="Agrandir Bold"/>
                <a:ea typeface="Agrandir Bold"/>
                <a:cs typeface="Agrandir Bold"/>
                <a:sym typeface="Agrandir Bold"/>
              </a:rPr>
              <a:t>Smart Game Brains!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81723" y="-1178135"/>
            <a:ext cx="7992677" cy="7978145"/>
          </a:xfrm>
          <a:custGeom>
            <a:avLst/>
            <a:gdLst/>
            <a:ahLst/>
            <a:cxnLst/>
            <a:rect l="l" t="t" r="r" b="b"/>
            <a:pathLst>
              <a:path w="7992677" h="7978145">
                <a:moveTo>
                  <a:pt x="0" y="0"/>
                </a:moveTo>
                <a:lnTo>
                  <a:pt x="7992677" y="0"/>
                </a:lnTo>
                <a:lnTo>
                  <a:pt x="7992677" y="7978144"/>
                </a:lnTo>
                <a:lnTo>
                  <a:pt x="0" y="79781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50609" y="377413"/>
            <a:ext cx="5097257" cy="2604235"/>
          </a:xfrm>
          <a:custGeom>
            <a:avLst/>
            <a:gdLst/>
            <a:ahLst/>
            <a:cxnLst/>
            <a:rect l="l" t="t" r="r" b="b"/>
            <a:pathLst>
              <a:path w="5097257" h="2604235">
                <a:moveTo>
                  <a:pt x="0" y="0"/>
                </a:moveTo>
                <a:lnTo>
                  <a:pt x="5097257" y="0"/>
                </a:lnTo>
                <a:lnTo>
                  <a:pt x="5097257" y="2604235"/>
                </a:lnTo>
                <a:lnTo>
                  <a:pt x="0" y="2604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68243" y="865408"/>
            <a:ext cx="3891057" cy="3891057"/>
          </a:xfrm>
          <a:custGeom>
            <a:avLst/>
            <a:gdLst/>
            <a:ahLst/>
            <a:cxnLst/>
            <a:rect l="l" t="t" r="r" b="b"/>
            <a:pathLst>
              <a:path w="3891057" h="3891057">
                <a:moveTo>
                  <a:pt x="0" y="0"/>
                </a:moveTo>
                <a:lnTo>
                  <a:pt x="3891057" y="0"/>
                </a:lnTo>
                <a:lnTo>
                  <a:pt x="3891057" y="3891057"/>
                </a:lnTo>
                <a:lnTo>
                  <a:pt x="0" y="38910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223174" y="1679530"/>
            <a:ext cx="7428315" cy="4495508"/>
            <a:chOff x="0" y="0"/>
            <a:chExt cx="1106640" cy="6697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6640" cy="669723"/>
            </a:xfrm>
            <a:custGeom>
              <a:avLst/>
              <a:gdLst/>
              <a:ahLst/>
              <a:cxnLst/>
              <a:rect l="l" t="t" r="r" b="b"/>
              <a:pathLst>
                <a:path w="1106640" h="669723">
                  <a:moveTo>
                    <a:pt x="36478" y="0"/>
                  </a:moveTo>
                  <a:lnTo>
                    <a:pt x="1070163" y="0"/>
                  </a:lnTo>
                  <a:cubicBezTo>
                    <a:pt x="1090309" y="0"/>
                    <a:pt x="1106640" y="16332"/>
                    <a:pt x="1106640" y="36478"/>
                  </a:cubicBezTo>
                  <a:lnTo>
                    <a:pt x="1106640" y="633245"/>
                  </a:lnTo>
                  <a:cubicBezTo>
                    <a:pt x="1106640" y="642920"/>
                    <a:pt x="1102797" y="652198"/>
                    <a:pt x="1095956" y="659039"/>
                  </a:cubicBezTo>
                  <a:cubicBezTo>
                    <a:pt x="1089116" y="665880"/>
                    <a:pt x="1079837" y="669723"/>
                    <a:pt x="1070163" y="669723"/>
                  </a:cubicBezTo>
                  <a:lnTo>
                    <a:pt x="36478" y="669723"/>
                  </a:lnTo>
                  <a:cubicBezTo>
                    <a:pt x="16332" y="669723"/>
                    <a:pt x="0" y="653391"/>
                    <a:pt x="0" y="633245"/>
                  </a:cubicBezTo>
                  <a:lnTo>
                    <a:pt x="0" y="36478"/>
                  </a:lnTo>
                  <a:cubicBezTo>
                    <a:pt x="0" y="16332"/>
                    <a:pt x="16332" y="0"/>
                    <a:pt x="36478" y="0"/>
                  </a:cubicBezTo>
                  <a:close/>
                </a:path>
              </a:pathLst>
            </a:custGeom>
            <a:blipFill>
              <a:blip r:embed="rId5"/>
              <a:stretch>
                <a:fillRect l="-3086" r="-3086"/>
              </a:stretch>
            </a:blipFill>
            <a:ln w="38100" cap="rnd">
              <a:solidFill>
                <a:srgbClr val="FFEB67"/>
              </a:solidFill>
              <a:prstDash val="solid"/>
              <a:round/>
            </a:ln>
          </p:spPr>
        </p:sp>
      </p:grpSp>
      <p:sp>
        <p:nvSpPr>
          <p:cNvPr id="7" name="Freeform 7"/>
          <p:cNvSpPr/>
          <p:nvPr/>
        </p:nvSpPr>
        <p:spPr>
          <a:xfrm>
            <a:off x="4636194" y="7263470"/>
            <a:ext cx="2384757" cy="2384757"/>
          </a:xfrm>
          <a:custGeom>
            <a:avLst/>
            <a:gdLst/>
            <a:ahLst/>
            <a:cxnLst/>
            <a:rect l="l" t="t" r="r" b="b"/>
            <a:pathLst>
              <a:path w="2384757" h="2384757">
                <a:moveTo>
                  <a:pt x="0" y="0"/>
                </a:moveTo>
                <a:lnTo>
                  <a:pt x="2384757" y="0"/>
                </a:lnTo>
                <a:lnTo>
                  <a:pt x="2384757" y="2384757"/>
                </a:lnTo>
                <a:lnTo>
                  <a:pt x="0" y="23847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355523" y="5178783"/>
            <a:ext cx="5550517" cy="4169374"/>
            <a:chOff x="0" y="0"/>
            <a:chExt cx="859920" cy="645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9920" cy="645945"/>
            </a:xfrm>
            <a:custGeom>
              <a:avLst/>
              <a:gdLst/>
              <a:ahLst/>
              <a:cxnLst/>
              <a:rect l="l" t="t" r="r" b="b"/>
              <a:pathLst>
                <a:path w="859920" h="645945">
                  <a:moveTo>
                    <a:pt x="48818" y="0"/>
                  </a:moveTo>
                  <a:lnTo>
                    <a:pt x="811102" y="0"/>
                  </a:lnTo>
                  <a:cubicBezTo>
                    <a:pt x="838064" y="0"/>
                    <a:pt x="859920" y="21857"/>
                    <a:pt x="859920" y="48818"/>
                  </a:cubicBezTo>
                  <a:lnTo>
                    <a:pt x="859920" y="597127"/>
                  </a:lnTo>
                  <a:cubicBezTo>
                    <a:pt x="859920" y="610074"/>
                    <a:pt x="854777" y="622491"/>
                    <a:pt x="845622" y="631647"/>
                  </a:cubicBezTo>
                  <a:cubicBezTo>
                    <a:pt x="836467" y="640802"/>
                    <a:pt x="824049" y="645945"/>
                    <a:pt x="811102" y="645945"/>
                  </a:cubicBezTo>
                  <a:lnTo>
                    <a:pt x="48818" y="645945"/>
                  </a:lnTo>
                  <a:cubicBezTo>
                    <a:pt x="35871" y="645945"/>
                    <a:pt x="23454" y="640802"/>
                    <a:pt x="14299" y="631647"/>
                  </a:cubicBezTo>
                  <a:cubicBezTo>
                    <a:pt x="5143" y="622491"/>
                    <a:pt x="0" y="610074"/>
                    <a:pt x="0" y="597127"/>
                  </a:cubicBezTo>
                  <a:lnTo>
                    <a:pt x="0" y="48818"/>
                  </a:lnTo>
                  <a:cubicBezTo>
                    <a:pt x="0" y="35871"/>
                    <a:pt x="5143" y="23454"/>
                    <a:pt x="14299" y="14299"/>
                  </a:cubicBezTo>
                  <a:cubicBezTo>
                    <a:pt x="23454" y="5143"/>
                    <a:pt x="35871" y="0"/>
                    <a:pt x="48818" y="0"/>
                  </a:cubicBezTo>
                  <a:close/>
                </a:path>
              </a:pathLst>
            </a:custGeom>
            <a:blipFill>
              <a:blip r:embed="rId6"/>
              <a:stretch>
                <a:fillRect l="-329" r="-329"/>
              </a:stretch>
            </a:blipFill>
            <a:ln w="95250" cap="rnd">
              <a:solidFill>
                <a:srgbClr val="FFEB67"/>
              </a:solidFill>
              <a:prstDash val="solid"/>
              <a:round/>
            </a:ln>
          </p:spPr>
        </p:sp>
      </p:grpSp>
      <p:sp>
        <p:nvSpPr>
          <p:cNvPr id="10" name="Freeform 10"/>
          <p:cNvSpPr/>
          <p:nvPr/>
        </p:nvSpPr>
        <p:spPr>
          <a:xfrm>
            <a:off x="15105270" y="6256728"/>
            <a:ext cx="4308059" cy="4300227"/>
          </a:xfrm>
          <a:custGeom>
            <a:avLst/>
            <a:gdLst/>
            <a:ahLst/>
            <a:cxnLst/>
            <a:rect l="l" t="t" r="r" b="b"/>
            <a:pathLst>
              <a:path w="4308059" h="4300227">
                <a:moveTo>
                  <a:pt x="0" y="0"/>
                </a:moveTo>
                <a:lnTo>
                  <a:pt x="4308060" y="0"/>
                </a:lnTo>
                <a:lnTo>
                  <a:pt x="4308060" y="4300226"/>
                </a:lnTo>
                <a:lnTo>
                  <a:pt x="0" y="43002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862349" y="8256029"/>
            <a:ext cx="3578279" cy="1828175"/>
          </a:xfrm>
          <a:custGeom>
            <a:avLst/>
            <a:gdLst/>
            <a:ahLst/>
            <a:cxnLst/>
            <a:rect l="l" t="t" r="r" b="b"/>
            <a:pathLst>
              <a:path w="3578279" h="1828175">
                <a:moveTo>
                  <a:pt x="0" y="0"/>
                </a:moveTo>
                <a:lnTo>
                  <a:pt x="3578278" y="0"/>
                </a:lnTo>
                <a:lnTo>
                  <a:pt x="3578278" y="1828175"/>
                </a:lnTo>
                <a:lnTo>
                  <a:pt x="0" y="1828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1544850" y="6800009"/>
            <a:ext cx="4779945" cy="1982300"/>
            <a:chOff x="0" y="0"/>
            <a:chExt cx="1186471" cy="4920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86471" cy="492044"/>
            </a:xfrm>
            <a:custGeom>
              <a:avLst/>
              <a:gdLst/>
              <a:ahLst/>
              <a:cxnLst/>
              <a:rect l="l" t="t" r="r" b="b"/>
              <a:pathLst>
                <a:path w="1186471" h="492044">
                  <a:moveTo>
                    <a:pt x="48590" y="0"/>
                  </a:moveTo>
                  <a:lnTo>
                    <a:pt x="1137881" y="0"/>
                  </a:lnTo>
                  <a:cubicBezTo>
                    <a:pt x="1164717" y="0"/>
                    <a:pt x="1186471" y="21754"/>
                    <a:pt x="1186471" y="48590"/>
                  </a:cubicBezTo>
                  <a:lnTo>
                    <a:pt x="1186471" y="443454"/>
                  </a:lnTo>
                  <a:cubicBezTo>
                    <a:pt x="1186471" y="456341"/>
                    <a:pt x="1181352" y="468700"/>
                    <a:pt x="1172240" y="477812"/>
                  </a:cubicBezTo>
                  <a:cubicBezTo>
                    <a:pt x="1163127" y="486925"/>
                    <a:pt x="1150768" y="492044"/>
                    <a:pt x="1137881" y="492044"/>
                  </a:cubicBezTo>
                  <a:lnTo>
                    <a:pt x="48590" y="492044"/>
                  </a:lnTo>
                  <a:cubicBezTo>
                    <a:pt x="21754" y="492044"/>
                    <a:pt x="0" y="470289"/>
                    <a:pt x="0" y="443454"/>
                  </a:cubicBezTo>
                  <a:lnTo>
                    <a:pt x="0" y="48590"/>
                  </a:lnTo>
                  <a:cubicBezTo>
                    <a:pt x="0" y="21754"/>
                    <a:pt x="21754" y="0"/>
                    <a:pt x="48590" y="0"/>
                  </a:cubicBezTo>
                  <a:close/>
                </a:path>
              </a:pathLst>
            </a:custGeom>
            <a:solidFill>
              <a:srgbClr val="FFEB67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23825"/>
              <a:ext cx="1186471" cy="615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74718" y="5402149"/>
            <a:ext cx="4858167" cy="4849334"/>
          </a:xfrm>
          <a:custGeom>
            <a:avLst/>
            <a:gdLst/>
            <a:ahLst/>
            <a:cxnLst/>
            <a:rect l="l" t="t" r="r" b="b"/>
            <a:pathLst>
              <a:path w="4858167" h="4849334">
                <a:moveTo>
                  <a:pt x="0" y="0"/>
                </a:moveTo>
                <a:lnTo>
                  <a:pt x="4858167" y="0"/>
                </a:lnTo>
                <a:lnTo>
                  <a:pt x="4858167" y="4849334"/>
                </a:lnTo>
                <a:lnTo>
                  <a:pt x="0" y="4849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075989" y="5178783"/>
            <a:ext cx="945537" cy="945537"/>
          </a:xfrm>
          <a:custGeom>
            <a:avLst/>
            <a:gdLst/>
            <a:ahLst/>
            <a:cxnLst/>
            <a:rect l="l" t="t" r="r" b="b"/>
            <a:pathLst>
              <a:path w="945537" h="945537">
                <a:moveTo>
                  <a:pt x="0" y="0"/>
                </a:moveTo>
                <a:lnTo>
                  <a:pt x="945536" y="0"/>
                </a:lnTo>
                <a:lnTo>
                  <a:pt x="945536" y="945536"/>
                </a:lnTo>
                <a:lnTo>
                  <a:pt x="0" y="945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018514" y="0"/>
            <a:ext cx="1505199" cy="1505199"/>
          </a:xfrm>
          <a:custGeom>
            <a:avLst/>
            <a:gdLst/>
            <a:ahLst/>
            <a:cxnLst/>
            <a:rect l="l" t="t" r="r" b="b"/>
            <a:pathLst>
              <a:path w="1505199" h="1505199">
                <a:moveTo>
                  <a:pt x="0" y="0"/>
                </a:moveTo>
                <a:lnTo>
                  <a:pt x="1505199" y="0"/>
                </a:lnTo>
                <a:lnTo>
                  <a:pt x="1505199" y="1505199"/>
                </a:lnTo>
                <a:lnTo>
                  <a:pt x="0" y="1505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56743" y="2855720"/>
            <a:ext cx="5828741" cy="1425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8"/>
              </a:lnSpc>
            </a:pPr>
            <a:r>
              <a:rPr lang="en-US" sz="5478" b="1" spc="-301">
                <a:solidFill>
                  <a:srgbClr val="FFFFFF"/>
                </a:solidFill>
                <a:latin typeface="Mulled Wine Season"/>
                <a:ea typeface="Mulled Wine Season"/>
                <a:cs typeface="Mulled Wine Season"/>
                <a:sym typeface="Mulled Wine Season"/>
              </a:rPr>
              <a:t>Real-World AI in Games You Know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91065" y="7025984"/>
            <a:ext cx="4087515" cy="1296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8"/>
              </a:lnSpc>
            </a:pPr>
            <a:r>
              <a:rPr lang="en-US" sz="182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NPCs act like real people in Minecraft! Racing game opponents learn your moves and get harder! Smart teammates adapt to how you play!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56743" y="1728362"/>
            <a:ext cx="3709285" cy="482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40"/>
              </a:lnSpc>
            </a:pPr>
            <a:r>
              <a:rPr lang="en-US" sz="2385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Day 6: AI Game Developer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-2764143" y="8291944"/>
            <a:ext cx="3283228" cy="30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48"/>
              </a:lnSpc>
            </a:pPr>
            <a:r>
              <a:rPr lang="en-US" sz="1820" dirty="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35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356544" y="591112"/>
            <a:ext cx="3578279" cy="1828175"/>
          </a:xfrm>
          <a:custGeom>
            <a:avLst/>
            <a:gdLst/>
            <a:ahLst/>
            <a:cxnLst/>
            <a:rect l="l" t="t" r="r" b="b"/>
            <a:pathLst>
              <a:path w="3578279" h="1828175">
                <a:moveTo>
                  <a:pt x="0" y="0"/>
                </a:moveTo>
                <a:lnTo>
                  <a:pt x="3578279" y="0"/>
                </a:lnTo>
                <a:lnTo>
                  <a:pt x="3578279" y="1828175"/>
                </a:lnTo>
                <a:lnTo>
                  <a:pt x="0" y="18281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4063942" y="7228831"/>
            <a:ext cx="6514120" cy="3328123"/>
          </a:xfrm>
          <a:custGeom>
            <a:avLst/>
            <a:gdLst/>
            <a:ahLst/>
            <a:cxnLst/>
            <a:rect l="l" t="t" r="r" b="b"/>
            <a:pathLst>
              <a:path w="6514120" h="3328123">
                <a:moveTo>
                  <a:pt x="0" y="0"/>
                </a:moveTo>
                <a:lnTo>
                  <a:pt x="6514119" y="0"/>
                </a:lnTo>
                <a:lnTo>
                  <a:pt x="6514119" y="3328123"/>
                </a:lnTo>
                <a:lnTo>
                  <a:pt x="0" y="3328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777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78694"/>
            <a:ext cx="7139713" cy="7388284"/>
            <a:chOff x="0" y="0"/>
            <a:chExt cx="1880418" cy="19458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80418" cy="1945885"/>
            </a:xfrm>
            <a:custGeom>
              <a:avLst/>
              <a:gdLst/>
              <a:ahLst/>
              <a:cxnLst/>
              <a:rect l="l" t="t" r="r" b="b"/>
              <a:pathLst>
                <a:path w="1880418" h="1945885">
                  <a:moveTo>
                    <a:pt x="55302" y="0"/>
                  </a:moveTo>
                  <a:lnTo>
                    <a:pt x="1825117" y="0"/>
                  </a:lnTo>
                  <a:cubicBezTo>
                    <a:pt x="1839784" y="0"/>
                    <a:pt x="1853850" y="5826"/>
                    <a:pt x="1864221" y="16197"/>
                  </a:cubicBezTo>
                  <a:cubicBezTo>
                    <a:pt x="1874592" y="26569"/>
                    <a:pt x="1880418" y="40635"/>
                    <a:pt x="1880418" y="55302"/>
                  </a:cubicBezTo>
                  <a:lnTo>
                    <a:pt x="1880418" y="1890584"/>
                  </a:lnTo>
                  <a:cubicBezTo>
                    <a:pt x="1880418" y="1921126"/>
                    <a:pt x="1855659" y="1945885"/>
                    <a:pt x="1825117" y="1945885"/>
                  </a:cubicBezTo>
                  <a:lnTo>
                    <a:pt x="55302" y="1945885"/>
                  </a:lnTo>
                  <a:cubicBezTo>
                    <a:pt x="24759" y="1945885"/>
                    <a:pt x="0" y="1921126"/>
                    <a:pt x="0" y="1890584"/>
                  </a:cubicBezTo>
                  <a:lnTo>
                    <a:pt x="0" y="55302"/>
                  </a:lnTo>
                  <a:cubicBezTo>
                    <a:pt x="0" y="24759"/>
                    <a:pt x="24759" y="0"/>
                    <a:pt x="5530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1880418" cy="2069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070424" y="1948060"/>
            <a:ext cx="821282" cy="821282"/>
            <a:chOff x="0" y="0"/>
            <a:chExt cx="1095043" cy="1095043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D2B5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90182" y="283922"/>
              <a:ext cx="514679" cy="527200"/>
            </a:xfrm>
            <a:custGeom>
              <a:avLst/>
              <a:gdLst/>
              <a:ahLst/>
              <a:cxnLst/>
              <a:rect l="l" t="t" r="r" b="b"/>
              <a:pathLst>
                <a:path w="514679" h="527200">
                  <a:moveTo>
                    <a:pt x="0" y="0"/>
                  </a:moveTo>
                  <a:lnTo>
                    <a:pt x="514679" y="0"/>
                  </a:lnTo>
                  <a:lnTo>
                    <a:pt x="514679" y="527199"/>
                  </a:lnTo>
                  <a:lnTo>
                    <a:pt x="0" y="527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2070424" y="3491322"/>
            <a:ext cx="821282" cy="821282"/>
            <a:chOff x="0" y="0"/>
            <a:chExt cx="1095043" cy="1095043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D2B53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283922" y="311796"/>
              <a:ext cx="527200" cy="471452"/>
            </a:xfrm>
            <a:custGeom>
              <a:avLst/>
              <a:gdLst/>
              <a:ahLst/>
              <a:cxnLst/>
              <a:rect l="l" t="t" r="r" b="b"/>
              <a:pathLst>
                <a:path w="527200" h="471452">
                  <a:moveTo>
                    <a:pt x="0" y="0"/>
                  </a:moveTo>
                  <a:lnTo>
                    <a:pt x="527199" y="0"/>
                  </a:lnTo>
                  <a:lnTo>
                    <a:pt x="527199" y="471451"/>
                  </a:lnTo>
                  <a:lnTo>
                    <a:pt x="0" y="471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070424" y="5031197"/>
            <a:ext cx="821282" cy="821282"/>
            <a:chOff x="0" y="0"/>
            <a:chExt cx="1095043" cy="109504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D2B53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283922" y="340596"/>
              <a:ext cx="527200" cy="413852"/>
            </a:xfrm>
            <a:custGeom>
              <a:avLst/>
              <a:gdLst/>
              <a:ahLst/>
              <a:cxnLst/>
              <a:rect l="l" t="t" r="r" b="b"/>
              <a:pathLst>
                <a:path w="527200" h="413852">
                  <a:moveTo>
                    <a:pt x="0" y="0"/>
                  </a:moveTo>
                  <a:lnTo>
                    <a:pt x="527199" y="0"/>
                  </a:lnTo>
                  <a:lnTo>
                    <a:pt x="527199" y="413851"/>
                  </a:lnTo>
                  <a:lnTo>
                    <a:pt x="0" y="413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2070424" y="6666322"/>
            <a:ext cx="821282" cy="821282"/>
            <a:chOff x="0" y="0"/>
            <a:chExt cx="1095043" cy="1095043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D2B53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283922" y="285240"/>
              <a:ext cx="527200" cy="524564"/>
            </a:xfrm>
            <a:custGeom>
              <a:avLst/>
              <a:gdLst/>
              <a:ahLst/>
              <a:cxnLst/>
              <a:rect l="l" t="t" r="r" b="b"/>
              <a:pathLst>
                <a:path w="527200" h="524564">
                  <a:moveTo>
                    <a:pt x="0" y="0"/>
                  </a:moveTo>
                  <a:lnTo>
                    <a:pt x="527199" y="0"/>
                  </a:lnTo>
                  <a:lnTo>
                    <a:pt x="527199" y="524563"/>
                  </a:lnTo>
                  <a:lnTo>
                    <a:pt x="0" y="524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9144000" y="5722194"/>
            <a:ext cx="11175978" cy="3716013"/>
          </a:xfrm>
          <a:custGeom>
            <a:avLst/>
            <a:gdLst/>
            <a:ahLst/>
            <a:cxnLst/>
            <a:rect l="l" t="t" r="r" b="b"/>
            <a:pathLst>
              <a:path w="11175978" h="3716013">
                <a:moveTo>
                  <a:pt x="0" y="0"/>
                </a:moveTo>
                <a:lnTo>
                  <a:pt x="11175978" y="0"/>
                </a:lnTo>
                <a:lnTo>
                  <a:pt x="11175978" y="3716013"/>
                </a:lnTo>
                <a:lnTo>
                  <a:pt x="0" y="37160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028700" y="8732183"/>
            <a:ext cx="7139713" cy="851335"/>
            <a:chOff x="0" y="0"/>
            <a:chExt cx="1469077" cy="1751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69077" cy="175172"/>
            </a:xfrm>
            <a:custGeom>
              <a:avLst/>
              <a:gdLst/>
              <a:ahLst/>
              <a:cxnLst/>
              <a:rect l="l" t="t" r="r" b="b"/>
              <a:pathLst>
                <a:path w="1469077" h="175172">
                  <a:moveTo>
                    <a:pt x="84715" y="0"/>
                  </a:moveTo>
                  <a:lnTo>
                    <a:pt x="1384362" y="0"/>
                  </a:lnTo>
                  <a:cubicBezTo>
                    <a:pt x="1406830" y="0"/>
                    <a:pt x="1428377" y="8925"/>
                    <a:pt x="1444264" y="24812"/>
                  </a:cubicBezTo>
                  <a:cubicBezTo>
                    <a:pt x="1460152" y="40699"/>
                    <a:pt x="1469077" y="62247"/>
                    <a:pt x="1469077" y="84715"/>
                  </a:cubicBezTo>
                  <a:lnTo>
                    <a:pt x="1469077" y="90457"/>
                  </a:lnTo>
                  <a:cubicBezTo>
                    <a:pt x="1469077" y="137244"/>
                    <a:pt x="1431149" y="175172"/>
                    <a:pt x="1384362" y="175172"/>
                  </a:cubicBezTo>
                  <a:lnTo>
                    <a:pt x="84715" y="175172"/>
                  </a:lnTo>
                  <a:cubicBezTo>
                    <a:pt x="37928" y="175172"/>
                    <a:pt x="0" y="137244"/>
                    <a:pt x="0" y="90457"/>
                  </a:cubicBezTo>
                  <a:lnTo>
                    <a:pt x="0" y="84715"/>
                  </a:lnTo>
                  <a:cubicBezTo>
                    <a:pt x="0" y="37928"/>
                    <a:pt x="37928" y="0"/>
                    <a:pt x="84715" y="0"/>
                  </a:cubicBezTo>
                  <a:close/>
                </a:path>
              </a:pathLst>
            </a:custGeom>
            <a:solidFill>
              <a:srgbClr val="1D2B53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23825"/>
              <a:ext cx="1469077" cy="29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243925" y="1769739"/>
            <a:ext cx="3924084" cy="98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</a:pPr>
            <a:r>
              <a:rPr lang="en-US" sz="1789" b="1">
                <a:solidFill>
                  <a:srgbClr val="1D2B53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Smarter Opponents: AI can challenge you by learning your moves and getting better!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43925" y="3313001"/>
            <a:ext cx="3924084" cy="98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</a:pPr>
            <a:r>
              <a:rPr lang="en-US" sz="1789" b="1">
                <a:solidFill>
                  <a:srgbClr val="1D2B53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Realistic Characters: NPCs can talk, react, and behave like real players in your game!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243925" y="4852876"/>
            <a:ext cx="3924084" cy="98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</a:pPr>
            <a:r>
              <a:rPr lang="en-US" sz="1789" b="1">
                <a:solidFill>
                  <a:srgbClr val="1D2B53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Dynamic Game Worlds: AI changes the game depending on what you do — every playthrough is different!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43925" y="6488001"/>
            <a:ext cx="3924084" cy="983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04"/>
              </a:lnSpc>
            </a:pPr>
            <a:r>
              <a:rPr lang="en-US" sz="1789" b="1">
                <a:solidFill>
                  <a:srgbClr val="1D2B53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Personalized Experiences: Games get more fun by adapting to your unique playing style!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93121" y="2337125"/>
            <a:ext cx="6658648" cy="121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</a:pPr>
            <a:r>
              <a:rPr lang="en-US" sz="4695" b="1" spc="-258">
                <a:solidFill>
                  <a:srgbClr val="1D2B53"/>
                </a:solidFill>
                <a:latin typeface="Mulled Wine Season"/>
                <a:ea typeface="Mulled Wine Season"/>
                <a:cs typeface="Mulled Wine Season"/>
                <a:sym typeface="Mulled Wine Season"/>
              </a:rPr>
              <a:t>How AI Makes Games Smarter and More Fun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93121" y="4256307"/>
            <a:ext cx="7266179" cy="48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1D2B53"/>
                </a:solidFill>
                <a:latin typeface="Agrandir"/>
                <a:ea typeface="Agrandir"/>
                <a:cs typeface="Agrandir"/>
                <a:sym typeface="Agrandir"/>
              </a:rPr>
              <a:t>AI gives games superpowers to think and learn!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9896" y="0"/>
            <a:ext cx="9106194" cy="10358373"/>
            <a:chOff x="0" y="0"/>
            <a:chExt cx="2398339" cy="27281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98339" cy="2728131"/>
            </a:xfrm>
            <a:custGeom>
              <a:avLst/>
              <a:gdLst/>
              <a:ahLst/>
              <a:cxnLst/>
              <a:rect l="l" t="t" r="r" b="b"/>
              <a:pathLst>
                <a:path w="2398339" h="2728131">
                  <a:moveTo>
                    <a:pt x="0" y="0"/>
                  </a:moveTo>
                  <a:lnTo>
                    <a:pt x="2398339" y="0"/>
                  </a:lnTo>
                  <a:lnTo>
                    <a:pt x="2398339" y="2728131"/>
                  </a:lnTo>
                  <a:lnTo>
                    <a:pt x="0" y="2728131"/>
                  </a:lnTo>
                  <a:close/>
                </a:path>
              </a:pathLst>
            </a:custGeom>
            <a:solidFill>
              <a:srgbClr val="FFEB6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398339" cy="2851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0774" y="1090700"/>
            <a:ext cx="7139713" cy="7388284"/>
            <a:chOff x="0" y="0"/>
            <a:chExt cx="1880418" cy="19458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0418" cy="1945885"/>
            </a:xfrm>
            <a:custGeom>
              <a:avLst/>
              <a:gdLst/>
              <a:ahLst/>
              <a:cxnLst/>
              <a:rect l="l" t="t" r="r" b="b"/>
              <a:pathLst>
                <a:path w="1880418" h="1945885">
                  <a:moveTo>
                    <a:pt x="55302" y="0"/>
                  </a:moveTo>
                  <a:lnTo>
                    <a:pt x="1825117" y="0"/>
                  </a:lnTo>
                  <a:cubicBezTo>
                    <a:pt x="1839784" y="0"/>
                    <a:pt x="1853850" y="5826"/>
                    <a:pt x="1864221" y="16197"/>
                  </a:cubicBezTo>
                  <a:cubicBezTo>
                    <a:pt x="1874592" y="26569"/>
                    <a:pt x="1880418" y="40635"/>
                    <a:pt x="1880418" y="55302"/>
                  </a:cubicBezTo>
                  <a:lnTo>
                    <a:pt x="1880418" y="1890584"/>
                  </a:lnTo>
                  <a:cubicBezTo>
                    <a:pt x="1880418" y="1921126"/>
                    <a:pt x="1855659" y="1945885"/>
                    <a:pt x="1825117" y="1945885"/>
                  </a:cubicBezTo>
                  <a:lnTo>
                    <a:pt x="55302" y="1945885"/>
                  </a:lnTo>
                  <a:cubicBezTo>
                    <a:pt x="24759" y="1945885"/>
                    <a:pt x="0" y="1921126"/>
                    <a:pt x="0" y="1890584"/>
                  </a:cubicBezTo>
                  <a:lnTo>
                    <a:pt x="0" y="55302"/>
                  </a:lnTo>
                  <a:cubicBezTo>
                    <a:pt x="0" y="24759"/>
                    <a:pt x="24759" y="0"/>
                    <a:pt x="5530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1880418" cy="2069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007241" y="-1738258"/>
            <a:ext cx="6930045" cy="6917444"/>
          </a:xfrm>
          <a:custGeom>
            <a:avLst/>
            <a:gdLst/>
            <a:ahLst/>
            <a:cxnLst/>
            <a:rect l="l" t="t" r="r" b="b"/>
            <a:pathLst>
              <a:path w="6930045" h="6917444">
                <a:moveTo>
                  <a:pt x="0" y="0"/>
                </a:moveTo>
                <a:lnTo>
                  <a:pt x="6930045" y="0"/>
                </a:lnTo>
                <a:lnTo>
                  <a:pt x="6930045" y="6917445"/>
                </a:lnTo>
                <a:lnTo>
                  <a:pt x="0" y="6917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61944" y="7270651"/>
            <a:ext cx="4929060" cy="4920098"/>
          </a:xfrm>
          <a:custGeom>
            <a:avLst/>
            <a:gdLst/>
            <a:ahLst/>
            <a:cxnLst/>
            <a:rect l="l" t="t" r="r" b="b"/>
            <a:pathLst>
              <a:path w="4929060" h="4920098">
                <a:moveTo>
                  <a:pt x="0" y="0"/>
                </a:moveTo>
                <a:lnTo>
                  <a:pt x="4929060" y="0"/>
                </a:lnTo>
                <a:lnTo>
                  <a:pt x="4929060" y="4920098"/>
                </a:lnTo>
                <a:lnTo>
                  <a:pt x="0" y="49200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51772" y="4079113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897699" y="554550"/>
            <a:ext cx="3868141" cy="3868141"/>
          </a:xfrm>
          <a:custGeom>
            <a:avLst/>
            <a:gdLst/>
            <a:ahLst/>
            <a:cxnLst/>
            <a:rect l="l" t="t" r="r" b="b"/>
            <a:pathLst>
              <a:path w="3868141" h="3868141">
                <a:moveTo>
                  <a:pt x="0" y="0"/>
                </a:moveTo>
                <a:lnTo>
                  <a:pt x="3868142" y="0"/>
                </a:lnTo>
                <a:lnTo>
                  <a:pt x="3868142" y="3868141"/>
                </a:lnTo>
                <a:lnTo>
                  <a:pt x="0" y="3868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504023" y="1981778"/>
            <a:ext cx="7176448" cy="2976830"/>
            <a:chOff x="0" y="0"/>
            <a:chExt cx="1216208" cy="5044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6208" cy="504490"/>
            </a:xfrm>
            <a:custGeom>
              <a:avLst/>
              <a:gdLst/>
              <a:ahLst/>
              <a:cxnLst/>
              <a:rect l="l" t="t" r="r" b="b"/>
              <a:pathLst>
                <a:path w="1216208" h="504490">
                  <a:moveTo>
                    <a:pt x="56097" y="0"/>
                  </a:moveTo>
                  <a:lnTo>
                    <a:pt x="1160110" y="0"/>
                  </a:lnTo>
                  <a:cubicBezTo>
                    <a:pt x="1191092" y="0"/>
                    <a:pt x="1216208" y="25116"/>
                    <a:pt x="1216208" y="56097"/>
                  </a:cubicBezTo>
                  <a:lnTo>
                    <a:pt x="1216208" y="448392"/>
                  </a:lnTo>
                  <a:cubicBezTo>
                    <a:pt x="1216208" y="479374"/>
                    <a:pt x="1191092" y="504490"/>
                    <a:pt x="1160110" y="504490"/>
                  </a:cubicBezTo>
                  <a:lnTo>
                    <a:pt x="56097" y="504490"/>
                  </a:lnTo>
                  <a:cubicBezTo>
                    <a:pt x="25116" y="504490"/>
                    <a:pt x="0" y="479374"/>
                    <a:pt x="0" y="448392"/>
                  </a:cubicBezTo>
                  <a:lnTo>
                    <a:pt x="0" y="56097"/>
                  </a:lnTo>
                  <a:cubicBezTo>
                    <a:pt x="0" y="25116"/>
                    <a:pt x="25116" y="0"/>
                    <a:pt x="56097" y="0"/>
                  </a:cubicBezTo>
                  <a:close/>
                </a:path>
              </a:pathLst>
            </a:custGeom>
            <a:blipFill>
              <a:blip r:embed="rId4"/>
              <a:stretch>
                <a:fillRect t="-18706" b="-18706"/>
              </a:stretch>
            </a:blipFill>
            <a:ln w="38100" cap="rnd">
              <a:solidFill>
                <a:srgbClr val="FFEB67"/>
              </a:solidFill>
              <a:prstDash val="solid"/>
              <a:round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504023" y="5328392"/>
            <a:ext cx="7176448" cy="2976830"/>
            <a:chOff x="0" y="0"/>
            <a:chExt cx="1216208" cy="5044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6208" cy="504490"/>
            </a:xfrm>
            <a:custGeom>
              <a:avLst/>
              <a:gdLst/>
              <a:ahLst/>
              <a:cxnLst/>
              <a:rect l="l" t="t" r="r" b="b"/>
              <a:pathLst>
                <a:path w="1216208" h="504490">
                  <a:moveTo>
                    <a:pt x="56097" y="0"/>
                  </a:moveTo>
                  <a:lnTo>
                    <a:pt x="1160110" y="0"/>
                  </a:lnTo>
                  <a:cubicBezTo>
                    <a:pt x="1191092" y="0"/>
                    <a:pt x="1216208" y="25116"/>
                    <a:pt x="1216208" y="56097"/>
                  </a:cubicBezTo>
                  <a:lnTo>
                    <a:pt x="1216208" y="448392"/>
                  </a:lnTo>
                  <a:cubicBezTo>
                    <a:pt x="1216208" y="479374"/>
                    <a:pt x="1191092" y="504490"/>
                    <a:pt x="1160110" y="504490"/>
                  </a:cubicBezTo>
                  <a:lnTo>
                    <a:pt x="56097" y="504490"/>
                  </a:lnTo>
                  <a:cubicBezTo>
                    <a:pt x="25116" y="504490"/>
                    <a:pt x="0" y="479374"/>
                    <a:pt x="0" y="448392"/>
                  </a:cubicBezTo>
                  <a:lnTo>
                    <a:pt x="0" y="56097"/>
                  </a:lnTo>
                  <a:cubicBezTo>
                    <a:pt x="0" y="25116"/>
                    <a:pt x="25116" y="0"/>
                    <a:pt x="56097" y="0"/>
                  </a:cubicBezTo>
                  <a:close/>
                </a:path>
              </a:pathLst>
            </a:custGeom>
            <a:blipFill>
              <a:blip r:embed="rId5"/>
              <a:stretch>
                <a:fillRect t="-18706" b="-18706"/>
              </a:stretch>
            </a:blipFill>
            <a:ln w="38100" cap="rnd">
              <a:solidFill>
                <a:srgbClr val="FFEB67"/>
              </a:solidFill>
              <a:prstDash val="solid"/>
              <a:round/>
            </a:ln>
          </p:spPr>
        </p:sp>
      </p:grpSp>
      <p:sp>
        <p:nvSpPr>
          <p:cNvPr id="16" name="Freeform 16"/>
          <p:cNvSpPr/>
          <p:nvPr/>
        </p:nvSpPr>
        <p:spPr>
          <a:xfrm>
            <a:off x="11625016" y="7581254"/>
            <a:ext cx="1742675" cy="1742675"/>
          </a:xfrm>
          <a:custGeom>
            <a:avLst/>
            <a:gdLst/>
            <a:ahLst/>
            <a:cxnLst/>
            <a:rect l="l" t="t" r="r" b="b"/>
            <a:pathLst>
              <a:path w="1742675" h="1742675">
                <a:moveTo>
                  <a:pt x="0" y="0"/>
                </a:moveTo>
                <a:lnTo>
                  <a:pt x="1742675" y="0"/>
                </a:lnTo>
                <a:lnTo>
                  <a:pt x="1742675" y="1742675"/>
                </a:lnTo>
                <a:lnTo>
                  <a:pt x="0" y="1742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640774" y="8714750"/>
            <a:ext cx="7139713" cy="851335"/>
            <a:chOff x="0" y="0"/>
            <a:chExt cx="1469077" cy="1751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69077" cy="175172"/>
            </a:xfrm>
            <a:custGeom>
              <a:avLst/>
              <a:gdLst/>
              <a:ahLst/>
              <a:cxnLst/>
              <a:rect l="l" t="t" r="r" b="b"/>
              <a:pathLst>
                <a:path w="1469077" h="175172">
                  <a:moveTo>
                    <a:pt x="84715" y="0"/>
                  </a:moveTo>
                  <a:lnTo>
                    <a:pt x="1384362" y="0"/>
                  </a:lnTo>
                  <a:cubicBezTo>
                    <a:pt x="1406830" y="0"/>
                    <a:pt x="1428377" y="8925"/>
                    <a:pt x="1444264" y="24812"/>
                  </a:cubicBezTo>
                  <a:cubicBezTo>
                    <a:pt x="1460152" y="40699"/>
                    <a:pt x="1469077" y="62247"/>
                    <a:pt x="1469077" y="84715"/>
                  </a:cubicBezTo>
                  <a:lnTo>
                    <a:pt x="1469077" y="90457"/>
                  </a:lnTo>
                  <a:cubicBezTo>
                    <a:pt x="1469077" y="137244"/>
                    <a:pt x="1431149" y="175172"/>
                    <a:pt x="1384362" y="175172"/>
                  </a:cubicBezTo>
                  <a:lnTo>
                    <a:pt x="84715" y="175172"/>
                  </a:lnTo>
                  <a:cubicBezTo>
                    <a:pt x="37928" y="175172"/>
                    <a:pt x="0" y="137244"/>
                    <a:pt x="0" y="90457"/>
                  </a:cubicBezTo>
                  <a:lnTo>
                    <a:pt x="0" y="84715"/>
                  </a:lnTo>
                  <a:cubicBezTo>
                    <a:pt x="0" y="37928"/>
                    <a:pt x="37928" y="0"/>
                    <a:pt x="84715" y="0"/>
                  </a:cubicBezTo>
                  <a:close/>
                </a:path>
              </a:pathLst>
            </a:custGeom>
            <a:solidFill>
              <a:srgbClr val="1D2B5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123825"/>
              <a:ext cx="1469077" cy="29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472264" y="1100517"/>
            <a:ext cx="1574073" cy="804208"/>
          </a:xfrm>
          <a:custGeom>
            <a:avLst/>
            <a:gdLst/>
            <a:ahLst/>
            <a:cxnLst/>
            <a:rect l="l" t="t" r="r" b="b"/>
            <a:pathLst>
              <a:path w="1574073" h="804208">
                <a:moveTo>
                  <a:pt x="0" y="0"/>
                </a:moveTo>
                <a:lnTo>
                  <a:pt x="1574072" y="0"/>
                </a:lnTo>
                <a:lnTo>
                  <a:pt x="1574072" y="804208"/>
                </a:lnTo>
                <a:lnTo>
                  <a:pt x="0" y="804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756541" y="7270651"/>
            <a:ext cx="4730130" cy="2416666"/>
          </a:xfrm>
          <a:custGeom>
            <a:avLst/>
            <a:gdLst/>
            <a:ahLst/>
            <a:cxnLst/>
            <a:rect l="l" t="t" r="r" b="b"/>
            <a:pathLst>
              <a:path w="4730130" h="2416666">
                <a:moveTo>
                  <a:pt x="0" y="0"/>
                </a:moveTo>
                <a:lnTo>
                  <a:pt x="4730130" y="0"/>
                </a:lnTo>
                <a:lnTo>
                  <a:pt x="4730130" y="2416666"/>
                </a:lnTo>
                <a:lnTo>
                  <a:pt x="0" y="24166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377259" y="4422691"/>
            <a:ext cx="2965427" cy="1515064"/>
          </a:xfrm>
          <a:custGeom>
            <a:avLst/>
            <a:gdLst/>
            <a:ahLst/>
            <a:cxnLst/>
            <a:rect l="l" t="t" r="r" b="b"/>
            <a:pathLst>
              <a:path w="2965427" h="1515064">
                <a:moveTo>
                  <a:pt x="0" y="0"/>
                </a:moveTo>
                <a:lnTo>
                  <a:pt x="2965427" y="0"/>
                </a:lnTo>
                <a:lnTo>
                  <a:pt x="2965427" y="1515064"/>
                </a:lnTo>
                <a:lnTo>
                  <a:pt x="0" y="1515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19145" y="5714652"/>
            <a:ext cx="513690" cy="442163"/>
          </a:xfrm>
          <a:custGeom>
            <a:avLst/>
            <a:gdLst/>
            <a:ahLst/>
            <a:cxnLst/>
            <a:rect l="l" t="t" r="r" b="b"/>
            <a:pathLst>
              <a:path w="513690" h="442163">
                <a:moveTo>
                  <a:pt x="0" y="0"/>
                </a:moveTo>
                <a:lnTo>
                  <a:pt x="513690" y="0"/>
                </a:lnTo>
                <a:lnTo>
                  <a:pt x="513690" y="442163"/>
                </a:lnTo>
                <a:lnTo>
                  <a:pt x="0" y="442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716110" y="6384068"/>
            <a:ext cx="315653" cy="344976"/>
          </a:xfrm>
          <a:custGeom>
            <a:avLst/>
            <a:gdLst/>
            <a:ahLst/>
            <a:cxnLst/>
            <a:rect l="l" t="t" r="r" b="b"/>
            <a:pathLst>
              <a:path w="315653" h="344976">
                <a:moveTo>
                  <a:pt x="0" y="0"/>
                </a:moveTo>
                <a:lnTo>
                  <a:pt x="315653" y="0"/>
                </a:lnTo>
                <a:lnTo>
                  <a:pt x="315653" y="344977"/>
                </a:lnTo>
                <a:lnTo>
                  <a:pt x="0" y="3449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34085" y="7010370"/>
            <a:ext cx="515217" cy="378040"/>
          </a:xfrm>
          <a:custGeom>
            <a:avLst/>
            <a:gdLst/>
            <a:ahLst/>
            <a:cxnLst/>
            <a:rect l="l" t="t" r="r" b="b"/>
            <a:pathLst>
              <a:path w="515217" h="378040">
                <a:moveTo>
                  <a:pt x="0" y="0"/>
                </a:moveTo>
                <a:lnTo>
                  <a:pt x="515217" y="0"/>
                </a:lnTo>
                <a:lnTo>
                  <a:pt x="515217" y="378040"/>
                </a:lnTo>
                <a:lnTo>
                  <a:pt x="0" y="3780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814565" y="3378728"/>
            <a:ext cx="5265184" cy="180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59"/>
              </a:lnSpc>
            </a:pPr>
            <a:r>
              <a:rPr lang="en-US" sz="4659" b="1" spc="-256">
                <a:solidFill>
                  <a:srgbClr val="0B0A0A"/>
                </a:solidFill>
                <a:latin typeface="Mulled Wine Season"/>
                <a:ea typeface="Mulled Wine Season"/>
                <a:cs typeface="Mulled Wine Season"/>
                <a:sym typeface="Mulled Wine Season"/>
              </a:rPr>
              <a:t>Your Turn! Create Smart Games with AI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62845" y="6334496"/>
            <a:ext cx="3108005" cy="250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0"/>
              </a:lnSpc>
              <a:spcBef>
                <a:spcPct val="0"/>
              </a:spcBef>
            </a:pPr>
            <a:r>
              <a:rPr lang="en-US" sz="1378" b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You can be an AI Game Developer!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62845" y="5696472"/>
            <a:ext cx="2496651" cy="26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0"/>
              </a:lnSpc>
              <a:spcBef>
                <a:spcPct val="0"/>
              </a:spcBef>
            </a:pPr>
            <a:r>
              <a:rPr lang="en-US" sz="1378" b="1" u="none" strike="noStrik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Make games that think!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62845" y="6976994"/>
            <a:ext cx="4433562" cy="26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0"/>
              </a:lnSpc>
              <a:spcBef>
                <a:spcPct val="0"/>
              </a:spcBef>
            </a:pPr>
            <a:r>
              <a:rPr lang="en-US" sz="1378" b="1" u="none" strike="noStrike">
                <a:solidFill>
                  <a:srgbClr val="0B0A0A"/>
                </a:solidFill>
                <a:latin typeface="Agrandir Bold"/>
                <a:ea typeface="Agrandir Bold"/>
                <a:cs typeface="Agrandir Bold"/>
                <a:sym typeface="Agrandir Bold"/>
              </a:rPr>
              <a:t>Let's create the next generation of smart games!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88817" y="1838050"/>
            <a:ext cx="3482033" cy="302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9"/>
              </a:lnSpc>
              <a:spcBef>
                <a:spcPct val="0"/>
              </a:spcBef>
            </a:pPr>
            <a:r>
              <a:rPr lang="en-US" sz="1606">
                <a:solidFill>
                  <a:srgbClr val="0B0A0A"/>
                </a:solidFill>
                <a:latin typeface="Agrandir"/>
                <a:ea typeface="Agrandir"/>
                <a:cs typeface="Agrandir"/>
                <a:sym typeface="Agrandir"/>
              </a:rPr>
              <a:t>What smart game would YOU build?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222</Words>
  <Application>Microsoft Office PowerPoint</Application>
  <PresentationFormat>Custom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Mulled Wine Season</vt:lpstr>
      <vt:lpstr>Calibri</vt:lpstr>
      <vt:lpstr>Agrandir Medium</vt:lpstr>
      <vt:lpstr>Agrandir</vt:lpstr>
      <vt:lpstr>Arial</vt:lpstr>
      <vt:lpstr>Poppins Bold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6: AI Game Developer – Model Integration
</dc:title>
  <cp:lastModifiedBy>JAGADISH JEEVAN SAI</cp:lastModifiedBy>
  <cp:revision>2</cp:revision>
  <dcterms:created xsi:type="dcterms:W3CDTF">2006-08-16T00:00:00Z</dcterms:created>
  <dcterms:modified xsi:type="dcterms:W3CDTF">2026-04-24T07:42:31Z</dcterms:modified>
  <dc:identifier>DAHHv-ewRIE</dc:identifier>
</cp:coreProperties>
</file>