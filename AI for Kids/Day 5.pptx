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uce" panose="020B0604020202020204" charset="0"/>
      <p:regular r:id="rId7"/>
    </p:embeddedFont>
    <p:embeddedFont>
      <p:font typeface="Open Sauce Bold" panose="020B0604020202020204" charset="0"/>
      <p:regular r:id="rId8"/>
    </p:embeddedFont>
    <p:embeddedFont>
      <p:font typeface="Waffle Soft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4.pn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4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76959" y="1181100"/>
            <a:ext cx="10060215" cy="2438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00"/>
              </a:lnSpc>
            </a:pPr>
            <a:r>
              <a:rPr lang="en-US" sz="9300" b="1" spc="-325">
                <a:solidFill>
                  <a:srgbClr val="FFFBED"/>
                </a:solidFill>
                <a:latin typeface="Waffle Soft"/>
                <a:ea typeface="Waffle Soft"/>
                <a:cs typeface="Waffle Soft"/>
                <a:sym typeface="Waffle Soft"/>
              </a:rPr>
              <a:t>Day 5: Smart Coding</a:t>
            </a:r>
          </a:p>
        </p:txBody>
      </p:sp>
      <p:sp>
        <p:nvSpPr>
          <p:cNvPr id="3" name="Freeform 3"/>
          <p:cNvSpPr/>
          <p:nvPr/>
        </p:nvSpPr>
        <p:spPr>
          <a:xfrm rot="542764">
            <a:off x="11147496" y="2028666"/>
            <a:ext cx="5472919" cy="7189384"/>
          </a:xfrm>
          <a:custGeom>
            <a:avLst/>
            <a:gdLst/>
            <a:ahLst/>
            <a:cxnLst/>
            <a:rect l="l" t="t" r="r" b="b"/>
            <a:pathLst>
              <a:path w="5472919" h="7189384">
                <a:moveTo>
                  <a:pt x="0" y="0"/>
                </a:moveTo>
                <a:lnTo>
                  <a:pt x="5472919" y="0"/>
                </a:lnTo>
                <a:lnTo>
                  <a:pt x="5472919" y="7189384"/>
                </a:lnTo>
                <a:lnTo>
                  <a:pt x="0" y="718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337785">
            <a:off x="7070229" y="6913902"/>
            <a:ext cx="3285502" cy="1433913"/>
            <a:chOff x="0" y="0"/>
            <a:chExt cx="865317" cy="3776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5317" cy="377656"/>
            </a:xfrm>
            <a:custGeom>
              <a:avLst/>
              <a:gdLst/>
              <a:ahLst/>
              <a:cxnLst/>
              <a:rect l="l" t="t" r="r" b="b"/>
              <a:pathLst>
                <a:path w="865317" h="377656">
                  <a:moveTo>
                    <a:pt x="58910" y="0"/>
                  </a:moveTo>
                  <a:lnTo>
                    <a:pt x="806408" y="0"/>
                  </a:lnTo>
                  <a:cubicBezTo>
                    <a:pt x="838943" y="0"/>
                    <a:pt x="865317" y="26375"/>
                    <a:pt x="865317" y="58910"/>
                  </a:cubicBezTo>
                  <a:lnTo>
                    <a:pt x="865317" y="318746"/>
                  </a:lnTo>
                  <a:cubicBezTo>
                    <a:pt x="865317" y="351281"/>
                    <a:pt x="838943" y="377656"/>
                    <a:pt x="806408" y="377656"/>
                  </a:cubicBezTo>
                  <a:lnTo>
                    <a:pt x="58910" y="377656"/>
                  </a:lnTo>
                  <a:cubicBezTo>
                    <a:pt x="26375" y="377656"/>
                    <a:pt x="0" y="351281"/>
                    <a:pt x="0" y="318746"/>
                  </a:cubicBezTo>
                  <a:lnTo>
                    <a:pt x="0" y="58910"/>
                  </a:lnTo>
                  <a:cubicBezTo>
                    <a:pt x="0" y="26375"/>
                    <a:pt x="26375" y="0"/>
                    <a:pt x="58910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865317" cy="339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253490">
            <a:off x="14049687" y="2198082"/>
            <a:ext cx="2370854" cy="721764"/>
            <a:chOff x="0" y="0"/>
            <a:chExt cx="624422" cy="1900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4422" cy="190094"/>
            </a:xfrm>
            <a:custGeom>
              <a:avLst/>
              <a:gdLst/>
              <a:ahLst/>
              <a:cxnLst/>
              <a:rect l="l" t="t" r="r" b="b"/>
              <a:pathLst>
                <a:path w="624422" h="190094">
                  <a:moveTo>
                    <a:pt x="81636" y="0"/>
                  </a:moveTo>
                  <a:lnTo>
                    <a:pt x="542786" y="0"/>
                  </a:lnTo>
                  <a:cubicBezTo>
                    <a:pt x="587873" y="0"/>
                    <a:pt x="624422" y="36550"/>
                    <a:pt x="624422" y="81636"/>
                  </a:cubicBezTo>
                  <a:lnTo>
                    <a:pt x="624422" y="108458"/>
                  </a:lnTo>
                  <a:cubicBezTo>
                    <a:pt x="624422" y="153544"/>
                    <a:pt x="587873" y="190094"/>
                    <a:pt x="542786" y="190094"/>
                  </a:cubicBezTo>
                  <a:lnTo>
                    <a:pt x="81636" y="190094"/>
                  </a:lnTo>
                  <a:cubicBezTo>
                    <a:pt x="59985" y="190094"/>
                    <a:pt x="39221" y="181493"/>
                    <a:pt x="23911" y="166183"/>
                  </a:cubicBezTo>
                  <a:cubicBezTo>
                    <a:pt x="8601" y="150874"/>
                    <a:pt x="0" y="130109"/>
                    <a:pt x="0" y="108458"/>
                  </a:cubicBezTo>
                  <a:lnTo>
                    <a:pt x="0" y="81636"/>
                  </a:lnTo>
                  <a:cubicBezTo>
                    <a:pt x="0" y="36550"/>
                    <a:pt x="36550" y="0"/>
                    <a:pt x="81636" y="0"/>
                  </a:cubicBezTo>
                  <a:close/>
                </a:path>
              </a:pathLst>
            </a:custGeom>
            <a:solidFill>
              <a:srgbClr val="FFC300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624422" cy="15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860178" flipH="1">
            <a:off x="12059174" y="1578311"/>
            <a:ext cx="1462321" cy="876343"/>
          </a:xfrm>
          <a:custGeom>
            <a:avLst/>
            <a:gdLst/>
            <a:ahLst/>
            <a:cxnLst/>
            <a:rect l="l" t="t" r="r" b="b"/>
            <a:pathLst>
              <a:path w="1462321" h="876343">
                <a:moveTo>
                  <a:pt x="1462320" y="0"/>
                </a:moveTo>
                <a:lnTo>
                  <a:pt x="0" y="0"/>
                </a:lnTo>
                <a:lnTo>
                  <a:pt x="0" y="876342"/>
                </a:lnTo>
                <a:lnTo>
                  <a:pt x="1462320" y="876342"/>
                </a:lnTo>
                <a:lnTo>
                  <a:pt x="146232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19597" y="5135673"/>
            <a:ext cx="4116228" cy="3802365"/>
          </a:xfrm>
          <a:custGeom>
            <a:avLst/>
            <a:gdLst/>
            <a:ahLst/>
            <a:cxnLst/>
            <a:rect l="l" t="t" r="r" b="b"/>
            <a:pathLst>
              <a:path w="4116228" h="3802365">
                <a:moveTo>
                  <a:pt x="0" y="0"/>
                </a:moveTo>
                <a:lnTo>
                  <a:pt x="4116228" y="0"/>
                </a:lnTo>
                <a:lnTo>
                  <a:pt x="4116228" y="3802365"/>
                </a:lnTo>
                <a:lnTo>
                  <a:pt x="0" y="38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04013" y="5994372"/>
            <a:ext cx="479786" cy="482417"/>
          </a:xfrm>
          <a:custGeom>
            <a:avLst/>
            <a:gdLst/>
            <a:ahLst/>
            <a:cxnLst/>
            <a:rect l="l" t="t" r="r" b="b"/>
            <a:pathLst>
              <a:path w="479786" h="482417">
                <a:moveTo>
                  <a:pt x="0" y="0"/>
                </a:moveTo>
                <a:lnTo>
                  <a:pt x="479786" y="0"/>
                </a:lnTo>
                <a:lnTo>
                  <a:pt x="479786" y="482418"/>
                </a:lnTo>
                <a:lnTo>
                  <a:pt x="0" y="482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4129768" y="5398783"/>
            <a:ext cx="382254" cy="384350"/>
          </a:xfrm>
          <a:custGeom>
            <a:avLst/>
            <a:gdLst/>
            <a:ahLst/>
            <a:cxnLst/>
            <a:rect l="l" t="t" r="r" b="b"/>
            <a:pathLst>
              <a:path w="382254" h="384350">
                <a:moveTo>
                  <a:pt x="382253" y="0"/>
                </a:moveTo>
                <a:lnTo>
                  <a:pt x="0" y="0"/>
                </a:lnTo>
                <a:lnTo>
                  <a:pt x="0" y="384350"/>
                </a:lnTo>
                <a:lnTo>
                  <a:pt x="382253" y="384350"/>
                </a:lnTo>
                <a:lnTo>
                  <a:pt x="3822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56592">
            <a:off x="5178960" y="5625711"/>
            <a:ext cx="1455161" cy="314844"/>
          </a:xfrm>
          <a:custGeom>
            <a:avLst/>
            <a:gdLst/>
            <a:ahLst/>
            <a:cxnLst/>
            <a:rect l="l" t="t" r="r" b="b"/>
            <a:pathLst>
              <a:path w="1455161" h="314844">
                <a:moveTo>
                  <a:pt x="0" y="0"/>
                </a:moveTo>
                <a:lnTo>
                  <a:pt x="1455161" y="0"/>
                </a:lnTo>
                <a:lnTo>
                  <a:pt x="1455161" y="314844"/>
                </a:lnTo>
                <a:lnTo>
                  <a:pt x="0" y="314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808401" y="4650074"/>
            <a:ext cx="1219479" cy="1177352"/>
          </a:xfrm>
          <a:custGeom>
            <a:avLst/>
            <a:gdLst/>
            <a:ahLst/>
            <a:cxnLst/>
            <a:rect l="l" t="t" r="r" b="b"/>
            <a:pathLst>
              <a:path w="1219479" h="1177352">
                <a:moveTo>
                  <a:pt x="0" y="0"/>
                </a:moveTo>
                <a:lnTo>
                  <a:pt x="1219480" y="0"/>
                </a:lnTo>
                <a:lnTo>
                  <a:pt x="1219480" y="1177352"/>
                </a:lnTo>
                <a:lnTo>
                  <a:pt x="0" y="1177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410324">
            <a:off x="7341007" y="5674430"/>
            <a:ext cx="1765825" cy="729781"/>
          </a:xfrm>
          <a:custGeom>
            <a:avLst/>
            <a:gdLst/>
            <a:ahLst/>
            <a:cxnLst/>
            <a:rect l="l" t="t" r="r" b="b"/>
            <a:pathLst>
              <a:path w="1765825" h="729781">
                <a:moveTo>
                  <a:pt x="0" y="0"/>
                </a:moveTo>
                <a:lnTo>
                  <a:pt x="1765825" y="0"/>
                </a:lnTo>
                <a:lnTo>
                  <a:pt x="1765825" y="729781"/>
                </a:lnTo>
                <a:lnTo>
                  <a:pt x="0" y="729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0477290" y="6411393"/>
            <a:ext cx="209760" cy="20976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474039" y="1806722"/>
            <a:ext cx="209760" cy="20976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91056" y="4989823"/>
            <a:ext cx="209760" cy="20976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333131" y="3536900"/>
            <a:ext cx="7951011" cy="171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1"/>
              </a:lnSpc>
            </a:pPr>
            <a:r>
              <a:rPr lang="en-US" sz="6561" b="1" spc="-229" dirty="0">
                <a:solidFill>
                  <a:srgbClr val="FFC300"/>
                </a:solidFill>
                <a:latin typeface="Waffle Soft"/>
                <a:ea typeface="Waffle Soft"/>
                <a:cs typeface="Waffle Soft"/>
                <a:sym typeface="Waffle Soft"/>
              </a:rPr>
              <a:t>Block-Based AI Logic</a:t>
            </a:r>
          </a:p>
        </p:txBody>
      </p:sp>
      <p:sp>
        <p:nvSpPr>
          <p:cNvPr id="27" name="TextBox 27"/>
          <p:cNvSpPr txBox="1"/>
          <p:nvPr/>
        </p:nvSpPr>
        <p:spPr>
          <a:xfrm rot="253490">
            <a:off x="14295114" y="2464631"/>
            <a:ext cx="1877194" cy="22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8"/>
              </a:lnSpc>
            </a:pPr>
            <a:r>
              <a:rPr lang="en-US" sz="1798" b="1" spc="-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Day 5</a:t>
            </a:r>
          </a:p>
        </p:txBody>
      </p:sp>
      <p:sp>
        <p:nvSpPr>
          <p:cNvPr id="28" name="TextBox 28"/>
          <p:cNvSpPr txBox="1"/>
          <p:nvPr/>
        </p:nvSpPr>
        <p:spPr>
          <a:xfrm rot="-337785">
            <a:off x="7393812" y="7328001"/>
            <a:ext cx="2636468" cy="58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38"/>
              </a:lnSpc>
            </a:pPr>
            <a:r>
              <a:rPr lang="en-US" sz="1798" spc="-17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How We Use Blocks to Teach AI to Think!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4395" y="3218439"/>
            <a:ext cx="5918181" cy="5474317"/>
          </a:xfrm>
          <a:custGeom>
            <a:avLst/>
            <a:gdLst/>
            <a:ahLst/>
            <a:cxnLst/>
            <a:rect l="l" t="t" r="r" b="b"/>
            <a:pathLst>
              <a:path w="5918181" h="5474317">
                <a:moveTo>
                  <a:pt x="0" y="0"/>
                </a:moveTo>
                <a:lnTo>
                  <a:pt x="5918180" y="0"/>
                </a:lnTo>
                <a:lnTo>
                  <a:pt x="5918180" y="5474317"/>
                </a:lnTo>
                <a:lnTo>
                  <a:pt x="0" y="5474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30100" y="1260916"/>
            <a:ext cx="8874165" cy="9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65"/>
              </a:lnSpc>
            </a:pPr>
            <a:r>
              <a:rPr lang="en-US" sz="6765" b="1" spc="-236">
                <a:solidFill>
                  <a:srgbClr val="FFFBED"/>
                </a:solidFill>
                <a:latin typeface="Waffle Soft"/>
                <a:ea typeface="Waffle Soft"/>
                <a:cs typeface="Waffle Soft"/>
                <a:sym typeface="Waffle Soft"/>
              </a:rPr>
              <a:t>What is Block-Based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37636" y="2680774"/>
            <a:ext cx="5621664" cy="66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4"/>
              </a:lnSpc>
            </a:pPr>
            <a:r>
              <a:rPr lang="en-US" sz="4934" b="1" spc="-172">
                <a:solidFill>
                  <a:srgbClr val="FFC300"/>
                </a:solidFill>
                <a:latin typeface="Waffle Soft"/>
                <a:ea typeface="Waffle Soft"/>
                <a:cs typeface="Waffle Soft"/>
                <a:sym typeface="Waffle Soft"/>
              </a:rPr>
              <a:t>Coding?</a:t>
            </a:r>
          </a:p>
        </p:txBody>
      </p:sp>
      <p:sp>
        <p:nvSpPr>
          <p:cNvPr id="5" name="Freeform 5"/>
          <p:cNvSpPr/>
          <p:nvPr/>
        </p:nvSpPr>
        <p:spPr>
          <a:xfrm>
            <a:off x="12534478" y="4348080"/>
            <a:ext cx="3900898" cy="4047625"/>
          </a:xfrm>
          <a:custGeom>
            <a:avLst/>
            <a:gdLst/>
            <a:ahLst/>
            <a:cxnLst/>
            <a:rect l="l" t="t" r="r" b="b"/>
            <a:pathLst>
              <a:path w="3900898" h="4047625">
                <a:moveTo>
                  <a:pt x="0" y="0"/>
                </a:moveTo>
                <a:lnTo>
                  <a:pt x="3900898" y="0"/>
                </a:lnTo>
                <a:lnTo>
                  <a:pt x="3900898" y="4047624"/>
                </a:lnTo>
                <a:lnTo>
                  <a:pt x="0" y="4047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946909" y="4680025"/>
            <a:ext cx="182383" cy="1823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54181" y="6953906"/>
            <a:ext cx="4210810" cy="1736321"/>
            <a:chOff x="0" y="0"/>
            <a:chExt cx="1109020" cy="457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9020" cy="457303"/>
            </a:xfrm>
            <a:custGeom>
              <a:avLst/>
              <a:gdLst/>
              <a:ahLst/>
              <a:cxnLst/>
              <a:rect l="l" t="t" r="r" b="b"/>
              <a:pathLst>
                <a:path w="1109020" h="457303">
                  <a:moveTo>
                    <a:pt x="45965" y="0"/>
                  </a:moveTo>
                  <a:lnTo>
                    <a:pt x="1063055" y="0"/>
                  </a:lnTo>
                  <a:cubicBezTo>
                    <a:pt x="1088441" y="0"/>
                    <a:pt x="1109020" y="20579"/>
                    <a:pt x="1109020" y="45965"/>
                  </a:cubicBezTo>
                  <a:lnTo>
                    <a:pt x="1109020" y="411338"/>
                  </a:lnTo>
                  <a:cubicBezTo>
                    <a:pt x="1109020" y="436724"/>
                    <a:pt x="1088441" y="457303"/>
                    <a:pt x="1063055" y="457303"/>
                  </a:cubicBezTo>
                  <a:lnTo>
                    <a:pt x="45965" y="457303"/>
                  </a:lnTo>
                  <a:cubicBezTo>
                    <a:pt x="20579" y="457303"/>
                    <a:pt x="0" y="436724"/>
                    <a:pt x="0" y="411338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109020" cy="419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354181" y="4628236"/>
            <a:ext cx="260082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19"/>
              </a:lnSpc>
            </a:pPr>
            <a:r>
              <a:rPr lang="en-US" sz="1349" b="1" spc="-13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Block-based coding lets you build programs by snapping colorful blocks together – no typing needed!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8176" y="7534412"/>
            <a:ext cx="3282819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0"/>
              </a:lnSpc>
            </a:pPr>
            <a:r>
              <a:rPr lang="en-US" sz="1200" spc="-12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Blocks are commands, decisions, and loops that fit together like puzzle pieces. Easy, fun, and powerful way to learn coding!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27537" y="3172727"/>
            <a:ext cx="864098" cy="921034"/>
          </a:xfrm>
          <a:custGeom>
            <a:avLst/>
            <a:gdLst/>
            <a:ahLst/>
            <a:cxnLst/>
            <a:rect l="l" t="t" r="r" b="b"/>
            <a:pathLst>
              <a:path w="864098" h="921034">
                <a:moveTo>
                  <a:pt x="0" y="0"/>
                </a:moveTo>
                <a:lnTo>
                  <a:pt x="864098" y="0"/>
                </a:lnTo>
                <a:lnTo>
                  <a:pt x="864098" y="921034"/>
                </a:lnTo>
                <a:lnTo>
                  <a:pt x="0" y="921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185187" y="1758687"/>
            <a:ext cx="1408753" cy="382327"/>
          </a:xfrm>
          <a:custGeom>
            <a:avLst/>
            <a:gdLst/>
            <a:ahLst/>
            <a:cxnLst/>
            <a:rect l="l" t="t" r="r" b="b"/>
            <a:pathLst>
              <a:path w="1408753" h="382327">
                <a:moveTo>
                  <a:pt x="0" y="0"/>
                </a:moveTo>
                <a:lnTo>
                  <a:pt x="1408753" y="0"/>
                </a:lnTo>
                <a:lnTo>
                  <a:pt x="1408753" y="382327"/>
                </a:lnTo>
                <a:lnTo>
                  <a:pt x="0" y="382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435591">
            <a:off x="15948940" y="6244221"/>
            <a:ext cx="804750" cy="510900"/>
          </a:xfrm>
          <a:custGeom>
            <a:avLst/>
            <a:gdLst/>
            <a:ahLst/>
            <a:cxnLst/>
            <a:rect l="l" t="t" r="r" b="b"/>
            <a:pathLst>
              <a:path w="804750" h="510900">
                <a:moveTo>
                  <a:pt x="0" y="0"/>
                </a:moveTo>
                <a:lnTo>
                  <a:pt x="804751" y="0"/>
                </a:lnTo>
                <a:lnTo>
                  <a:pt x="804751" y="510900"/>
                </a:lnTo>
                <a:lnTo>
                  <a:pt x="0" y="51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034080" y="2353840"/>
            <a:ext cx="479786" cy="482417"/>
          </a:xfrm>
          <a:custGeom>
            <a:avLst/>
            <a:gdLst/>
            <a:ahLst/>
            <a:cxnLst/>
            <a:rect l="l" t="t" r="r" b="b"/>
            <a:pathLst>
              <a:path w="479786" h="482417">
                <a:moveTo>
                  <a:pt x="0" y="0"/>
                </a:moveTo>
                <a:lnTo>
                  <a:pt x="479786" y="0"/>
                </a:lnTo>
                <a:lnTo>
                  <a:pt x="479786" y="482417"/>
                </a:lnTo>
                <a:lnTo>
                  <a:pt x="0" y="482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1637636" y="4759150"/>
            <a:ext cx="382254" cy="384350"/>
          </a:xfrm>
          <a:custGeom>
            <a:avLst/>
            <a:gdLst/>
            <a:ahLst/>
            <a:cxnLst/>
            <a:rect l="l" t="t" r="r" b="b"/>
            <a:pathLst>
              <a:path w="382254" h="384350">
                <a:moveTo>
                  <a:pt x="382254" y="0"/>
                </a:moveTo>
                <a:lnTo>
                  <a:pt x="0" y="0"/>
                </a:lnTo>
                <a:lnTo>
                  <a:pt x="0" y="384350"/>
                </a:lnTo>
                <a:lnTo>
                  <a:pt x="382254" y="384350"/>
                </a:lnTo>
                <a:lnTo>
                  <a:pt x="3822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267182" y="6195421"/>
            <a:ext cx="209760" cy="2097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32030" y="1931253"/>
            <a:ext cx="209760" cy="20976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44420" y="3633244"/>
            <a:ext cx="209760" cy="20976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3246" y="1384741"/>
            <a:ext cx="9520094" cy="108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76"/>
              </a:lnSpc>
            </a:pPr>
            <a:r>
              <a:rPr lang="en-US" sz="8076" b="1" spc="-282">
                <a:solidFill>
                  <a:srgbClr val="FFFBED"/>
                </a:solidFill>
                <a:latin typeface="Waffle Soft"/>
                <a:ea typeface="Waffle Soft"/>
                <a:cs typeface="Waffle Soft"/>
                <a:sym typeface="Waffle Soft"/>
              </a:rPr>
              <a:t>Real-World Blocks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04849" y="1562672"/>
            <a:ext cx="4644140" cy="96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6"/>
              </a:lnSpc>
            </a:pPr>
            <a:r>
              <a:rPr lang="en-US" sz="7006" b="1" spc="-245">
                <a:solidFill>
                  <a:srgbClr val="FFC300"/>
                </a:solidFill>
                <a:latin typeface="Waffle Soft"/>
                <a:ea typeface="Waffle Soft"/>
                <a:cs typeface="Waffle Soft"/>
                <a:sym typeface="Waffle Soft"/>
              </a:rPr>
              <a:t>You Know!</a:t>
            </a:r>
          </a:p>
        </p:txBody>
      </p:sp>
      <p:sp>
        <p:nvSpPr>
          <p:cNvPr id="4" name="Freeform 4"/>
          <p:cNvSpPr/>
          <p:nvPr/>
        </p:nvSpPr>
        <p:spPr>
          <a:xfrm>
            <a:off x="12875019" y="4577856"/>
            <a:ext cx="4162034" cy="4120414"/>
          </a:xfrm>
          <a:custGeom>
            <a:avLst/>
            <a:gdLst/>
            <a:ahLst/>
            <a:cxnLst/>
            <a:rect l="l" t="t" r="r" b="b"/>
            <a:pathLst>
              <a:path w="4162034" h="4120414">
                <a:moveTo>
                  <a:pt x="0" y="0"/>
                </a:moveTo>
                <a:lnTo>
                  <a:pt x="4162034" y="0"/>
                </a:lnTo>
                <a:lnTo>
                  <a:pt x="4162034" y="4120414"/>
                </a:lnTo>
                <a:lnTo>
                  <a:pt x="0" y="4120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6140">
            <a:off x="1379326" y="2869566"/>
            <a:ext cx="5159873" cy="4256895"/>
          </a:xfrm>
          <a:custGeom>
            <a:avLst/>
            <a:gdLst/>
            <a:ahLst/>
            <a:cxnLst/>
            <a:rect l="l" t="t" r="r" b="b"/>
            <a:pathLst>
              <a:path w="5159873" h="4256895">
                <a:moveTo>
                  <a:pt x="0" y="0"/>
                </a:moveTo>
                <a:lnTo>
                  <a:pt x="5159873" y="0"/>
                </a:lnTo>
                <a:lnTo>
                  <a:pt x="5159873" y="4256895"/>
                </a:lnTo>
                <a:lnTo>
                  <a:pt x="0" y="425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207329" y="3914404"/>
            <a:ext cx="182383" cy="1823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49924" y="5460049"/>
            <a:ext cx="182383" cy="1823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25845" y="7865075"/>
            <a:ext cx="182383" cy="1823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14601" y="3853090"/>
            <a:ext cx="3078414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Scratch – Create awesome games, stories, and animations by snapping colorful blocks together!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57196" y="5398736"/>
            <a:ext cx="2799649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Code.org – Learn coding basics with super fun block puzzles and exciting challenges!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33117" y="7803761"/>
            <a:ext cx="307841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Blockly &amp; MIT App Inventor – Build real apps and AI projects using kid-friendly blocks!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298520" y="6953906"/>
            <a:ext cx="4210810" cy="1736321"/>
            <a:chOff x="0" y="0"/>
            <a:chExt cx="1109020" cy="4573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9020" cy="457303"/>
            </a:xfrm>
            <a:custGeom>
              <a:avLst/>
              <a:gdLst/>
              <a:ahLst/>
              <a:cxnLst/>
              <a:rect l="l" t="t" r="r" b="b"/>
              <a:pathLst>
                <a:path w="1109020" h="457303">
                  <a:moveTo>
                    <a:pt x="45965" y="0"/>
                  </a:moveTo>
                  <a:lnTo>
                    <a:pt x="1063055" y="0"/>
                  </a:lnTo>
                  <a:cubicBezTo>
                    <a:pt x="1088441" y="0"/>
                    <a:pt x="1109020" y="20579"/>
                    <a:pt x="1109020" y="45965"/>
                  </a:cubicBezTo>
                  <a:lnTo>
                    <a:pt x="1109020" y="411338"/>
                  </a:lnTo>
                  <a:cubicBezTo>
                    <a:pt x="1109020" y="436724"/>
                    <a:pt x="1088441" y="457303"/>
                    <a:pt x="1063055" y="457303"/>
                  </a:cubicBezTo>
                  <a:lnTo>
                    <a:pt x="45965" y="457303"/>
                  </a:lnTo>
                  <a:cubicBezTo>
                    <a:pt x="20579" y="457303"/>
                    <a:pt x="0" y="436724"/>
                    <a:pt x="0" y="411338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1109020" cy="419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62516" y="7427407"/>
            <a:ext cx="3282819" cy="77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78"/>
              </a:lnSpc>
            </a:pPr>
            <a:r>
              <a:rPr lang="en-US" sz="1598" b="1" spc="-15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These platforms make coding and AI fun and accessible for everyone – no typing needed!</a:t>
            </a:r>
          </a:p>
        </p:txBody>
      </p:sp>
      <p:sp>
        <p:nvSpPr>
          <p:cNvPr id="22" name="Freeform 22"/>
          <p:cNvSpPr/>
          <p:nvPr/>
        </p:nvSpPr>
        <p:spPr>
          <a:xfrm rot="-1997092">
            <a:off x="7164410" y="5722767"/>
            <a:ext cx="771502" cy="489792"/>
          </a:xfrm>
          <a:custGeom>
            <a:avLst/>
            <a:gdLst/>
            <a:ahLst/>
            <a:cxnLst/>
            <a:rect l="l" t="t" r="r" b="b"/>
            <a:pathLst>
              <a:path w="771502" h="489792">
                <a:moveTo>
                  <a:pt x="0" y="0"/>
                </a:moveTo>
                <a:lnTo>
                  <a:pt x="771502" y="0"/>
                </a:lnTo>
                <a:lnTo>
                  <a:pt x="771502" y="489792"/>
                </a:lnTo>
                <a:lnTo>
                  <a:pt x="0" y="489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440684" y="4332549"/>
            <a:ext cx="479786" cy="482417"/>
          </a:xfrm>
          <a:custGeom>
            <a:avLst/>
            <a:gdLst/>
            <a:ahLst/>
            <a:cxnLst/>
            <a:rect l="l" t="t" r="r" b="b"/>
            <a:pathLst>
              <a:path w="479786" h="482417">
                <a:moveTo>
                  <a:pt x="0" y="0"/>
                </a:moveTo>
                <a:lnTo>
                  <a:pt x="479786" y="0"/>
                </a:lnTo>
                <a:lnTo>
                  <a:pt x="479786" y="482418"/>
                </a:lnTo>
                <a:lnTo>
                  <a:pt x="0" y="482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5129278" y="3509879"/>
            <a:ext cx="382254" cy="384350"/>
          </a:xfrm>
          <a:custGeom>
            <a:avLst/>
            <a:gdLst/>
            <a:ahLst/>
            <a:cxnLst/>
            <a:rect l="l" t="t" r="r" b="b"/>
            <a:pathLst>
              <a:path w="382254" h="384350">
                <a:moveTo>
                  <a:pt x="382254" y="0"/>
                </a:moveTo>
                <a:lnTo>
                  <a:pt x="0" y="0"/>
                </a:lnTo>
                <a:lnTo>
                  <a:pt x="0" y="384350"/>
                </a:lnTo>
                <a:lnTo>
                  <a:pt x="382254" y="384350"/>
                </a:lnTo>
                <a:lnTo>
                  <a:pt x="3822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356979">
            <a:off x="10410460" y="3668708"/>
            <a:ext cx="1242723" cy="491392"/>
          </a:xfrm>
          <a:custGeom>
            <a:avLst/>
            <a:gdLst/>
            <a:ahLst/>
            <a:cxnLst/>
            <a:rect l="l" t="t" r="r" b="b"/>
            <a:pathLst>
              <a:path w="1242723" h="491392">
                <a:moveTo>
                  <a:pt x="0" y="0"/>
                </a:moveTo>
                <a:lnTo>
                  <a:pt x="1242723" y="0"/>
                </a:lnTo>
                <a:lnTo>
                  <a:pt x="1242723" y="491392"/>
                </a:lnTo>
                <a:lnTo>
                  <a:pt x="0" y="491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772875" y="3397153"/>
            <a:ext cx="1165401" cy="304901"/>
          </a:xfrm>
          <a:custGeom>
            <a:avLst/>
            <a:gdLst/>
            <a:ahLst/>
            <a:cxnLst/>
            <a:rect l="l" t="t" r="r" b="b"/>
            <a:pathLst>
              <a:path w="1165401" h="304901">
                <a:moveTo>
                  <a:pt x="0" y="0"/>
                </a:moveTo>
                <a:lnTo>
                  <a:pt x="1165400" y="0"/>
                </a:lnTo>
                <a:lnTo>
                  <a:pt x="1165400" y="304901"/>
                </a:lnTo>
                <a:lnTo>
                  <a:pt x="0" y="304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421291" y="7126424"/>
            <a:ext cx="864098" cy="921034"/>
          </a:xfrm>
          <a:custGeom>
            <a:avLst/>
            <a:gdLst/>
            <a:ahLst/>
            <a:cxnLst/>
            <a:rect l="l" t="t" r="r" b="b"/>
            <a:pathLst>
              <a:path w="864098" h="921034">
                <a:moveTo>
                  <a:pt x="0" y="0"/>
                </a:moveTo>
                <a:lnTo>
                  <a:pt x="864097" y="0"/>
                </a:lnTo>
                <a:lnTo>
                  <a:pt x="864097" y="921034"/>
                </a:lnTo>
                <a:lnTo>
                  <a:pt x="0" y="921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2815590" y="6744146"/>
            <a:ext cx="209760" cy="20976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139228" y="3652855"/>
            <a:ext cx="209760" cy="20976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16085" y="4605206"/>
            <a:ext cx="209760" cy="209760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30100" y="1299016"/>
            <a:ext cx="10429200" cy="118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31"/>
              </a:lnSpc>
            </a:pPr>
            <a:r>
              <a:rPr lang="en-US" sz="8731" b="1" spc="-305">
                <a:solidFill>
                  <a:srgbClr val="FFFBED"/>
                </a:solidFill>
                <a:latin typeface="Waffle Soft"/>
                <a:ea typeface="Waffle Soft"/>
                <a:cs typeface="Waffle Soft"/>
                <a:sym typeface="Waffle Soft"/>
              </a:rPr>
              <a:t>How Blocks Create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56931" y="2718874"/>
            <a:ext cx="8775537" cy="103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3"/>
              </a:lnSpc>
            </a:pPr>
            <a:r>
              <a:rPr lang="en-US" sz="7603" b="1" spc="-266">
                <a:solidFill>
                  <a:srgbClr val="FFC300"/>
                </a:solidFill>
                <a:latin typeface="Waffle Soft"/>
                <a:ea typeface="Waffle Soft"/>
                <a:cs typeface="Waffle Soft"/>
                <a:sym typeface="Waffle Soft"/>
              </a:rPr>
              <a:t>AI Logic</a:t>
            </a:r>
          </a:p>
        </p:txBody>
      </p:sp>
      <p:sp>
        <p:nvSpPr>
          <p:cNvPr id="4" name="Freeform 4"/>
          <p:cNvSpPr/>
          <p:nvPr/>
        </p:nvSpPr>
        <p:spPr>
          <a:xfrm>
            <a:off x="893755" y="1943956"/>
            <a:ext cx="7014173" cy="6926496"/>
          </a:xfrm>
          <a:custGeom>
            <a:avLst/>
            <a:gdLst/>
            <a:ahLst/>
            <a:cxnLst/>
            <a:rect l="l" t="t" r="r" b="b"/>
            <a:pathLst>
              <a:path w="7014173" h="6926496">
                <a:moveTo>
                  <a:pt x="0" y="0"/>
                </a:moveTo>
                <a:lnTo>
                  <a:pt x="7014173" y="0"/>
                </a:lnTo>
                <a:lnTo>
                  <a:pt x="7014173" y="6926495"/>
                </a:lnTo>
                <a:lnTo>
                  <a:pt x="0" y="692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03015" y="5007534"/>
            <a:ext cx="182383" cy="1823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99564" y="7199199"/>
            <a:ext cx="182383" cy="1823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66923" y="5274197"/>
            <a:ext cx="182383" cy="1823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63473" y="7465862"/>
            <a:ext cx="182383" cy="18238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1990456">
            <a:off x="15965732" y="5871437"/>
            <a:ext cx="437007" cy="631135"/>
          </a:xfrm>
          <a:custGeom>
            <a:avLst/>
            <a:gdLst/>
            <a:ahLst/>
            <a:cxnLst/>
            <a:rect l="l" t="t" r="r" b="b"/>
            <a:pathLst>
              <a:path w="437007" h="631135">
                <a:moveTo>
                  <a:pt x="0" y="0"/>
                </a:moveTo>
                <a:lnTo>
                  <a:pt x="437007" y="0"/>
                </a:lnTo>
                <a:lnTo>
                  <a:pt x="437007" y="631136"/>
                </a:lnTo>
                <a:lnTo>
                  <a:pt x="0" y="63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84235" y="3833912"/>
            <a:ext cx="716023" cy="879045"/>
          </a:xfrm>
          <a:custGeom>
            <a:avLst/>
            <a:gdLst/>
            <a:ahLst/>
            <a:cxnLst/>
            <a:rect l="l" t="t" r="r" b="b"/>
            <a:pathLst>
              <a:path w="716023" h="879045">
                <a:moveTo>
                  <a:pt x="0" y="0"/>
                </a:moveTo>
                <a:lnTo>
                  <a:pt x="716023" y="0"/>
                </a:lnTo>
                <a:lnTo>
                  <a:pt x="716023" y="879046"/>
                </a:lnTo>
                <a:lnTo>
                  <a:pt x="0" y="879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845596">
            <a:off x="4347979" y="1660670"/>
            <a:ext cx="1399442" cy="578362"/>
          </a:xfrm>
          <a:custGeom>
            <a:avLst/>
            <a:gdLst/>
            <a:ahLst/>
            <a:cxnLst/>
            <a:rect l="l" t="t" r="r" b="b"/>
            <a:pathLst>
              <a:path w="1399442" h="578362">
                <a:moveTo>
                  <a:pt x="0" y="0"/>
                </a:moveTo>
                <a:lnTo>
                  <a:pt x="1399442" y="0"/>
                </a:lnTo>
                <a:lnTo>
                  <a:pt x="1399442" y="578361"/>
                </a:lnTo>
                <a:lnTo>
                  <a:pt x="0" y="578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310287" y="5436653"/>
            <a:ext cx="2378555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If this happens, then do that! Example: If the robot sees a wall, it turns around.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06836" y="7628318"/>
            <a:ext cx="2378555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Do it again and again! Example: Repeat moving forward until you reach the goal.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74195" y="5703315"/>
            <a:ext cx="2378555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Making choices based on information! Example: Jump or duck depending on obstacles.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70745" y="7894980"/>
            <a:ext cx="237855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8"/>
              </a:lnSpc>
            </a:pPr>
            <a:r>
              <a:rPr lang="en-US" sz="1598" spc="-15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These blocks work together to create smart AI behaviors!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10287" y="4955745"/>
            <a:ext cx="213241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 spc="-17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06836" y="7147411"/>
            <a:ext cx="186959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 spc="-17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Loops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74195" y="5222408"/>
            <a:ext cx="177103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 spc="-17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70745" y="7414073"/>
            <a:ext cx="185792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 spc="-17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AI</a:t>
            </a:r>
          </a:p>
        </p:txBody>
      </p:sp>
      <p:sp>
        <p:nvSpPr>
          <p:cNvPr id="28" name="Freeform 28"/>
          <p:cNvSpPr/>
          <p:nvPr/>
        </p:nvSpPr>
        <p:spPr>
          <a:xfrm>
            <a:off x="1726858" y="2112632"/>
            <a:ext cx="479786" cy="482417"/>
          </a:xfrm>
          <a:custGeom>
            <a:avLst/>
            <a:gdLst/>
            <a:ahLst/>
            <a:cxnLst/>
            <a:rect l="l" t="t" r="r" b="b"/>
            <a:pathLst>
              <a:path w="479786" h="482417">
                <a:moveTo>
                  <a:pt x="0" y="0"/>
                </a:moveTo>
                <a:lnTo>
                  <a:pt x="479786" y="0"/>
                </a:lnTo>
                <a:lnTo>
                  <a:pt x="479786" y="482417"/>
                </a:lnTo>
                <a:lnTo>
                  <a:pt x="0" y="482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flipH="1">
            <a:off x="6830100" y="6476790"/>
            <a:ext cx="382254" cy="384350"/>
          </a:xfrm>
          <a:custGeom>
            <a:avLst/>
            <a:gdLst/>
            <a:ahLst/>
            <a:cxnLst/>
            <a:rect l="l" t="t" r="r" b="b"/>
            <a:pathLst>
              <a:path w="382254" h="384350">
                <a:moveTo>
                  <a:pt x="382253" y="0"/>
                </a:moveTo>
                <a:lnTo>
                  <a:pt x="0" y="0"/>
                </a:lnTo>
                <a:lnTo>
                  <a:pt x="0" y="384350"/>
                </a:lnTo>
                <a:lnTo>
                  <a:pt x="382253" y="384350"/>
                </a:lnTo>
                <a:lnTo>
                  <a:pt x="3822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8205407" y="7199199"/>
            <a:ext cx="209760" cy="20976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160022" y="4797774"/>
            <a:ext cx="209760" cy="20976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21978" y="4273435"/>
            <a:ext cx="209760" cy="20976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8375" y="2416618"/>
            <a:ext cx="10429200" cy="87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47"/>
              </a:lnSpc>
            </a:pPr>
            <a:r>
              <a:rPr lang="en-US" sz="6547" b="1" spc="-229">
                <a:solidFill>
                  <a:srgbClr val="FFFBED"/>
                </a:solidFill>
                <a:latin typeface="Waffle Soft"/>
                <a:ea typeface="Waffle Soft"/>
                <a:cs typeface="Waffle Soft"/>
                <a:sym typeface="Waffle Soft"/>
              </a:rPr>
              <a:t>Build Your Own AI Blocks</a:t>
            </a:r>
          </a:p>
        </p:txBody>
      </p:sp>
      <p:sp>
        <p:nvSpPr>
          <p:cNvPr id="3" name="Freeform 3"/>
          <p:cNvSpPr/>
          <p:nvPr/>
        </p:nvSpPr>
        <p:spPr>
          <a:xfrm rot="299652">
            <a:off x="11544806" y="1622616"/>
            <a:ext cx="6228620" cy="8115466"/>
          </a:xfrm>
          <a:custGeom>
            <a:avLst/>
            <a:gdLst/>
            <a:ahLst/>
            <a:cxnLst/>
            <a:rect l="l" t="t" r="r" b="b"/>
            <a:pathLst>
              <a:path w="6228620" h="8115466">
                <a:moveTo>
                  <a:pt x="0" y="0"/>
                </a:moveTo>
                <a:lnTo>
                  <a:pt x="6228620" y="0"/>
                </a:lnTo>
                <a:lnTo>
                  <a:pt x="6228620" y="8115466"/>
                </a:lnTo>
                <a:lnTo>
                  <a:pt x="0" y="8115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48620" y="8015247"/>
            <a:ext cx="2788512" cy="844558"/>
            <a:chOff x="0" y="0"/>
            <a:chExt cx="734423" cy="2224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4423" cy="222435"/>
            </a:xfrm>
            <a:custGeom>
              <a:avLst/>
              <a:gdLst/>
              <a:ahLst/>
              <a:cxnLst/>
              <a:rect l="l" t="t" r="r" b="b"/>
              <a:pathLst>
                <a:path w="734423" h="222435">
                  <a:moveTo>
                    <a:pt x="69409" y="0"/>
                  </a:moveTo>
                  <a:lnTo>
                    <a:pt x="665014" y="0"/>
                  </a:lnTo>
                  <a:cubicBezTo>
                    <a:pt x="703348" y="0"/>
                    <a:pt x="734423" y="31075"/>
                    <a:pt x="734423" y="69409"/>
                  </a:cubicBezTo>
                  <a:lnTo>
                    <a:pt x="734423" y="153026"/>
                  </a:lnTo>
                  <a:cubicBezTo>
                    <a:pt x="734423" y="171434"/>
                    <a:pt x="727110" y="189089"/>
                    <a:pt x="714094" y="202106"/>
                  </a:cubicBezTo>
                  <a:cubicBezTo>
                    <a:pt x="701077" y="215122"/>
                    <a:pt x="683422" y="222435"/>
                    <a:pt x="665014" y="222435"/>
                  </a:cubicBezTo>
                  <a:lnTo>
                    <a:pt x="69409" y="222435"/>
                  </a:lnTo>
                  <a:cubicBezTo>
                    <a:pt x="51001" y="222435"/>
                    <a:pt x="33346" y="215122"/>
                    <a:pt x="20329" y="202106"/>
                  </a:cubicBezTo>
                  <a:cubicBezTo>
                    <a:pt x="7313" y="189089"/>
                    <a:pt x="0" y="171434"/>
                    <a:pt x="0" y="153026"/>
                  </a:cubicBezTo>
                  <a:lnTo>
                    <a:pt x="0" y="69409"/>
                  </a:lnTo>
                  <a:cubicBezTo>
                    <a:pt x="0" y="51001"/>
                    <a:pt x="7313" y="33346"/>
                    <a:pt x="20329" y="20329"/>
                  </a:cubicBezTo>
                  <a:cubicBezTo>
                    <a:pt x="33346" y="7313"/>
                    <a:pt x="51001" y="0"/>
                    <a:pt x="69409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734423" cy="184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48620" y="6854953"/>
            <a:ext cx="3285502" cy="844558"/>
            <a:chOff x="0" y="0"/>
            <a:chExt cx="865317" cy="2224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5317" cy="222435"/>
            </a:xfrm>
            <a:custGeom>
              <a:avLst/>
              <a:gdLst/>
              <a:ahLst/>
              <a:cxnLst/>
              <a:rect l="l" t="t" r="r" b="b"/>
              <a:pathLst>
                <a:path w="865317" h="222435">
                  <a:moveTo>
                    <a:pt x="58910" y="0"/>
                  </a:moveTo>
                  <a:lnTo>
                    <a:pt x="806408" y="0"/>
                  </a:lnTo>
                  <a:cubicBezTo>
                    <a:pt x="838943" y="0"/>
                    <a:pt x="865317" y="26375"/>
                    <a:pt x="865317" y="58910"/>
                  </a:cubicBezTo>
                  <a:lnTo>
                    <a:pt x="865317" y="163525"/>
                  </a:lnTo>
                  <a:cubicBezTo>
                    <a:pt x="865317" y="196060"/>
                    <a:pt x="838943" y="222435"/>
                    <a:pt x="806408" y="222435"/>
                  </a:cubicBezTo>
                  <a:lnTo>
                    <a:pt x="58910" y="222435"/>
                  </a:lnTo>
                  <a:cubicBezTo>
                    <a:pt x="26375" y="222435"/>
                    <a:pt x="0" y="196060"/>
                    <a:pt x="0" y="163525"/>
                  </a:cubicBezTo>
                  <a:lnTo>
                    <a:pt x="0" y="58910"/>
                  </a:lnTo>
                  <a:cubicBezTo>
                    <a:pt x="0" y="26375"/>
                    <a:pt x="26375" y="0"/>
                    <a:pt x="58910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865317" cy="184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6936" y="8015247"/>
            <a:ext cx="2788512" cy="844558"/>
            <a:chOff x="0" y="0"/>
            <a:chExt cx="734423" cy="2224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4423" cy="222435"/>
            </a:xfrm>
            <a:custGeom>
              <a:avLst/>
              <a:gdLst/>
              <a:ahLst/>
              <a:cxnLst/>
              <a:rect l="l" t="t" r="r" b="b"/>
              <a:pathLst>
                <a:path w="734423" h="222435">
                  <a:moveTo>
                    <a:pt x="69409" y="0"/>
                  </a:moveTo>
                  <a:lnTo>
                    <a:pt x="665014" y="0"/>
                  </a:lnTo>
                  <a:cubicBezTo>
                    <a:pt x="703348" y="0"/>
                    <a:pt x="734423" y="31075"/>
                    <a:pt x="734423" y="69409"/>
                  </a:cubicBezTo>
                  <a:lnTo>
                    <a:pt x="734423" y="153026"/>
                  </a:lnTo>
                  <a:cubicBezTo>
                    <a:pt x="734423" y="171434"/>
                    <a:pt x="727110" y="189089"/>
                    <a:pt x="714094" y="202106"/>
                  </a:cubicBezTo>
                  <a:cubicBezTo>
                    <a:pt x="701077" y="215122"/>
                    <a:pt x="683422" y="222435"/>
                    <a:pt x="665014" y="222435"/>
                  </a:cubicBezTo>
                  <a:lnTo>
                    <a:pt x="69409" y="222435"/>
                  </a:lnTo>
                  <a:cubicBezTo>
                    <a:pt x="51001" y="222435"/>
                    <a:pt x="33346" y="215122"/>
                    <a:pt x="20329" y="202106"/>
                  </a:cubicBezTo>
                  <a:cubicBezTo>
                    <a:pt x="7313" y="189089"/>
                    <a:pt x="0" y="171434"/>
                    <a:pt x="0" y="153026"/>
                  </a:cubicBezTo>
                  <a:lnTo>
                    <a:pt x="0" y="69409"/>
                  </a:lnTo>
                  <a:cubicBezTo>
                    <a:pt x="0" y="51001"/>
                    <a:pt x="7313" y="33346"/>
                    <a:pt x="20329" y="20329"/>
                  </a:cubicBezTo>
                  <a:cubicBezTo>
                    <a:pt x="33346" y="7313"/>
                    <a:pt x="51001" y="0"/>
                    <a:pt x="69409" y="0"/>
                  </a:cubicBezTo>
                  <a:close/>
                </a:path>
              </a:pathLst>
            </a:custGeom>
            <a:solidFill>
              <a:srgbClr val="0062FF"/>
            </a:solidFill>
            <a:ln w="19050" cap="rnd">
              <a:solidFill>
                <a:srgbClr val="FFFBED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734423" cy="184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80636" y="5497966"/>
            <a:ext cx="182383" cy="1823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62123" y="4804943"/>
            <a:ext cx="182383" cy="18238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DF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83382" y="5037449"/>
            <a:ext cx="864098" cy="921034"/>
          </a:xfrm>
          <a:custGeom>
            <a:avLst/>
            <a:gdLst/>
            <a:ahLst/>
            <a:cxnLst/>
            <a:rect l="l" t="t" r="r" b="b"/>
            <a:pathLst>
              <a:path w="864098" h="921034">
                <a:moveTo>
                  <a:pt x="0" y="0"/>
                </a:moveTo>
                <a:lnTo>
                  <a:pt x="864097" y="0"/>
                </a:lnTo>
                <a:lnTo>
                  <a:pt x="864097" y="921034"/>
                </a:lnTo>
                <a:lnTo>
                  <a:pt x="0" y="921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405887" y="2015904"/>
            <a:ext cx="1408753" cy="382327"/>
          </a:xfrm>
          <a:custGeom>
            <a:avLst/>
            <a:gdLst/>
            <a:ahLst/>
            <a:cxnLst/>
            <a:rect l="l" t="t" r="r" b="b"/>
            <a:pathLst>
              <a:path w="1408753" h="382327">
                <a:moveTo>
                  <a:pt x="0" y="0"/>
                </a:moveTo>
                <a:lnTo>
                  <a:pt x="1408753" y="0"/>
                </a:lnTo>
                <a:lnTo>
                  <a:pt x="1408753" y="382327"/>
                </a:lnTo>
                <a:lnTo>
                  <a:pt x="0" y="382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435591">
            <a:off x="8328100" y="7855633"/>
            <a:ext cx="1032475" cy="655472"/>
          </a:xfrm>
          <a:custGeom>
            <a:avLst/>
            <a:gdLst/>
            <a:ahLst/>
            <a:cxnLst/>
            <a:rect l="l" t="t" r="r" b="b"/>
            <a:pathLst>
              <a:path w="1032475" h="655472">
                <a:moveTo>
                  <a:pt x="0" y="0"/>
                </a:moveTo>
                <a:lnTo>
                  <a:pt x="1032475" y="0"/>
                </a:lnTo>
                <a:lnTo>
                  <a:pt x="1032475" y="655472"/>
                </a:lnTo>
                <a:lnTo>
                  <a:pt x="0" y="655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48620" y="1337116"/>
            <a:ext cx="7395717" cy="63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75"/>
              </a:lnSpc>
            </a:pPr>
            <a:r>
              <a:rPr lang="en-US" sz="4775" b="1" spc="-167">
                <a:solidFill>
                  <a:srgbClr val="FFC300"/>
                </a:solidFill>
                <a:latin typeface="Waffle Soft"/>
                <a:ea typeface="Waffle Soft"/>
                <a:cs typeface="Waffle Soft"/>
                <a:sym typeface="Waffle Soft"/>
              </a:rPr>
              <a:t>Your Turn!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5631" y="8327035"/>
            <a:ext cx="2237656" cy="2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4"/>
              </a:lnSpc>
            </a:pPr>
            <a:r>
              <a:rPr lang="en-US" sz="1349" spc="-13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Have Fun!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86784" y="7166742"/>
            <a:ext cx="2636468" cy="2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4"/>
              </a:lnSpc>
            </a:pPr>
            <a:r>
              <a:rPr lang="en-US" sz="1349" spc="-13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Start Creating!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33947" y="8327035"/>
            <a:ext cx="2237656" cy="2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4"/>
              </a:lnSpc>
            </a:pPr>
            <a:r>
              <a:rPr lang="en-US" sz="1349" spc="-13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Be Amazing!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7908" y="5446178"/>
            <a:ext cx="307841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spc="-12">
                <a:solidFill>
                  <a:srgbClr val="FFFBED"/>
                </a:solidFill>
                <a:latin typeface="Open Sauce"/>
                <a:ea typeface="Open Sauce"/>
                <a:cs typeface="Open Sauce"/>
                <a:sym typeface="Open Sauce"/>
              </a:rPr>
              <a:t>Try snapping blocks together on Scratch or Code.org to make your own smart program! Coding is fun and easy — let's build something amazing today!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9395" y="4753155"/>
            <a:ext cx="287708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19"/>
              </a:lnSpc>
            </a:pPr>
            <a:r>
              <a:rPr lang="en-US" sz="1349" b="1" spc="-13">
                <a:solidFill>
                  <a:srgbClr val="FFFB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cool thing would you create with blocks? You're the boss of the blocks!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66322" y="4270737"/>
            <a:ext cx="479786" cy="482417"/>
          </a:xfrm>
          <a:custGeom>
            <a:avLst/>
            <a:gdLst/>
            <a:ahLst/>
            <a:cxnLst/>
            <a:rect l="l" t="t" r="r" b="b"/>
            <a:pathLst>
              <a:path w="479786" h="482417">
                <a:moveTo>
                  <a:pt x="0" y="0"/>
                </a:moveTo>
                <a:lnTo>
                  <a:pt x="479786" y="0"/>
                </a:lnTo>
                <a:lnTo>
                  <a:pt x="479786" y="482418"/>
                </a:lnTo>
                <a:lnTo>
                  <a:pt x="0" y="482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flipH="1">
            <a:off x="5173188" y="6728442"/>
            <a:ext cx="382254" cy="384350"/>
          </a:xfrm>
          <a:custGeom>
            <a:avLst/>
            <a:gdLst/>
            <a:ahLst/>
            <a:cxnLst/>
            <a:rect l="l" t="t" r="r" b="b"/>
            <a:pathLst>
              <a:path w="382254" h="384350">
                <a:moveTo>
                  <a:pt x="382254" y="0"/>
                </a:moveTo>
                <a:lnTo>
                  <a:pt x="0" y="0"/>
                </a:lnTo>
                <a:lnTo>
                  <a:pt x="0" y="384350"/>
                </a:lnTo>
                <a:lnTo>
                  <a:pt x="382254" y="384350"/>
                </a:lnTo>
                <a:lnTo>
                  <a:pt x="3822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9801335" y="8468834"/>
            <a:ext cx="209760" cy="20976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74039" y="1806722"/>
            <a:ext cx="209760" cy="20976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34577" y="4543394"/>
            <a:ext cx="209760" cy="20976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BE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Custom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Waffle Soft</vt:lpstr>
      <vt:lpstr>Calibri</vt:lpstr>
      <vt:lpstr>Open Sauce Bold</vt:lpstr>
      <vt:lpstr>Open Sauce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Block-Based AI with Blocks</dc:title>
  <cp:lastModifiedBy>JAGADISH JEEVAN SAI</cp:lastModifiedBy>
  <cp:revision>3</cp:revision>
  <dcterms:created xsi:type="dcterms:W3CDTF">2006-08-16T00:00:00Z</dcterms:created>
  <dcterms:modified xsi:type="dcterms:W3CDTF">2026-04-27T10:15:33Z</dcterms:modified>
  <dc:identifier>DAHHqyG015Q</dc:identifier>
</cp:coreProperties>
</file>